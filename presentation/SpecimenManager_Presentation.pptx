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Spécimens collectés / mois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Collectes 2025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Fév</c:v>
                  </c:pt>
                  <c:pt idx="2">
                    <c:v>Mar</c:v>
                  </c:pt>
                  <c:pt idx="3">
                    <c:v>Avr</c:v>
                  </c:pt>
                  <c:pt idx="4">
                    <c:v>Mai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145</c:v>
                </c:pt>
                <c:pt idx="1">
                  <c:v>198</c:v>
                </c:pt>
                <c:pt idx="2">
                  <c:v>267</c:v>
                </c:pt>
                <c:pt idx="3">
                  <c:v>312</c:v>
                </c:pt>
                <c:pt idx="4">
                  <c:v>289</c:v>
                </c:pt>
                <c:pt idx="5">
                  <c:v>341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d'introduction. Présenter l'application et son contexte institutionnel.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Mettre en avant la complexité du travail de terrain et la dispersion des données.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hiérarchie de données et le flux de travail du terrain au laboratoire.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cohérence du stack JavaScript full-stack et la sécurité de la base de données.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Résumer les 8 fonctionnalités majeures. Insister sur le module laboratoire comme différenciateur.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Souligner l'alignement SOP comme garantie de qualité scientifique et de conformité institutionnelle.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Démontrer le lookup Fokontany en direct si possible. C'est une fonctionnalité unique et impressionnante.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module laboratoire est le différenciateur principal par rapport à Excel. Montrer le workflow complet.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dashboard est actualisé en temps réel via React Query. Montrer les filtres disponibles.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système RBAC est crucial pour la confidentialité des données de recherche. Expliquer le JWT et les permissions embarquées.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documentation de déploiement NAS est complète (configs.md). Nginx gère le SSL et le routage /api/.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en rappelant la valeur scientifique et institutionnelle de la solution. Ouvrir sur les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02C39A"/>
                </a:solidFill>
              </a:rPr>
              <a:t>INSTITUT PASTEUR MADAGASCAR — UNITÉ ENTOMOLOGIE MÉDICALE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SpécimenManager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8D8E0"/>
                </a:solidFill>
              </a:rPr>
              <a:t>Gestion centralisée des spécimens entomologiques de terrain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28016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429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BFCA"/>
                </a:solidFill>
              </a:rPr>
              <a:t>Application web full-stack · React 19 · Node.js · PostgreSQL + PostGIS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BFCA"/>
                </a:solidFill>
              </a:rPr>
              <a:t>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28090"/>
                </a:solidFill>
              </a:rPr>
              <a:t>CONTEXTE &amp; PROBLÈME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Pourquoi SpécimenManager 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L'Unité Entomologie Médicale collecte des milliers de spécimens lors de missions de terrain. Avant SpécimenManager, les données étaient dispersées dans plusieurs outils sans cohérence.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874520"/>
            <a:ext cx="4023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⚠️  Données fragmentées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" y="229514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Excel, formulaires papier, ODK, REDCap — aucun lien entre les outils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874520"/>
            <a:ext cx="4023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56048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❌  Risque de perte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56048" y="229514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Doublons, erreurs de saisie, difficultés de centralisation et de mise à jour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3200400"/>
            <a:ext cx="4023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🔍  Traçabilité limitée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" y="362102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Impossible de retracer les manipulations laboratoire sur un spécimen donné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3200400"/>
            <a:ext cx="4023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56048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📊  Analyse complexe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56048" y="362102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Analyses spatiales, statistiques et visualisations difficiles à produire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28090"/>
                </a:solidFill>
              </a:rPr>
              <a:t>VUE D'ENSEMBLE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Une plateforme unique pour tout le cycle de vie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1234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5DFE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60934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Projet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97510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Planification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09344" y="1938528"/>
            <a:ext cx="173736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2224" y="1554480"/>
            <a:ext cx="1234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5DFE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92224" y="160934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Mission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92224" y="197510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Terrain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35808" y="1938528"/>
            <a:ext cx="173736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18688" y="1554480"/>
            <a:ext cx="1234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5DFE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18688" y="160934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Localité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18688" y="197510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+ Fokontany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62272" y="1938528"/>
            <a:ext cx="173736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45152" y="1554480"/>
            <a:ext cx="1234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5DFE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45152" y="160934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Méthode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45152" y="197510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Collecte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88736" y="1938528"/>
            <a:ext cx="173736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71616" y="1554480"/>
            <a:ext cx="1234440" cy="777240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71616" y="160934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Spécimen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71616" y="197510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E8D8"/>
                </a:solidFill>
              </a:rPr>
              <a:t>3 types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0" y="1938528"/>
            <a:ext cx="173736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1554480"/>
            <a:ext cx="1234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5DFE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98080" y="160934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Labo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0" y="197510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Manipulation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4360" y="265176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" y="27249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</a:rPr>
              <a:t>5 000+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594360" y="31821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espèces taxonomiques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265176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337560" y="27249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</a:rPr>
              <a:t>17 416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3337560" y="31821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Fokontany géographiques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80760" y="265176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080760" y="27249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</a:rPr>
              <a:t>3 types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6080760" y="31821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Moustiques · Tiques · Puces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Hiérarchie : Projet → Mission → Localité → Méthode de Collecte → Spécimen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28090"/>
                </a:solidFill>
              </a:rPr>
              <a:t>ARCHITECTURE TECHNIQUE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Stack moderne &amp; robuste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011680" cy="438912"/>
          </a:xfrm>
          <a:prstGeom prst="roundRect">
            <a:avLst>
              <a:gd name="adj" fmla="val 1875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0642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27048"/>
            <a:ext cx="2011680" cy="2615184"/>
          </a:xfrm>
          <a:prstGeom prst="roundRect">
            <a:avLst>
              <a:gd name="adj" fmla="val 4091"/>
            </a:avLst>
          </a:prstGeom>
          <a:solidFill>
            <a:srgbClr val="EFF6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1848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React 19 + Vite 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React Router 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3134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Tailwind CSS 3.4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66090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Zustand 5 (state)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008376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Leaflet / React-Leaflet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5584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Recharts 3.8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TanStack React Query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1051560"/>
            <a:ext cx="2011680" cy="438912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10642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68880" y="1527048"/>
            <a:ext cx="2011680" cy="2615184"/>
          </a:xfrm>
          <a:prstGeom prst="roundRect">
            <a:avLst>
              <a:gd name="adj" fmla="val 4091"/>
            </a:avLst>
          </a:prstGeom>
          <a:solidFill>
            <a:srgbClr val="F0F9FB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06040" y="161848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Node.js 22 + Express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196596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Prisma ORM 5.22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6040" y="23134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JWT Auth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06040" y="266090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Zod 4 validation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06040" y="3008376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ExcelJS (import/export)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06040" y="335584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Multer (uploads)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06040" y="37033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Rate-limiting &amp; Helmet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1051560"/>
            <a:ext cx="2011680" cy="438912"/>
          </a:xfrm>
          <a:prstGeom prst="roundRect">
            <a:avLst>
              <a:gd name="adj" fmla="val 1875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110642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Base de données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17720" y="1527048"/>
            <a:ext cx="2011680" cy="1920240"/>
          </a:xfrm>
          <a:prstGeom prst="roundRect">
            <a:avLst>
              <a:gd name="adj" fmla="val 4286"/>
            </a:avLst>
          </a:prstGeom>
          <a:solidFill>
            <a:srgbClr val="F0FDF4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0" y="161848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PostgreSQL 16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196596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PostGIS (spatial)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23134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17 416 Fokontany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266090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Prisma Migrations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3008376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Audit trail complet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1051560"/>
            <a:ext cx="2011680" cy="438912"/>
          </a:xfrm>
          <a:prstGeom prst="roundRect">
            <a:avLst>
              <a:gd name="adj" fmla="val 18750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110642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Déploiement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766560" y="1527048"/>
            <a:ext cx="2011680" cy="1920240"/>
          </a:xfrm>
          <a:prstGeom prst="roundRect">
            <a:avLst>
              <a:gd name="adj" fmla="val 4286"/>
            </a:avLst>
          </a:prstGeom>
          <a:solidFill>
            <a:srgbClr val="F0FDF4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903720" y="161848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Docker + Compose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03720" y="196596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Nginx reverse proxy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03720" y="23134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Synology NAS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03720" y="266090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HTTPS Let's Encrypt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03720" y="3008376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· SPA serving + API proxy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28090"/>
                </a:solidFill>
              </a:rPr>
              <a:t>FONCTIONNALITÉS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Fonctionnalités clés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4023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1795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🗂️  CRUD complet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14813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Gestion des projets, missions, localités, méthodes et 3 types de spécimens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115568"/>
            <a:ext cx="4023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0328" y="11795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📥  Import / Export Excel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910328" y="14813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Chargement en masse selon les standards IPM + export formaté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75688"/>
            <a:ext cx="4023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" y="21396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🗺️  Carte interactive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24414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Leaflet + PostGIS : visualisation géographique des sites de collecte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075688"/>
            <a:ext cx="4023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10328" y="21396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📊  Tableau de bord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10328" y="24414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Statistiques, tendances mensuelles, distribution des espèces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35808"/>
            <a:ext cx="4023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3099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🔐  RBAC à 2 niveaux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34015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Rôle global (5 niveaux) + permissions par type de spécimen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035808"/>
            <a:ext cx="4023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10328" y="3099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🔎  Recherche globale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10328" y="34015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Ctrl+K : recherche transversale sur toutes les entités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995928"/>
            <a:ext cx="4023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6928" y="40599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📝  Audit trail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43616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Historique complet CREATE / UPDATE / DELETE avec horodatage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995928"/>
            <a:ext cx="4023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10328" y="40599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🧪  Module laboratoire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10328" y="43616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Extractions, PCR, séquençage, plaques 96 puits, workflow de 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28090"/>
                </a:solidFill>
              </a:rPr>
              <a:t>DONNÉES SPÉCIMENS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3 types de spécimens, une taxonomie unifiée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28090"/>
                </a:solidFill>
              </a:rPr>
              <a:t>Ordre  →  Famille  →  Genre  →  Espèce  →  Sous-espèce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697480" cy="475488"/>
          </a:xfrm>
          <a:prstGeom prst="roundRect">
            <a:avLst>
              <a:gd name="adj" fmla="val 1923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591056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🦟  Moustiques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020824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0F9FB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" y="21305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✓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Sexe, stade de vie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" y="2468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✓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Statut sanguin (N/G/Gr/SGr/NC)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280720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✓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Parité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314553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✓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Méthode de piégeage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348386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✓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Conservation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1508760"/>
            <a:ext cx="2697480" cy="475488"/>
          </a:xfrm>
          <a:prstGeom prst="roundRect">
            <a:avLst>
              <a:gd name="adj" fmla="val 1923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591056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🕷️  Tiques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54680" y="2020824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EFF6FF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19272" y="21305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✓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Sexe, stade de vie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9272" y="2468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✓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Hôte animal associé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9272" y="280720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✓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Partie du corps (hôte)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9272" y="314553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✓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Statut gorgé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9272" y="348386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✓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Conteneur (position)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89320" y="1508760"/>
            <a:ext cx="2697480" cy="475488"/>
          </a:xfrm>
          <a:prstGeom prst="roundRect">
            <a:avLst>
              <a:gd name="adj" fmla="val 19231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1591056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🐜  Puces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89320" y="2020824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0FDF9"/>
          </a:solidFill>
          <a:ln w="12700">
            <a:solidFill>
              <a:srgbClr val="D1E9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53912" y="21305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47857"/>
                </a:solidFill>
              </a:rPr>
              <a:t>✓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Sexe, stade de vie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53912" y="2468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47857"/>
                </a:solidFill>
              </a:rPr>
              <a:t>✓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Hôte animal associé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53912" y="280720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47857"/>
                </a:solidFill>
              </a:rPr>
              <a:t>✓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Taxonomie complète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53912" y="314553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47857"/>
                </a:solidFill>
              </a:rPr>
              <a:t>✓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Conservation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53912" y="348386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47857"/>
                </a:solidFill>
              </a:rPr>
              <a:t>✓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Lien laboratoire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114800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FFFBE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178808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</a:rPr>
              <a:t>📋  Alignement total avec les SOP IPM : codes de piégeage standard (ZP-DP, DN, NC, MHT, OVITRAP…), niveaux taxonomiques hiérarchiques, solutions de conservation (Éthanol, RNAlater…)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28090"/>
                </a:solidFill>
              </a:rPr>
              <a:t>GÉOSPATIAL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Carte interactive &amp; analyse spatiale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Chaque localité de collecte est géoréférencée par coordonnées GPS. PostGIS effectue automatiquement une requête point-dans-polygone pour identifier le Fokontany (district administratif) correspondant.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2011680"/>
            <a:ext cx="47548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066544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17 416 Fokontany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30428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Polygones géographiques chargés via Shapefile dans PostGIS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724912"/>
            <a:ext cx="47548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79776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Lookup automatique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0175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ST_Contains() — identification instantanée du Fokontany au clic GPS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3438144"/>
            <a:ext cx="47548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9300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Filtre RBAC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73075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La carte n'affiche que les spécimens selon les permissions de l'utilisateur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4151376"/>
            <a:ext cx="47548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420624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Visualisation Leaflet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443984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Marqueurs interactifs, zoom, sélection de coordonnées intégrée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0" y="1051560"/>
            <a:ext cx="3291840" cy="3547872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 w="12700">
            <a:solidFill>
              <a:srgbClr val="B5D8E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1463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🗺️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486400" y="2148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Carte Leaflet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2468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Sites de collecte géoréférencés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sur fond OpenStreetMap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310896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283464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23760" y="329184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356616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301752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347472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384048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/api/v1/localites/lookup-fokontany  →  PostGIS ST_Contains()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28090"/>
                </a:solidFill>
              </a:rPr>
              <a:t>MODULE LABORATOIRE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Traçabilité des manipulations de laboratoire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097280" cy="10972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704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🧫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2677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Extraction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55064" y="1645920"/>
            <a:ext cx="89611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097280"/>
            <a:ext cx="1097280" cy="10972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1704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68880" y="22677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PCR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66744" y="1645920"/>
            <a:ext cx="89611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97280"/>
            <a:ext cx="1097280" cy="10972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1704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🧬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480560" y="22677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Séquençage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78424" y="1645920"/>
            <a:ext cx="89611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1097280"/>
            <a:ext cx="1097280" cy="10972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11704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92240" y="22677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Validation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8FCFD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8090"/>
                </a:solidFill>
              </a:rPr>
              <a:t>Conteneurs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66928" y="312724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Boîtes de 81 tubes + plaques 96 puits. Position H12 réservée au contrôle négatif.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74320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8FCFD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10328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8090"/>
                </a:solidFill>
              </a:rPr>
              <a:t>Gel &amp; Bandes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10328" y="312724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Enregistrement des bandes de gel d'agarose et résultats d'amplification.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767328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8FCFD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6928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8090"/>
                </a:solidFill>
              </a:rPr>
              <a:t>Suivi complet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" y="415137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Chaque manipulation est liée au spécimen d'origine avec horodatage et utilisateur.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3767328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8FCFD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10328" y="3858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8090"/>
                </a:solidFill>
              </a:rPr>
              <a:t>Workflow validation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910328" y="415137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Statuts en cours / validé / rejeté avec traçabilité des valideurs.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28090"/>
                </a:solidFill>
              </a:rPr>
              <a:t>ANALYTICS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Tableau de bord analytique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Un dashboard centralisé permet de suivre en temps réel les activités de collecte et d'analyse, avec des visualisations adaptées aux besoins de recherche.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📈  Collectes par mois (graphique linéaire)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🥧  Distribution par espèce (camembert)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🌍  Carte des sites actifs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🔢  Compteurs par type de spécimen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754880" y="100584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GET /api/v1/dashboard/stats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28090"/>
                </a:solidFill>
              </a:rPr>
              <a:t>SÉCURITÉ &amp; ACCÈS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Contrôle d'accès à 2 niveaux (RBAC)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115568"/>
            <a:ext cx="749808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3444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Administrateur  (niveau 4)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00200" y="1773936"/>
            <a:ext cx="5943600" cy="54864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892808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Superviseur / Chercheur  (niveau 3)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2432304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2551176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Technicien  (niveau 2)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3090672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320954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Lecteur  (niveau 1)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F0F9FB"/>
          </a:solidFill>
          <a:ln w="12700">
            <a:solidFill>
              <a:srgbClr val="B5D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490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🔒  Permissions par type de spécimen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0416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En plus du rôle global, chaque utilisateur peut avoir des droits spécifiques par type de spécimen (Moustiques / Tiques / Puces). Ces permissions sont encodées dans le JWT et prennent effet à la prochaine connexion.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28090"/>
                </a:solidFill>
              </a:rPr>
              <a:t>INFRASTRUCTURE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Déploiement &amp; Infrastructure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645920" cy="868680"/>
          </a:xfrm>
          <a:prstGeom prst="roundRect">
            <a:avLst>
              <a:gd name="adj" fmla="val 12632"/>
            </a:avLst>
          </a:prstGeom>
          <a:solidFill>
            <a:srgbClr val="EFF6FF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08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Navigateur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(React SPA)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29968" y="1801368"/>
            <a:ext cx="34747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371600"/>
            <a:ext cx="1645920" cy="868680"/>
          </a:xfrm>
          <a:prstGeom prst="roundRect">
            <a:avLst>
              <a:gd name="adj" fmla="val 12632"/>
            </a:avLst>
          </a:prstGeom>
          <a:solidFill>
            <a:srgbClr val="F0F9FB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508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Nginx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(reverse proxy)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24528" y="1801368"/>
            <a:ext cx="34747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371600"/>
            <a:ext cx="1645920" cy="868680"/>
          </a:xfrm>
          <a:prstGeom prst="roundRect">
            <a:avLst>
              <a:gd name="adj" fmla="val 12632"/>
            </a:avLst>
          </a:prstGeom>
          <a:solidFill>
            <a:srgbClr val="EFF6FF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508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Node.js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</a:rPr>
              <a:t>Express 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19088" y="1801368"/>
            <a:ext cx="34747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1371600"/>
            <a:ext cx="1645920" cy="868680"/>
          </a:xfrm>
          <a:prstGeom prst="roundRect">
            <a:avLst>
              <a:gd name="adj" fmla="val 12632"/>
            </a:avLst>
          </a:prstGeom>
          <a:solidFill>
            <a:srgbClr val="F0FDF9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1508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</a:rPr>
              <a:t>PostgreSQL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</a:rPr>
              <a:t>+ PostGIS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468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🖥️  Synology NAS (conteneurs Docker)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4023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29169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Docker Compose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20040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3 services : nginx, backend, postgres. Réseau interne isolé.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4023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29169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HTTPS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20040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Certificat Let's Encrypt via reverse proxy Synology ou Nginx.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794760"/>
            <a:ext cx="4023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38770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Variables d'environnement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16052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DATABASE_URL, JWT_SECRET, CLIENT_URL, VITE_API_URL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3794760"/>
            <a:ext cx="4023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8770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Migrations Prisma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416052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Schéma versionné, migrations idempotentes, seed de données initiales.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474720" cy="347472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2743200" cy="27432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SpécimenManager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8D8E0"/>
                </a:solidFill>
              </a:rPr>
              <a:t>Une solution complète, traçable et évolutive</a:t>
            </a:r>
            <a:endParaRPr lang="en-US" sz="1500" dirty="0"/>
          </a:p>
          <a:p>
            <a:pPr algn="l" indent="0" marL="0">
              <a:buNone/>
            </a:pPr>
            <a:r>
              <a:rPr lang="en-US" sz="1500" i="1" dirty="0">
                <a:solidFill>
                  <a:srgbClr val="A8D8E0"/>
                </a:solidFill>
              </a:rPr>
              <a:t>pour la gestion des spécimens entomologiques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0352" y="260604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7860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E6EC"/>
                </a:solidFill>
              </a:rPr>
              <a:t>Centralisation de toutes les données de terrain en un seul endroit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" y="3035808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0837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E6EC"/>
                </a:solidFill>
              </a:rPr>
              <a:t>Alignement avec les SOP et standards scientifiques de l'IPM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" y="346557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43814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E6EC"/>
                </a:solidFill>
              </a:rPr>
              <a:t>Analyse géospatiale avancée avec 17 416 Fokontany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" y="3895344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6791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E6EC"/>
                </a:solidFill>
              </a:rPr>
              <a:t>Traçabilité complète du terrain au laboratoire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" y="4325112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2976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E6EC"/>
                </a:solidFill>
              </a:rPr>
              <a:t>Déploiement sécurisé et autonome sur infrastructure institutionnelle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736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8A95"/>
                </a:solidFill>
              </a:rPr>
              <a:t>Henintsoa Andrianina  ·  Institut Pasteur Madagascar  · 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SpécimenManager — Institut Pasteur Madagascar</dc:title>
  <dc:subject>PptxGenJS Presentation</dc:subject>
  <dc:creator>Henintsoa Andrianina</dc:creator>
  <cp:lastModifiedBy>Henintsoa Andrianina</cp:lastModifiedBy>
  <cp:revision>1</cp:revision>
  <dcterms:created xsi:type="dcterms:W3CDTF">2026-07-02T13:23:09Z</dcterms:created>
  <dcterms:modified xsi:type="dcterms:W3CDTF">2026-07-02T13:23:09Z</dcterms:modified>
</cp:coreProperties>
</file>