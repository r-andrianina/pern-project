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579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:
- Bonjour à tous. Je vais vous présenter SpécimenManager, l'application que j'ai développée pour notre unité.
- L'objectif de cette présentation est simple : vous montrer ce que l'application apporte concrètement à votre travail quotidien.
- Je ne vais pas entrer dans les détails techniques — je vais me concentrer sur ce que vous pouvez faire avec l'application et en quoi elle améliore les flux de travail existants.
- Les autres membres de l'équipe vous présenteront ensuite les fonctionnalités en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SPECIMENMANAGER — Points à développer :
INCOHÉRENCE DE SAISIE :
- Chaque personne saisit à sa façon : majuscule, minuscule, espace en trop, abréviation...
- Quand on fait un filtre ou un comptage par espèce dans Excel, les variantes sont comptées séparément.
- Ex. : 'Anopheles gambiae' et 'anopheles gambiae' sont deux espèces différentes pour Excel.
- Impact direct : les rapports épidémiologiques contiennent des erreurs sans qu'on s'en aperçoive.
DONNÉES DUPLIQUÉES :
- Sans identifiant unique par spécimen, il n'existe aucun moyen de détecter qu'un spécimen a été saisi deux fois.
- Cela peut arriver lors de la transcription des formulaires papier vers Excel, ou lors de fusions de fichiers.
VERSIONS MULTIPLES :
- Chaque technicien ou chercheur a sa propre copie du fichier Excel.
- Les mises à jour se font par email ou clé USB — avec risque d'écrasement ou de perte.
- En fin de mission, fusionner 3 fichiers Excel en un seul prend des heures et introduit des erreurs.
TRAÇABILITÉ :
- Excel ne conserve pas l'historique des modifications (sauf fonctionnalité avancée rarement utilisée).
- Si une erreur est découverte 2 semaines après la saisie, impossible de retrouver la valeur originale ni l'auteur de la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ÇA CHANGE — Points à développer pour chaque ligne :
LIGNE 1 — Saisie taxonomique :
- Dans SpécimenManager, on ne tape pas le nom de l'espèce : on le cherche et on le sélectionne dans une liste.
- La taxonomie est hiérarchique : ordre → famille → genre → espèce → sous-espèce.
- Résultat : toute l'équipe utilise exactement la même désignation, les statistiques sont fiables.
LIGNE 2 — Base unique partagée :
- Tout le monde se connecte à la même application, sur le même serveur.
- Ce qu'un technicien saisit le matin est visible par le chercheur l'après-midi, sans aucune manipulation de fichier.
- Plus de fusion de fichiers Excel en fin de mission.
LIGNE 3 — Identifiant unique :
- Chaque spécimen reçoit un identifiant terrain généré automatiquement, basé sur le type, la localité et l'année.
- Cet identifiant suit le spécimen de la collecte jusqu'au laboratoire — impossible d'avoir deux spécimens avec le même ID.
LIGNE 4 — Audit trail :
- Toute modification (création, édition, suppression) est enregistrée avec : qui, quand, quoi.
- Un superviseur peut consulter l'historique complet à tout moment depuis le menu Dictionnaire.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L'APPLICATION EN BREF — Points à développer :
CÔTÉ TERRAIN (colonne gauche) :
- Localité + GPS : l'utilisateur clique sur la carte ou saisit les coordonnées → le Fokontany s'affiche automatiquement. Plus besoin de chercher manuellement la subdivision administrative.
- Méthode de collecte : tous les types de pièges sont standardisés (ZP-DP, DN, MHT, OVITRAP…). On choisit dans une liste — aucune saisie libre qui pourrait créer des incohérences.
- Saisie des spécimens : formulaires guidés avec listes déroulantes pour tous les champs critiques (espèce, sexe, stade, statut sanguin…).
- Import Excel : si des données existent déjà dans Excel, on peut les importer directement sans ressaisir.
- Export Excel : les données peuvent être exportées à tout moment dans un format standardisé pour les rapports.
CÔTÉ SUPERVISION (colonne droite) :
- Carte interactive : visualisation instantanée de tous les sites de collecte sur fond OpenStreetMap.
- Dashboard : graphiques de tendances mensuelles, répartition par espèce — un coup d'œil suffit pour voir l'activité.
- Recherche globale (Ctrl+K) : retrouver n'importe quel spécimen, mission ou localité en quelques secondes.
- Rôles : chaque membre de l'équipe a un accès adapté à ses responsabilités. Un lecteur ne peut pas modifier les données, un technicien peut saisir mais pas administrer.
- Audit trail : pour les superviseurs, tout l'historique est consultable dans le menu Dictionnaire.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AMÉLIORATIONS FUTURES — Points à développer :
MODULE LABORATOIRE (en cours) :
- La structure de données est déjà en place côté serveur.
- L'interface utilisateur est en cours de développement.
- Objectif : relier chaque spécimen à ses manipulations analytiques sans quitter l'application.
APPLICATION MOBILE :
- Aujourd'hui, la saisie terrain se fait sur papier puis est ressaisie dans l'application.
- L'app mobile permettra de saisir directement sur le terrain, même sans connexion internet.
- Les données se synchronisent automatiquement dès qu'une connexion est disponible.
SYNCHRONISATION HORS-LIGNE :
- Essentielle pour les missions dans des zones reculées de Madagascar où la connexion 4G est absente.
IDENTIFICATION PAR IA :
- À long terme : prendre une photo d'un moustique sur le terrain et obtenir une suggestion d'identification taxonomique automatique.
- Cette fonctionnalité dépend de l'existence d'une base d'images labellisées suffisante.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Points clés :
- Résumer en une phrase : SpécimenManager remplace les fichiers Excel dispersés par un système centralisé, fiable et traçable.
- Insister sur le fait que l'application a été conçue spécifiquement pour l'UEM, en tenant compte des SOP et des pratiques existantes.
- Elle ne remplace pas le travail de terrain — elle le facilite et sécurise les données produites.
- Ouvrir les questions : y a-t-il des fonctionnalités manquantes ? Des flux de travail que l'application pourrait mieux couvrir ?
- Rappeler que l'application est évolutive : les retours de l'équipe sont précieux pour la suite du développement.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02C39A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3108960"/>
            <a:ext cx="2926080" cy="29260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</a:rPr>
              <a:t>INSTITUT PASTEUR MADAGASCAR — UNITÉ ENTOMOLOGIE MÉDICALE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SpécimenManager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D8E0"/>
                </a:solidFill>
              </a:rPr>
              <a:t>Gestion centralisée des spécimens entomologiques de terrain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BFCA"/>
                </a:solidFill>
              </a:rPr>
              <a:t>DATA MANAGER – </a:t>
            </a:r>
            <a:r>
              <a:rPr lang="en-US" sz="1200" b="1">
                <a:solidFill>
                  <a:srgbClr val="7CBFCA"/>
                </a:solidFill>
              </a:rPr>
              <a:t>Henintsoa Andrianina RAZANAKOTO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28090"/>
                </a:solidFill>
              </a:rPr>
              <a:t>LE CONSTAT DE DÉPART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</a:rPr>
              <a:t>Les défis du travail avec Excel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19"/>
            <a:ext cx="4023360" cy="1662245"/>
          </a:xfrm>
          <a:prstGeom prst="roundRect">
            <a:avLst>
              <a:gd name="adj" fmla="val 7595"/>
            </a:avLst>
          </a:prstGeom>
          <a:solidFill>
            <a:srgbClr val="FEF2F2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167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42645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</a:rPr>
              <a:t>Incohérence de saisie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2109" y="1861457"/>
            <a:ext cx="3781698" cy="823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Un même nom d'espèce écrit de 5 façons différentes selon la </a:t>
            </a:r>
            <a:r>
              <a:rPr lang="en-US" sz="1200" dirty="0" err="1">
                <a:solidFill>
                  <a:srgbClr val="1E293B"/>
                </a:solidFill>
              </a:rPr>
              <a:t>personne</a:t>
            </a:r>
            <a:r>
              <a:rPr lang="en-US" sz="1200" dirty="0">
                <a:solidFill>
                  <a:srgbClr val="1E293B"/>
                </a:solidFill>
              </a:rPr>
              <a:t>.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E293B"/>
                </a:solidFill>
              </a:rPr>
              <a:t>Résultat</a:t>
            </a:r>
            <a:r>
              <a:rPr lang="en-US" sz="1200" dirty="0">
                <a:solidFill>
                  <a:srgbClr val="1E293B"/>
                </a:solidFill>
              </a:rPr>
              <a:t> : les statistiques comptaient des espèces qui n'existaient pas.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19"/>
            <a:ext cx="4023360" cy="1662245"/>
          </a:xfrm>
          <a:prstGeom prst="roundRect">
            <a:avLst>
              <a:gd name="adj" fmla="val 7595"/>
            </a:avLst>
          </a:prstGeom>
          <a:solidFill>
            <a:srgbClr val="FEF2F2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1673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16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22392" y="1419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</a:rPr>
              <a:t>Données dupliquées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830099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Un même spécimen saisi plusieurs fois sans possibilité de détecter les doublons.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Les comptages étaient gonflés artificiellement, faussant les analyses.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25222"/>
            <a:ext cx="4023360" cy="1662246"/>
          </a:xfrm>
          <a:prstGeom prst="roundRect">
            <a:avLst>
              <a:gd name="adj" fmla="val 7595"/>
            </a:avLst>
          </a:prstGeom>
          <a:solidFill>
            <a:srgbClr val="FEF2F2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3205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1404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3423767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</a:rPr>
              <a:t>Versions multiples du fichier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4700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Chacun travaillait sur sa propre copie 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« données_v1.xlsx », « données_FINAL.xlsx », « données_FINAL_corrigé.xlsx »…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Impossible de savoir quelle version était la bonne.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225222"/>
            <a:ext cx="4023360" cy="1662246"/>
          </a:xfrm>
          <a:prstGeom prst="roundRect">
            <a:avLst>
              <a:gd name="adj" fmla="val 7595"/>
            </a:avLst>
          </a:prstGeom>
          <a:solidFill>
            <a:srgbClr val="FEF2F2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14045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1404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22392" y="3404185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</a:rPr>
              <a:t>Aucune traçabilité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833949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Impossible de savoir qui avait modifié une donnée, ni quand.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En cas d'erreur détectée tardivement, aucun moyen de retrouver l'état d'origine.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28090"/>
                </a:solidFill>
              </a:rPr>
              <a:t>L'APPORT DE SPÉCIMENMANAGER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</a:rPr>
              <a:t>Ce que ça change concrètement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Avant — avec Excel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115568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Après — avec SpécimenManager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824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Noms d'espèces saisis librement → incohérences et erreurs dans les comptages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179222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62763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824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Sélection dans une liste déroulante taxonomique → une seule orthographe possible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0487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973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Fichiers dupliqués : chacun travaille sur sa copie, sans savoir quelle version est la bonne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56946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240487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45973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Une base de données unique, accessible à toute l'équipe en même temps, en temps réel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369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Aucun identifiant unique → doublons non détectés, comptages faussés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334670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318211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2369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Identifiant terrain généré automatiquement pour </a:t>
            </a:r>
            <a:r>
              <a:rPr lang="en-US" sz="1200" dirty="0" err="1">
                <a:solidFill>
                  <a:srgbClr val="1E293B"/>
                </a:solidFill>
              </a:rPr>
              <a:t>chaque</a:t>
            </a:r>
            <a:r>
              <a:rPr lang="en-US" sz="1200" dirty="0">
                <a:solidFill>
                  <a:srgbClr val="1E293B"/>
                </a:solidFill>
              </a:rPr>
              <a:t> specimen 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142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Aucune traçabilité : impossible de savoir qui a modifié quoi et quand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51960" y="412394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395935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0142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Audit trail complet : chaque modification est enregistrée avec l'auteur et l'horodatage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28090"/>
                </a:solidFill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</a:rPr>
              <a:t>L'application en bref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</a:rPr>
              <a:t>🌍  Du terrain au système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Créer une localité avec GPS → Fokontany identifié automatiquement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31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128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Enregistrer la méthode de collecte (type de piège, habitat)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25496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889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87121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Saisir les spécimens : moustiques, tiques ou puces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5295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Importer un fichier Excel existant en masse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187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Exporter les données au format Excel </a:t>
            </a:r>
            <a:r>
              <a:rPr lang="en-US" sz="1200" dirty="0" err="1">
                <a:solidFill>
                  <a:srgbClr val="1E293B"/>
                </a:solidFill>
              </a:rPr>
              <a:t>standardisé</a:t>
            </a:r>
            <a:r>
              <a:rPr lang="en-US" sz="1200" dirty="0">
                <a:solidFill>
                  <a:srgbClr val="1E293B"/>
                </a:solidFill>
              </a:rPr>
              <a:t> 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</a:rPr>
              <a:t>📊  Supervision &amp; analyse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5544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Visualiser tous les sites de collecte sur une carte interactive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67128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231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22128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Consulter les statistiques : collectes par mois, distribution par espèce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889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287121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Rechercher n'importe quel spécimen ou donnée (Ctrl+K)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483864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52958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Accès personnalisé selon le rôle : lecteur, technicien, chercheur, admin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142232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41879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Consulter l'historique complet des modifications (audit trail)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28090"/>
                </a:solidFill>
              </a:rPr>
              <a:t>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</a:rPr>
              <a:t>Améliorations futures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FFBE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5309"/>
                </a:solidFill>
              </a:rPr>
              <a:t>🚧  En cours de développement : Module Manipulation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45309"/>
                </a:solidFill>
              </a:rPr>
              <a:t>Suivi des extractions, </a:t>
            </a:r>
            <a:r>
              <a:rPr lang="en-US" sz="1200" dirty="0" err="1">
                <a:solidFill>
                  <a:srgbClr val="B45309"/>
                </a:solidFill>
              </a:rPr>
              <a:t>Dessication</a:t>
            </a:r>
            <a:r>
              <a:rPr lang="en-US" sz="1200" dirty="0">
                <a:solidFill>
                  <a:srgbClr val="B45309"/>
                </a:solidFill>
              </a:rPr>
              <a:t>, PCR et séquençage directement liés à chaque spécimen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384048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928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Prochaine étape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249424"/>
            <a:ext cx="2697480" cy="2304288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📱 </a:t>
            </a:r>
            <a:r>
              <a:rPr lang="en-US" sz="1200" dirty="0">
                <a:solidFill>
                  <a:srgbClr val="1E293B"/>
                </a:solidFill>
              </a:rPr>
              <a:t>Application mobile de saisie terrain (fonctionne sans connexion internet)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📄 </a:t>
            </a:r>
            <a:r>
              <a:rPr lang="en-US" sz="1200" dirty="0">
                <a:solidFill>
                  <a:srgbClr val="1E293B"/>
                </a:solidFill>
              </a:rPr>
              <a:t>Export PDF de fiches spécimen individuelles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✅ </a:t>
            </a:r>
            <a:r>
              <a:rPr lang="en-US" sz="1200" dirty="0">
                <a:solidFill>
                  <a:srgbClr val="1E293B"/>
                </a:solidFill>
              </a:rPr>
              <a:t>Finalisation du module </a:t>
            </a:r>
            <a:r>
              <a:rPr lang="en-US" sz="1200" dirty="0" err="1">
                <a:solidFill>
                  <a:srgbClr val="1E293B"/>
                </a:solidFill>
              </a:rPr>
              <a:t>manip</a:t>
            </a:r>
            <a:r>
              <a:rPr lang="en-US" sz="1200" dirty="0">
                <a:solidFill>
                  <a:srgbClr val="1E293B"/>
                </a:solidFill>
              </a:rPr>
              <a:t> (interface PCR, séquençage)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828800"/>
            <a:ext cx="269748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8928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À venir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249424"/>
            <a:ext cx="2697480" cy="2304288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🔔 </a:t>
            </a:r>
            <a:r>
              <a:rPr lang="en-US" sz="1200" dirty="0">
                <a:solidFill>
                  <a:srgbClr val="1E293B"/>
                </a:solidFill>
              </a:rPr>
              <a:t>Alertes email pour les missions planifiées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30540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📡</a:t>
            </a:r>
            <a:r>
              <a:rPr lang="en-US" sz="1200" dirty="0" err="1">
                <a:solidFill>
                  <a:srgbClr val="1E293B"/>
                </a:solidFill>
              </a:rPr>
              <a:t>Synchronisation</a:t>
            </a:r>
            <a:r>
              <a:rPr lang="en-US" sz="1200" dirty="0">
                <a:solidFill>
                  <a:srgbClr val="1E293B"/>
                </a:solidFill>
              </a:rPr>
              <a:t> hors-ligne pour les zones sans réseau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📊 </a:t>
            </a:r>
            <a:r>
              <a:rPr lang="en-US" sz="1200" dirty="0">
                <a:solidFill>
                  <a:srgbClr val="1E293B"/>
                </a:solidFill>
              </a:rPr>
              <a:t>Tableaux de bord épidémiologiques avancés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828800"/>
            <a:ext cx="2697480" cy="384048"/>
          </a:xfrm>
          <a:prstGeom prst="roundRect">
            <a:avLst>
              <a:gd name="adj" fmla="val 2142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8928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Vision long terme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2249424"/>
            <a:ext cx="2697480" cy="2304288"/>
          </a:xfrm>
          <a:prstGeom prst="roundRect">
            <a:avLst>
              <a:gd name="adj" fmla="val 3571"/>
            </a:avLst>
          </a:prstGeom>
          <a:solidFill>
            <a:srgbClr val="F0FD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3408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🤖 </a:t>
            </a:r>
            <a:r>
              <a:rPr lang="en-US" sz="1200" dirty="0">
                <a:solidFill>
                  <a:srgbClr val="1E293B"/>
                </a:solidFill>
              </a:rPr>
              <a:t>Identification taxonomique par photo (intelligence artificielle)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0540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🌐 </a:t>
            </a:r>
            <a:r>
              <a:rPr lang="en-US" sz="1200" dirty="0">
                <a:solidFill>
                  <a:srgbClr val="1E293B"/>
                </a:solidFill>
              </a:rPr>
              <a:t>Partage de données entre unités de l'IPM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📑 </a:t>
            </a:r>
            <a:r>
              <a:rPr lang="en-US" sz="1200" dirty="0">
                <a:solidFill>
                  <a:srgbClr val="1E293B"/>
                </a:solidFill>
              </a:rPr>
              <a:t>Génération de rapports de mission automatisés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2C39A"/>
                </a:solidFill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SpécimenManager, c'est :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9385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019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EC"/>
                </a:solidFill>
              </a:rPr>
              <a:t>Une source unique de vérité pour toutes les données de l'unité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23957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591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EC"/>
                </a:solidFill>
              </a:rPr>
              <a:t>Une saisie guidée qui élimine les erreurs de format et les doublons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8529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163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EC"/>
                </a:solidFill>
              </a:rPr>
              <a:t>Une traçabilité complète de chaque spécimen, du terrain au labo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3101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735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EC"/>
                </a:solidFill>
              </a:rPr>
              <a:t>Un accès adapté à chaque rôle, disponible pour toute l'équipe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7673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307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EC"/>
                </a:solidFill>
              </a:rPr>
              <a:t>Un outil évolutif, conçu avec et pour les besoins de l'UEM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Merci de </a:t>
            </a:r>
            <a:r>
              <a:rPr lang="en-US" sz="1600" b="1" dirty="0" err="1">
                <a:solidFill>
                  <a:srgbClr val="02C39A"/>
                </a:solidFill>
              </a:rPr>
              <a:t>votre</a:t>
            </a:r>
            <a:r>
              <a:rPr lang="en-US" sz="1600" b="1" dirty="0">
                <a:solidFill>
                  <a:srgbClr val="02C39A"/>
                </a:solidFill>
              </a:rPr>
              <a:t> aimable </a:t>
            </a:r>
            <a:r>
              <a:rPr lang="en-US" sz="1600" b="1">
                <a:solidFill>
                  <a:srgbClr val="02C39A"/>
                </a:solidFill>
              </a:rPr>
              <a:t>attention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1708</Words>
  <Application>Microsoft Office PowerPoint</Application>
  <PresentationFormat>Affichage à l'écran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SpécimenManager — Présentation équipe</dc:title>
  <dc:subject>PptxGenJS Presentation</dc:subject>
  <dc:creator>Henintsoa Andrianina</dc:creator>
  <cp:lastModifiedBy>Henintsoa Andrianina RAZANAKOTO</cp:lastModifiedBy>
  <cp:revision>10</cp:revision>
  <dcterms:created xsi:type="dcterms:W3CDTF">2026-07-03T07:40:08Z</dcterms:created>
  <dcterms:modified xsi:type="dcterms:W3CDTF">2026-07-08T07:49:19Z</dcterms:modified>
</cp:coreProperties>
</file>