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7427" autoAdjust="0"/>
  </p:normalViewPr>
  <p:slideViewPr>
    <p:cSldViewPr snapToGrid="0" snapToObjects="1">
      <p:cViewPr varScale="1">
        <p:scale>
          <a:sx n="91" d="100"/>
          <a:sy n="91" d="100"/>
        </p:scale>
        <p:origin x="121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fr-FR" sz="1000" b="0" i="0" u="none" strike="noStrike">
                <a:solidFill>
                  <a:srgbClr val="1E293B"/>
                </a:solidFill>
                <a:latin typeface="Arial"/>
              </a:rPr>
              <a:t>Spécimens collectés / mois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Collectes 2025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Fév</c:v>
                </c:pt>
                <c:pt idx="2">
                  <c:v>Mar</c:v>
                </c:pt>
                <c:pt idx="3">
                  <c:v>Avr</c:v>
                </c:pt>
                <c:pt idx="4">
                  <c:v>Mai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145</c:v>
                </c:pt>
                <c:pt idx="1">
                  <c:v>198</c:v>
                </c:pt>
                <c:pt idx="2">
                  <c:v>267</c:v>
                </c:pt>
                <c:pt idx="3">
                  <c:v>312</c:v>
                </c:pt>
                <c:pt idx="4">
                  <c:v>289</c:v>
                </c:pt>
                <c:pt idx="5">
                  <c:v>341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A5-4288-9BC1-4893A9899B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4037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 — Points clés :
- SpécimenManager est une application web développée spécifiquement pour l'Unité Entomologie Médicale (UEM) de l'Institut Pasteur Madagascar.
- Elle couvre l'intégralité du cycle de vie d'un spécimen : de la collecte terrain jusqu'aux analyses laboratoire.
- Le nom reflète sa mission : centraliser et standardiser la gestion de milliers de spécimens (moustiques, tiques, puces) collectés lors de missions de recherche.
- Stack moderne et open-source : React + Node.js + PostgreSQL, déployable sur l'infrastructure NAS interne de l'IPM.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PROBLÉMATIQUE — Points clés :
- L'unique outil utilisé était Excel : chaque chercheur ou technicien travaillait sur sa propre copie du fichier.
PROBLÈME 1 — INCOHÉRENCE DE FORMAT :
- Un même nom d'espèce pouvait être saisi 'Anopheles gambiae', 'anopheles gambiae', 'ANOPHELES GAMBIAE', 'Anopheles  gambiae' (double espace) ou 'Anopheles gambiae ' (espace final).
- Résultat : les filtres et les statistiques donnaient des chiffres faux car ces entrées étaient traitées comme des espèces différentes.
- Aucun contrôle de saisie n'existait pour forcer un format standardisé.
PROBLÈME 2 — DONNÉES DUPLIQUÉES :
- Un même spécimen pouvait être saisi plusieurs fois par des utilisateurs différents, sans mécanisme de détection.
- Les doublons gonflaient artificiellement les comptages et faussaient les analyses épidémiologiques.
PROBLÈME 3 — VERSIONS MULTIPLES :
- Chaque utilisateur avait sa propre version du fichier Excel : 'données_terrain_v1.xlsx', 'données_terrain_v2_final.xlsx', 'données_terrain_FINAL_corrigé.xlsx'...
- Impossible de savoir quelle version était la référence, ni comment fusionner les modifications de plusieurs personnes.
- Les mises à jour se faisaient par email, avec risque de perte ou d'écrasement.
PROBLÈME 4 — TRAÇABILITÉ INEXISTANTE :
- Aucun historique : impossible de savoir qui avait modifié une donnée, quand, et pourquoi.
- En cas d'erreur détectée tardivement, impossible de retrouver l'état original du spécimen.
SpécimenManager résout chacun de ces problèmes : saisie contrôlée par des listes déroulantes et validations Zod, base de données unique partagée en temps réel, et audit trail complet de toutes les modifications.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VUE D'ENSEMBLE — Points clés :
HIÉRARCHIE DES DONNÉES :
- Projet : cadre administratif et scientifique (ex. 'Surveillance vectorielle Antananarivo 2025').
- Mission : sortie terrain planifiée, liée à un projet, avec statut (planifiée / en cours / terminée / annulée).
- Localité : point GPS précis avec Fokontany automatiquement identifié par PostGIS.
- Méthode de collecte : type de piège (ZP-DP, DN, MHT, OVITRAP…), habitat, environnement.
- Spécimen : moustique, tique ou puce, lié à une méthode avec taxonomie complète.
CHIFFRES CLÉS :
- 5 000+ entrées taxonomiques couvrant l'ordre jusqu'à la sous-espèce pour les 3 types de spécimens.
- 17 416 Fokontany : toutes les subdivisions administratives de Madagascar disponibles pour la géolocalisation.
- 3 types de spécimens avec des champs spécifiques à chaque type mais une base commune partagée.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 TECHNIQUE — Points clés à développer :
FRONTEND (React 19 + Vite 8) :
- React 19 est la dernière version stable, avec des améliorations de performance majeures.
- Vite 8 remplace Create React App : démarrage instantané, hot reload ultra-rapide.
- Tailwind CSS : pas de CSS custom à maintenir, cohérence visuelle garantie, dark mode natif.
- Zustand : state management léger (remplace Redux). Persiste le token JWT et la langue dans localStorage.
- TanStack React Query : gestion du cache API, rechargement automatique, évite les appels redondants.
- Leaflet : bibliothèque de cartographie open-source, intégrée via React-Leaflet pour les cartes interactives.
BACKEND (Node.js 22 + Express) :
- Architecture MVC stricte : Routes → Controllers (≤5 lignes) → Services (logique métier pure) → Prisma.
- Prisma ORM : schéma typé, migrations versionnées, client généré automatiquement. Zéro SQL manuel.
- Zod 4 : validation des données entrantes à chaque endpoint avant d'atteindre le service.
- ExcelJS : permet l'import/export Excel structuré selon les standards IPM, sans dépendance Office.
- Helmet + Rate-limit : en-têtes de sécurité HTTP et limitation à 5 tentatives de connexion/15 min.
BASE DE DONNÉES :
- PostgreSQL 16 avec extension PostGIS : seule solution open-source offrant des requêtes spatiales natives.
- 17 416 polygones Fokontany chargés via Shapefile au démarrage. Requête ST_Contains() en millisecondes.
DÉPLOIEMENT :
- Docker Compose orchestre 3 services : Nginx (entrée), Node.js (API), PostgreSQL (données).
- Nginx sert les fichiers statiques React ET fait le proxy vers /api/ — un seul point d'entrée HTTPS.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module laboratoire est en cours de développement — ne pas s'étendre dessus. Mettre en avant les 7 autres fonctionnalités.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GESTION DES SPÉCIMENS — Points clés :
MOUSTIQUES :
- Champs spécifiques : statut sanguin (N=non gorgé, G=gorgé, Gr=gravide, SGr=semi-gravide, NC=inconnu), parité (nullipare/primipare/multipare).
- Méthode de piégeage codifiée selon les SOP : ZP-DP (pièges à appât humain), DN (filets), MHT, OVITRAP, etc.
TIQUES :
- Lien obligatoire vers un hôte animal (mammifère, oiseau, reptile) avec taxonomie propre.
- Champ 'partie du corps' : localisation exacte sur l'hôte.
- Statut gorgé : information cruciale pour estimer le repas sanguin et le potentiel de transmission.
PUCES :
- Également liées à un hôte animal.
- Taxonomie complète partagée avec les autres types via la table TaxonomieSpecimen.
ALIGNEMENT SOP :
- Toutes les valeurs de référence (codes, solutions, habitats, environnements) sont gérées dans un 'Dictionnaire' administrable sans modification de code.
- Cela garantit que les données saisies respectent exactement les procédures standardisées de l'IPM.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CARTE INTERACTIVE &amp; SIG — Points clés :
COMMENT ÇA FONCTIONNE :
1. Le chercheur clique sur la carte Leaflet pour choisir un point GPS (ou saisit les coordonnées manuellement).
2. L'application envoie automatiquement une requête à l'API : GET /api/v1/localites/lookup-fokontany?lat=X&amp;lng=Y
3. PostgreSQL + PostGIS exécute ST_Contains(geom, ST_SetSRID(ST_Point(lng, lat), 4326)) sur les 17 416 polygones.
4. Le nom du Fokontany correspondant est retourné en quelques millisecondes et affiché dans le formulaire.
VISUALISATION :
- La carte /carte affiche tous les sites de collecte avec des marqueurs interactifs.
- Les données affichées sont filtrées par les permissions RBAC : un utilisateur sans accès aux Tiques ne voit pas les marqueurs associés.
- Fond de carte OpenStreetMap, zoom et navigation libres.
DONNÉES GÉOGRAPHIQUES :
- Les 17 416 Fokontany ont été importés depuis un fichier Shapefile officiel via un script d'import dédié (import-geo).
- Ils couvrent l'ensemble du territoire malgache et permettent une analyse régionale fine.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Mentionner brièvement que ce module existe déjà en base de données mais que l'interface est en cours. Ne pas s'y attarder.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dashboard est actualisé en temps réel via React Query. Montrer les filtres disponibles.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RBAC À 2 NIVEAUX — Points clés à développer :
NIVEAU 1 — Rôle global (hiérarchie numérique) :
- Administrateur (4) : accès total, gestion des utilisateurs, audit logs, dictionnaire complet.
- Superviseur / Chercheur (3) : création et modification de toutes les données, pas de gestion utilisateurs.
- Technicien (2) : saisie et modification des spécimens, import Excel, module laboratoire.
- Lecteur (1) : consultation uniquement, export autorisé, aucune modification.
NIVEAU 2 — Permissions par type de spécimen :
- En plus du rôle global, chaque utilisateur peut avoir des droits différents selon le type :
  ex. un technicien peut accéder aux Moustiques et Tiques mais pas aux Puces.
- Ces permissions sont encodées directement dans le JWT à la connexion.
- Elles sont vérifiées côté backend via un middleware 'checkSpecimenAccess' sur chaque route /moustiques, /tiques, /puces.
- Un changement de permission par l'admin prend effet à la prochaine connexion de l'utilisateur.
SÉCURITÉ TECHNIQUE :
- JWT signé avec JWT_SECRET (32+ caractères), expirant toutes les 24h.
- Bcrypt pour le hachage des mots de passe (facteur de coût configurable).
- Axios interceptor côté frontend : redirige vers /login automatiquement si token expiré (HTTP 401).
- Notifications SSE (Server-Sent Events) : informe l'utilisateur en temps réel si ses permissions changent.
POURQUOI CE CHOIX ?
- Les données de recherche sont sensibles : certaines missions ou espèces sont confidentielles.
- Le double niveau permet une granularité fine sans complexité excessive pour l'administrateur.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documentation de déploiement NAS est complète (configs.md). Nginx gère le SSL et le routage /api/.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la roadmap en 3 horizons temporels. Insister sur l'application mobile comme prochaine étape majeure.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en rappelant la valeur scientifique et institutionnelle de la solution. Ouvrir sur les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02C39A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3200400" cy="32004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200" dirty="0">
                <a:solidFill>
                  <a:srgbClr val="02C39A"/>
                </a:solidFill>
              </a:rPr>
              <a:t>INSTITUT PASTEUR MADAGASCAR — UNITÉ ENTOMOLOGIE MÉDICALE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</a:rPr>
              <a:t>SpécimenManager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A8D8E0"/>
                </a:solidFill>
              </a:rPr>
              <a:t>Gestion centralisée des spécimens entomologiques de terrain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280160" cy="502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4290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CBFCA"/>
                </a:solidFill>
              </a:rPr>
              <a:t>Application web full-stack · Express.js React 19 · Node.js · PostgreSQL + PostGIS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CBFCA"/>
                </a:solidFill>
              </a:rPr>
              <a:t>DATA MANAGER</a:t>
            </a:r>
            <a:endParaRPr lang="en-US" sz="1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028090"/>
                </a:solidFill>
              </a:rPr>
              <a:t>CONTEXTE &amp; PROBLÈME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</a:rPr>
              <a:t>Pourquoi SpécimenManager 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L'Unité Entomologie Médicale collecte des milliers de spécimens lors de missions de terrain. Toutes les données étaient gérées manuellement dans des fichiers Excel, engendrant de nombreux problèmes de qualité.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874520"/>
            <a:ext cx="40233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12648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</a:rPr>
              <a:t>📋  Incohérence de format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2648" y="2295144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</a:rPr>
              <a:t>Minuscules / majuscules, espaces, accents : un même nom d'espèce saisi de 5 façons différentes selon l'auteur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874520"/>
            <a:ext cx="40233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56048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</a:rPr>
              <a:t>🔁  Données dupliquées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56048" y="2295144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</a:rPr>
              <a:t>Plusieurs enregistrements identiques ou quasi-identiques sans moyen de détecter ou fusionner les doublons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3200400"/>
            <a:ext cx="40233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</a:rPr>
              <a:t>📁  Versions multiples d'Excel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" y="3621024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</a:rPr>
              <a:t>Chaque utilisateur travaille sur sa propre copie du fichier : impossible de savoir quelle version fait foi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3200400"/>
            <a:ext cx="40233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56048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</a:rPr>
              <a:t>🔍  Traçabilité inexistante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56048" y="3621024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</a:rPr>
              <a:t>Aucun historique des modifications, impossible de savoir qui a modifié quoi et quand sur un spécimen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028090"/>
                </a:solidFill>
              </a:rPr>
              <a:t>VUE D'ENSEMBLE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</a:rPr>
              <a:t>Une plateforme unique pour tout le cycle de vie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1234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5DFE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60934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Projet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97510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Planification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09344" y="1938528"/>
            <a:ext cx="173736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2224" y="1554480"/>
            <a:ext cx="1234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5DFE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92224" y="160934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Mission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92224" y="197510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Terrain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35808" y="1938528"/>
            <a:ext cx="173736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18688" y="1554480"/>
            <a:ext cx="1234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5DFE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18688" y="160934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Localité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18688" y="197510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+ Fokontany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62272" y="1938528"/>
            <a:ext cx="173736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45152" y="1554480"/>
            <a:ext cx="1234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5DFE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45152" y="160934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Méthode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45152" y="197510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Collecte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88736" y="1938528"/>
            <a:ext cx="173736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71616" y="1554480"/>
            <a:ext cx="1234440" cy="777240"/>
          </a:xfrm>
          <a:prstGeom prst="roundRect">
            <a:avLst>
              <a:gd name="adj" fmla="val 11765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71616" y="160934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Spécimen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71616" y="197510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0E8D8"/>
                </a:solidFill>
              </a:rPr>
              <a:t>3 types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15200" y="1938528"/>
            <a:ext cx="173736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0" y="1554480"/>
            <a:ext cx="1234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C5DFE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98080" y="1609344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Labo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98080" y="197510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Manipulation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94360" y="265176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94360" y="272491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</a:rPr>
              <a:t>5 000+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594360" y="318211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espèces taxonomiques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37560" y="265176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337560" y="272491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</a:rPr>
              <a:t>17 416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3337560" y="318211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Fokontany géographiques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80760" y="265176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080760" y="272491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</a:rPr>
              <a:t>3 types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6080760" y="318211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Moustiques · Tiques · Puces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</a:rPr>
              <a:t>Hiérarchie : Projet → Mission → Localité → Méthode de Collecte → Spécimen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028090"/>
                </a:solidFill>
              </a:rPr>
              <a:t>ARCHITECTURE TECHNIQUE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</a:rPr>
              <a:t>Stack moderne &amp; robuste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011680" cy="438912"/>
          </a:xfrm>
          <a:prstGeom prst="roundRect">
            <a:avLst>
              <a:gd name="adj" fmla="val 18750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0642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527048"/>
            <a:ext cx="2011680" cy="2615184"/>
          </a:xfrm>
          <a:prstGeom prst="roundRect">
            <a:avLst>
              <a:gd name="adj" fmla="val 4091"/>
            </a:avLst>
          </a:prstGeom>
          <a:solidFill>
            <a:srgbClr val="EFF6FF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1848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· React 19 + Vite 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· React Router 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31343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· Tailwind CSS 3.4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660904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· Zustand 5 (state)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008376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· Leaflet / React-Leaflet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35584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· Recharts 3.8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· TanStack React Query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1051560"/>
            <a:ext cx="2011680" cy="438912"/>
          </a:xfrm>
          <a:prstGeom prst="roundRect">
            <a:avLst>
              <a:gd name="adj" fmla="val 1875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110642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Backend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68880" y="1527048"/>
            <a:ext cx="2011680" cy="2615184"/>
          </a:xfrm>
          <a:prstGeom prst="roundRect">
            <a:avLst>
              <a:gd name="adj" fmla="val 4091"/>
            </a:avLst>
          </a:prstGeom>
          <a:solidFill>
            <a:srgbClr val="F0F9FB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606040" y="161848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· Node.js 22 + Express 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06040" y="196596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· Prisma ORM 5.22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06040" y="231343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· JWT Auth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06040" y="2660904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· Zod 4 validation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06040" y="3008376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· ExcelJS (import/export)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06040" y="335584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· Multer (uploads)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606040" y="370332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· Rate-limiting &amp; Helmet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17720" y="1051560"/>
            <a:ext cx="2011680" cy="438912"/>
          </a:xfrm>
          <a:prstGeom prst="roundRect">
            <a:avLst>
              <a:gd name="adj" fmla="val 1875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110642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Base de données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17720" y="1527048"/>
            <a:ext cx="2011680" cy="1920240"/>
          </a:xfrm>
          <a:prstGeom prst="roundRect">
            <a:avLst>
              <a:gd name="adj" fmla="val 4286"/>
            </a:avLst>
          </a:prstGeom>
          <a:solidFill>
            <a:srgbClr val="F0FDF4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54880" y="161848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· PostgreSQL 16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196596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· PostGIS (spatial)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54880" y="231343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· 17 416 Fokontany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0" y="2660904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· Prisma Migrations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0" y="3008376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· Audit trail complet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66560" y="1051560"/>
            <a:ext cx="2011680" cy="438912"/>
          </a:xfrm>
          <a:prstGeom prst="roundRect">
            <a:avLst>
              <a:gd name="adj" fmla="val 18750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110642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Déploiement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766560" y="1527048"/>
            <a:ext cx="2011680" cy="1920240"/>
          </a:xfrm>
          <a:prstGeom prst="roundRect">
            <a:avLst>
              <a:gd name="adj" fmla="val 4286"/>
            </a:avLst>
          </a:prstGeom>
          <a:solidFill>
            <a:srgbClr val="F0FDF4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903720" y="1618488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· Docker + Compose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903720" y="1965960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· Nginx reverse proxy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03720" y="231343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· Synology NAS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03720" y="2660904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· HTTPS Let's Encrypt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903720" y="3008376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</a:rPr>
              <a:t>· SPA serving + API proxy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028090"/>
                </a:solidFill>
              </a:rPr>
              <a:t>FONCTIONNALITÉS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</a:rPr>
              <a:t>Fonctionnalités clés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4023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1795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</a:rPr>
              <a:t>🗂️  CRUD complet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14813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Gestion des projets, missions, localités, méthodes et 3 types de spécimens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1115568"/>
            <a:ext cx="4023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10328" y="11795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</a:rPr>
              <a:t>📥  Import / Export Excel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910328" y="14813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Chargement en masse selon les standards IPM + export formaté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75688"/>
            <a:ext cx="4023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" y="21396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</a:rPr>
              <a:t>🗺️  Carte interactive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24414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Leaflet + PostGIS : visualisation géographique des sites de collecte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2075688"/>
            <a:ext cx="4023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10328" y="21396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</a:rPr>
              <a:t>📊  Tableau de bord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10328" y="24414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Statistiques, tendances mensuelles, distribution des espèces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35808"/>
            <a:ext cx="4023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" y="3099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</a:rPr>
              <a:t>🔐  RBAC à 2 niveaux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" y="340156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Rôle global (5 niveaux) + permissions par type de spécimen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3035808"/>
            <a:ext cx="4023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10328" y="3099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</a:rPr>
              <a:t>🔎  Recherche globale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10328" y="340156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Ctrl+K : recherche transversale sur toutes les entités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995928"/>
            <a:ext cx="4023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66928" y="40599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293B"/>
                </a:solidFill>
              </a:rPr>
              <a:t>📝  Audit trail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43616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Historique complet CREATE / UPDATE / DELETE avec horodatage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995928"/>
            <a:ext cx="4023360" cy="841248"/>
          </a:xfrm>
          <a:prstGeom prst="roundRect">
            <a:avLst>
              <a:gd name="adj" fmla="val 13043"/>
            </a:avLst>
          </a:prstGeom>
          <a:solidFill>
            <a:srgbClr val="FAFAFA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10328" y="405993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4748B"/>
                </a:solidFill>
              </a:rPr>
              <a:t>🧪  Module laboratoire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726680" y="40690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45309"/>
                </a:solidFill>
              </a:rPr>
              <a:t>🚧 En dev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10328" y="436168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Suivi des manipulations de terrain (en cours de développement)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028090"/>
                </a:solidFill>
              </a:rPr>
              <a:t>DONNÉES SPÉCIMENS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</a:rPr>
              <a:t>3 types de spécimens, une taxonomie unifiée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28090"/>
                </a:solidFill>
              </a:rPr>
              <a:t>Ordre  →  Famille  →  Genre  →  Espèce  →  Sous-espèce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2697480" cy="475488"/>
          </a:xfrm>
          <a:prstGeom prst="roundRect">
            <a:avLst>
              <a:gd name="adj" fmla="val 1923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591056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🦟  Moustiques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020824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0F9FB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" y="21305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28090"/>
                </a:solidFill>
              </a:rPr>
              <a:t>✓ </a:t>
            </a:r>
            <a:r>
              <a:rPr lang="en-US" sz="1000" dirty="0">
                <a:solidFill>
                  <a:srgbClr val="1E293B"/>
                </a:solidFill>
              </a:rPr>
              <a:t>Sexe, stade de vie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" y="24688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28090"/>
                </a:solidFill>
              </a:rPr>
              <a:t>✓ </a:t>
            </a:r>
            <a:r>
              <a:rPr lang="en-US" sz="1000" dirty="0">
                <a:solidFill>
                  <a:srgbClr val="1E293B"/>
                </a:solidFill>
              </a:rPr>
              <a:t>Statut sanguin (N/G/Gr/SGr/NC)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" y="280720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28090"/>
                </a:solidFill>
              </a:rPr>
              <a:t>✓ </a:t>
            </a:r>
            <a:r>
              <a:rPr lang="en-US" sz="1000" dirty="0">
                <a:solidFill>
                  <a:srgbClr val="1E293B"/>
                </a:solidFill>
              </a:rPr>
              <a:t>Parité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" y="314553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28090"/>
                </a:solidFill>
              </a:rPr>
              <a:t>✓ </a:t>
            </a:r>
            <a:r>
              <a:rPr lang="en-US" sz="1000" dirty="0">
                <a:solidFill>
                  <a:srgbClr val="1E293B"/>
                </a:solidFill>
              </a:rPr>
              <a:t>Méthode de piégeage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" y="348386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28090"/>
                </a:solidFill>
              </a:rPr>
              <a:t>✓ </a:t>
            </a:r>
            <a:r>
              <a:rPr lang="en-US" sz="1000" dirty="0">
                <a:solidFill>
                  <a:srgbClr val="1E293B"/>
                </a:solidFill>
              </a:rPr>
              <a:t>Conservation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1508760"/>
            <a:ext cx="2697480" cy="475488"/>
          </a:xfrm>
          <a:prstGeom prst="roundRect">
            <a:avLst>
              <a:gd name="adj" fmla="val 19231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591056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🕷️  Tiques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154680" y="2020824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EFF6FF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19272" y="21305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5A82"/>
                </a:solidFill>
              </a:rPr>
              <a:t>✓ </a:t>
            </a:r>
            <a:r>
              <a:rPr lang="en-US" sz="1000" dirty="0">
                <a:solidFill>
                  <a:srgbClr val="1E293B"/>
                </a:solidFill>
              </a:rPr>
              <a:t>Sexe, stade de vie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19272" y="24688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5A82"/>
                </a:solidFill>
              </a:rPr>
              <a:t>✓ </a:t>
            </a:r>
            <a:r>
              <a:rPr lang="en-US" sz="1000" dirty="0">
                <a:solidFill>
                  <a:srgbClr val="1E293B"/>
                </a:solidFill>
              </a:rPr>
              <a:t>Hôte animal associé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9272" y="280720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5A82"/>
                </a:solidFill>
              </a:rPr>
              <a:t>✓ </a:t>
            </a:r>
            <a:r>
              <a:rPr lang="en-US" sz="1000" dirty="0">
                <a:solidFill>
                  <a:srgbClr val="1E293B"/>
                </a:solidFill>
              </a:rPr>
              <a:t>Partie du corps (hôte)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9272" y="314553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5A82"/>
                </a:solidFill>
              </a:rPr>
              <a:t>✓ </a:t>
            </a:r>
            <a:r>
              <a:rPr lang="en-US" sz="1000" dirty="0">
                <a:solidFill>
                  <a:srgbClr val="1E293B"/>
                </a:solidFill>
              </a:rPr>
              <a:t>Statut gorgé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19272" y="348386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5A82"/>
                </a:solidFill>
              </a:rPr>
              <a:t>✓ </a:t>
            </a:r>
            <a:r>
              <a:rPr lang="en-US" sz="1000" dirty="0">
                <a:solidFill>
                  <a:srgbClr val="1E293B"/>
                </a:solidFill>
              </a:rPr>
              <a:t>Conteneur (position)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89320" y="1508760"/>
            <a:ext cx="2697480" cy="475488"/>
          </a:xfrm>
          <a:prstGeom prst="roundRect">
            <a:avLst>
              <a:gd name="adj" fmla="val 19231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1591056"/>
            <a:ext cx="2697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🐜  Puces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89320" y="2020824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0FDF9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53912" y="213055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47857"/>
                </a:solidFill>
              </a:rPr>
              <a:t>✓ </a:t>
            </a:r>
            <a:r>
              <a:rPr lang="en-US" sz="1000" dirty="0">
                <a:solidFill>
                  <a:srgbClr val="1E293B"/>
                </a:solidFill>
              </a:rPr>
              <a:t>Sexe, stade de vie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53912" y="24688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47857"/>
                </a:solidFill>
              </a:rPr>
              <a:t>✓ </a:t>
            </a:r>
            <a:r>
              <a:rPr lang="en-US" sz="1000" dirty="0">
                <a:solidFill>
                  <a:srgbClr val="1E293B"/>
                </a:solidFill>
              </a:rPr>
              <a:t>Hôte animal associé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53912" y="280720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47857"/>
                </a:solidFill>
              </a:rPr>
              <a:t>✓ </a:t>
            </a:r>
            <a:r>
              <a:rPr lang="en-US" sz="1000" dirty="0">
                <a:solidFill>
                  <a:srgbClr val="1E293B"/>
                </a:solidFill>
              </a:rPr>
              <a:t>Taxonomie complète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53912" y="314553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47857"/>
                </a:solidFill>
              </a:rPr>
              <a:t>✓ </a:t>
            </a:r>
            <a:r>
              <a:rPr lang="en-US" sz="1000" dirty="0">
                <a:solidFill>
                  <a:srgbClr val="1E293B"/>
                </a:solidFill>
              </a:rPr>
              <a:t>Conservation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53912" y="3483864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47857"/>
                </a:solidFill>
              </a:rPr>
              <a:t>✓ </a:t>
            </a:r>
            <a:r>
              <a:rPr lang="en-US" sz="1000" dirty="0">
                <a:solidFill>
                  <a:srgbClr val="1E293B"/>
                </a:solidFill>
              </a:rPr>
              <a:t>Lien laboratoire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114800"/>
            <a:ext cx="8503920" cy="621792"/>
          </a:xfrm>
          <a:prstGeom prst="roundRect">
            <a:avLst>
              <a:gd name="adj" fmla="val 14706"/>
            </a:avLst>
          </a:prstGeom>
          <a:solidFill>
            <a:srgbClr val="FFFBEA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178808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2400E"/>
                </a:solidFill>
              </a:rPr>
              <a:t>📋  Alignement total avec les SOP IPM : codes de piégeage standard (ZP-DP, DN, NC, MHT, OVITRAP…), niveaux taxonomiques hiérarchiques, solutions de conservation (Éthanol, RNAlater…)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028090"/>
                </a:solidFill>
              </a:rPr>
              <a:t>GÉOSPATIAL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</a:rPr>
              <a:t>Carte interactive &amp; analyse spatiale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Chaque localité de collecte est géoréférencée par coordonnées GPS. PostGIS effectue automatiquement une requête point-dans-polygone pour identifier le Fokontany (district administratif) correspondant.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2011680"/>
            <a:ext cx="475488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2066544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28090"/>
                </a:solidFill>
              </a:rPr>
              <a:t>17 416 Fokontany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304288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Polygones géographiques chargés via Shapefile dans PostGIS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2724912"/>
            <a:ext cx="475488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779776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28090"/>
                </a:solidFill>
              </a:rPr>
              <a:t>Lookup automatique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01752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ST_Contains() — identification instantanée du Fokontany au clic GPS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3438144"/>
            <a:ext cx="475488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93008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28090"/>
                </a:solidFill>
              </a:rPr>
              <a:t>Filtre RBAC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73075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La carte n'affiche que les spécimens selon les permissions de l'utilisateur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4151376"/>
            <a:ext cx="475488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420624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28090"/>
                </a:solidFill>
              </a:rPr>
              <a:t>Visualisation Leaflet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4443984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Marqueurs interactifs, zoom, sélection de coordonnées intégrée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0" y="1051560"/>
            <a:ext cx="3291840" cy="3547872"/>
          </a:xfrm>
          <a:prstGeom prst="roundRect">
            <a:avLst>
              <a:gd name="adj" fmla="val 4167"/>
            </a:avLst>
          </a:prstGeom>
          <a:solidFill>
            <a:srgbClr val="E8F4F8"/>
          </a:solidFill>
          <a:ln w="12700">
            <a:solidFill>
              <a:srgbClr val="B5D8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0" y="1463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🗺️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486400" y="2148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8090"/>
                </a:solidFill>
              </a:rPr>
              <a:t>Carte Leaflet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77840" y="2468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Sites de collecte géoréférencés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sur fond OpenStreetMap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17920" y="310896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0" y="283464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23760" y="329184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356616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0" y="301752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347472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0" y="384048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</a:rPr>
              <a:t>/api/v1/localites/lookup-fokontany  →  PostGIS ST_Contains()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028090"/>
                </a:solidFill>
              </a:rPr>
              <a:t>MODULE EN DÉVELOPPEMENT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</a:rPr>
              <a:t>Module Laboratoire — Aperçu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0" y="438912"/>
            <a:ext cx="1920240" cy="320040"/>
          </a:xfrm>
          <a:prstGeom prst="roundRect">
            <a:avLst>
              <a:gd name="adj" fmla="val 22857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47548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2400E"/>
                </a:solidFill>
              </a:rPr>
              <a:t>🚧  En développement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Le module laboratoire permettra de relier chaque spécimen à ses manipulations analytiques, depuis la collecte jusqu'aux résultats de séquençage.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F8F8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4748B"/>
                </a:solidFill>
              </a:rPr>
              <a:t>🧫  Extractions ADN/ARN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66928" y="226771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</a:rPr>
              <a:t>Liaison directe entre spécimen et échantillon d'extraction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82880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F8F8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4748B"/>
                </a:solidFill>
              </a:rPr>
              <a:t>🔬  Amplification PCR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910328" y="226771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</a:rPr>
              <a:t>Suivi des résultats d'amplification et gel d'agarose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F8F8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4748B"/>
                </a:solidFill>
              </a:rPr>
              <a:t>🧬  Séquençage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350215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</a:rPr>
              <a:t>Enregistrement des résultats de séquençage par spécimen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3063240"/>
            <a:ext cx="4023360" cy="1097280"/>
          </a:xfrm>
          <a:prstGeom prst="roundRect">
            <a:avLst>
              <a:gd name="adj" fmla="val 8333"/>
            </a:avLst>
          </a:prstGeom>
          <a:solidFill>
            <a:srgbClr val="F8F8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4748B"/>
                </a:solidFill>
              </a:rPr>
              <a:t>📦  Gestion des conteneurs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10328" y="350215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</a:rPr>
              <a:t>Boîtes 81 tubes &amp; plaques 96 puits avec position dédiée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La structure de données est déjà en place — le développement de l'interface est en cours.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028090"/>
                </a:solidFill>
              </a:rPr>
              <a:t>ANALYTICS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</a:rPr>
              <a:t>Tableau de bord analytique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Un dashboard centralisé permet de suivre en temps réel les activités de collecte et d'analyse, avec des visualisations adaptées aux besoins de recherche.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</a:rPr>
              <a:t>📈  Collectes par mois (graphique linéaire)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</a:rPr>
              <a:t>🥧  Distribution par espèce (camembert)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</a:rPr>
              <a:t>🌍  Carte des sites actifs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</a:rPr>
              <a:t>🔢  Compteurs par type de spécimen</a:t>
            </a:r>
            <a:endParaRPr lang="en-US" sz="11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754880" y="1005840"/>
          <a:ext cx="40233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</a:rPr>
              <a:t>GET /api/v1/dashboard/stats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028090"/>
                </a:solidFill>
              </a:rPr>
              <a:t>SÉCURITÉ &amp; ACCÈS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</a:rPr>
              <a:t>Contrôle d'accès à 2 niveaux (RBAC)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115568"/>
            <a:ext cx="7498080" cy="54864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3444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Administrateur  (niveau 4)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00200" y="1773936"/>
            <a:ext cx="5943600" cy="54864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1892808"/>
            <a:ext cx="5943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Superviseur / Chercheur  (niveau 3)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2432304"/>
            <a:ext cx="4389120" cy="548640"/>
          </a:xfrm>
          <a:prstGeom prst="roundRect">
            <a:avLst>
              <a:gd name="adj" fmla="val 1333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2551176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Technicien  (niveau 2)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3090672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3209544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Lecteur  (niveau 1)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657600"/>
            <a:ext cx="8412480" cy="1051560"/>
          </a:xfrm>
          <a:prstGeom prst="roundRect">
            <a:avLst>
              <a:gd name="adj" fmla="val 8696"/>
            </a:avLst>
          </a:prstGeom>
          <a:solidFill>
            <a:srgbClr val="F0F9FB"/>
          </a:solidFill>
          <a:ln w="12700">
            <a:solidFill>
              <a:srgbClr val="B5D8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74904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</a:rPr>
              <a:t>🔒  Permissions par type de spécimen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04164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</a:rPr>
              <a:t>En plus du rôle global, chaque utilisateur peut avoir des droits spécifiques par type de spécimen (Moustiques / Tiques / Puces). Ces permissions sont encodées dans le JWT et prennent effet à la prochaine connexion.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028090"/>
                </a:solidFill>
              </a:rPr>
              <a:t>INFRASTRUCTURE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</a:rPr>
              <a:t>Déploiement &amp; Infrastructure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645920" cy="868680"/>
          </a:xfrm>
          <a:prstGeom prst="roundRect">
            <a:avLst>
              <a:gd name="adj" fmla="val 12632"/>
            </a:avLst>
          </a:prstGeom>
          <a:solidFill>
            <a:srgbClr val="EFF6FF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087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</a:rPr>
              <a:t>Navigateur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</a:rPr>
              <a:t>(React SPA)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29968" y="1801368"/>
            <a:ext cx="347472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1371600"/>
            <a:ext cx="1645920" cy="868680"/>
          </a:xfrm>
          <a:prstGeom prst="roundRect">
            <a:avLst>
              <a:gd name="adj" fmla="val 12632"/>
            </a:avLst>
          </a:prstGeom>
          <a:solidFill>
            <a:srgbClr val="F0F9FB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5087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Nginx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(reverse proxy)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24528" y="1801368"/>
            <a:ext cx="347472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371600"/>
            <a:ext cx="1645920" cy="868680"/>
          </a:xfrm>
          <a:prstGeom prst="roundRect">
            <a:avLst>
              <a:gd name="adj" fmla="val 12632"/>
            </a:avLst>
          </a:prstGeom>
          <a:solidFill>
            <a:srgbClr val="EFF6FF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5087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</a:rPr>
              <a:t>Node.js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</a:rPr>
              <a:t>Express API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19088" y="1801368"/>
            <a:ext cx="347472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0" y="1371600"/>
            <a:ext cx="1645920" cy="868680"/>
          </a:xfrm>
          <a:prstGeom prst="roundRect">
            <a:avLst>
              <a:gd name="adj" fmla="val 12632"/>
            </a:avLst>
          </a:prstGeom>
          <a:solidFill>
            <a:srgbClr val="F0FDF9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49440" y="15087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47857"/>
                </a:solidFill>
              </a:rPr>
              <a:t>PostgreSQL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47857"/>
                </a:solidFill>
              </a:rPr>
              <a:t>+ PostGIS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468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🖥️  Synology NAS (conteneurs Docker)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4023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29169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</a:rPr>
              <a:t>Docker Compose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200400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3 services : nginx, backend, postgres. Réseau interne isolé.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834640"/>
            <a:ext cx="4023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29169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</a:rPr>
              <a:t>HTTPS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3200400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Certificat Let's Encrypt via reverse proxy Synology ou Nginx.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3794760"/>
            <a:ext cx="4023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38770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</a:rPr>
              <a:t>Variables d'environnement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160520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DATABASE_URL, JWT_SECRET, CLIENT_URL, VITE_API_URL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3794760"/>
            <a:ext cx="402336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FF1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38770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</a:rPr>
              <a:t>Migrations Prisma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4160520"/>
            <a:ext cx="3611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64748B"/>
                </a:solidFill>
              </a:rPr>
              <a:t>Schéma versionné, migrations idempotentes, seed de données initiales.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028090"/>
                </a:solidFill>
              </a:rPr>
              <a:t>PERSPECTIVES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93B"/>
                </a:solidFill>
              </a:rPr>
              <a:t>Améliorations futures &amp;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97480" cy="438912"/>
          </a:xfrm>
          <a:prstGeom prst="roundRect">
            <a:avLst>
              <a:gd name="adj" fmla="val 208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15568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Court terme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536192"/>
            <a:ext cx="2697480" cy="1975104"/>
          </a:xfrm>
          <a:prstGeom prst="roundRect">
            <a:avLst>
              <a:gd name="adj" fmla="val 4630"/>
            </a:avLst>
          </a:prstGeom>
          <a:solidFill>
            <a:srgbClr val="F0F9FB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4592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090"/>
                </a:solidFill>
              </a:rPr>
              <a:t>→ </a:t>
            </a:r>
            <a:r>
              <a:rPr lang="en-US" sz="950" dirty="0">
                <a:solidFill>
                  <a:srgbClr val="1E293B"/>
                </a:solidFill>
              </a:rPr>
              <a:t>Finalisation du module laboratoire (interface PCR, séquençage)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212848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090"/>
                </a:solidFill>
              </a:rPr>
              <a:t>→ </a:t>
            </a:r>
            <a:r>
              <a:rPr lang="en-US" sz="950" dirty="0">
                <a:solidFill>
                  <a:srgbClr val="1E293B"/>
                </a:solidFill>
              </a:rPr>
              <a:t>Application mobile de saisie terrain (React Native / Expo)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779776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28090"/>
                </a:solidFill>
              </a:rPr>
              <a:t>→ </a:t>
            </a:r>
            <a:r>
              <a:rPr lang="en-US" sz="950" dirty="0">
                <a:solidFill>
                  <a:srgbClr val="1E293B"/>
                </a:solidFill>
              </a:rPr>
              <a:t>Export PDF de fiches spécimen individuelles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1051560"/>
            <a:ext cx="2697480" cy="438912"/>
          </a:xfrm>
          <a:prstGeom prst="roundRect">
            <a:avLst>
              <a:gd name="adj" fmla="val 20833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1115568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Moyen terme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54680" y="1536192"/>
            <a:ext cx="2697480" cy="2542032"/>
          </a:xfrm>
          <a:prstGeom prst="roundRect">
            <a:avLst>
              <a:gd name="adj" fmla="val 3597"/>
            </a:avLst>
          </a:prstGeom>
          <a:solidFill>
            <a:srgbClr val="EFF6FF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164592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65A82"/>
                </a:solidFill>
              </a:rPr>
              <a:t>→ </a:t>
            </a:r>
            <a:r>
              <a:rPr lang="en-US" sz="950" dirty="0">
                <a:solidFill>
                  <a:srgbClr val="1E293B"/>
                </a:solidFill>
              </a:rPr>
              <a:t>Synchronisation offline pour les zones sans réseau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91840" y="2212848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65A82"/>
                </a:solidFill>
              </a:rPr>
              <a:t>→ </a:t>
            </a:r>
            <a:r>
              <a:rPr lang="en-US" sz="950" dirty="0">
                <a:solidFill>
                  <a:srgbClr val="1E293B"/>
                </a:solidFill>
              </a:rPr>
              <a:t>Intégration ODK / KoboToolbox pour l'import direct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91840" y="2779776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65A82"/>
                </a:solidFill>
              </a:rPr>
              <a:t>→ </a:t>
            </a:r>
            <a:r>
              <a:rPr lang="en-US" sz="950" dirty="0">
                <a:solidFill>
                  <a:srgbClr val="1E293B"/>
                </a:solidFill>
              </a:rPr>
              <a:t>Alertes et notifications par email (missions planifiées)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91840" y="3346704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65A82"/>
                </a:solidFill>
              </a:rPr>
              <a:t>→ </a:t>
            </a:r>
            <a:r>
              <a:rPr lang="en-US" sz="950" dirty="0">
                <a:solidFill>
                  <a:srgbClr val="1E293B"/>
                </a:solidFill>
              </a:rPr>
              <a:t>API publique documentée (Swagger/OpenAPI)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89320" y="1051560"/>
            <a:ext cx="2697480" cy="438912"/>
          </a:xfrm>
          <a:prstGeom prst="roundRect">
            <a:avLst>
              <a:gd name="adj" fmla="val 20833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1115568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Long terme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89320" y="1536192"/>
            <a:ext cx="2697480" cy="2542032"/>
          </a:xfrm>
          <a:prstGeom prst="roundRect">
            <a:avLst>
              <a:gd name="adj" fmla="val 3597"/>
            </a:avLst>
          </a:prstGeom>
          <a:solidFill>
            <a:srgbClr val="F0FDF9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26480" y="1645920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47857"/>
                </a:solidFill>
              </a:rPr>
              <a:t>→ </a:t>
            </a:r>
            <a:r>
              <a:rPr lang="en-US" sz="950" dirty="0">
                <a:solidFill>
                  <a:srgbClr val="1E293B"/>
                </a:solidFill>
              </a:rPr>
              <a:t>Intelligence artificielle pour l'identification taxonomique par image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126480" y="2212848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47857"/>
                </a:solidFill>
              </a:rPr>
              <a:t>→ </a:t>
            </a:r>
            <a:r>
              <a:rPr lang="en-US" sz="950" dirty="0">
                <a:solidFill>
                  <a:srgbClr val="1E293B"/>
                </a:solidFill>
              </a:rPr>
              <a:t>Tableau de bord épidémiologique (croisement vecteurs / maladies)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126480" y="2779776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47857"/>
                </a:solidFill>
              </a:rPr>
              <a:t>→ </a:t>
            </a:r>
            <a:r>
              <a:rPr lang="en-US" sz="950" dirty="0">
                <a:solidFill>
                  <a:srgbClr val="1E293B"/>
                </a:solidFill>
              </a:rPr>
              <a:t>Multi-institution : partage de données entre unités IPM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26480" y="3346704"/>
            <a:ext cx="246888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47857"/>
                </a:solidFill>
              </a:rPr>
              <a:t>→ </a:t>
            </a:r>
            <a:r>
              <a:rPr lang="en-US" sz="950" dirty="0">
                <a:solidFill>
                  <a:srgbClr val="1E293B"/>
                </a:solidFill>
              </a:rPr>
              <a:t>Module de publication scientifique intégrée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4434840"/>
            <a:ext cx="8503920" cy="502920"/>
          </a:xfrm>
          <a:prstGeom prst="roundRect">
            <a:avLst>
              <a:gd name="adj" fmla="val 18182"/>
            </a:avLst>
          </a:prstGeom>
          <a:solidFill>
            <a:srgbClr val="F0F9FB"/>
          </a:solidFill>
          <a:ln w="12700">
            <a:solidFill>
              <a:srgbClr val="B5D8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4988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</a:rPr>
              <a:t>💡  La priorité immédiate est la finalisation du module laboratoire et le développement d'une application mobile de saisie terrain.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474720" cy="347472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2743200" cy="27432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SpécimenManager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A8D8E0"/>
                </a:solidFill>
              </a:rPr>
              <a:t>Une solution complète, traçable et évolutive</a:t>
            </a:r>
            <a:endParaRPr lang="en-US" sz="1500" dirty="0"/>
          </a:p>
          <a:p>
            <a:pPr marL="0" indent="0" algn="l">
              <a:buNone/>
            </a:pPr>
            <a:r>
              <a:rPr lang="en-US" sz="1500" i="1" dirty="0">
                <a:solidFill>
                  <a:srgbClr val="A8D8E0"/>
                </a:solidFill>
              </a:rPr>
              <a:t>pour la gestion des spécimens entomologiques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30352" y="260604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7860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E6EC"/>
                </a:solidFill>
              </a:rPr>
              <a:t>Centralisation de toutes les données de terrain en un seul endroit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0352" y="3035808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008376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E6EC"/>
                </a:solidFill>
              </a:rPr>
              <a:t>Alignement avec les SOP et standards scientifiques de l'IPM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" y="346557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438144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E6EC"/>
                </a:solidFill>
              </a:rPr>
              <a:t>Analyse géospatiale avancée avec 17 416 Fokontany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" y="3895344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6791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E6EC"/>
                </a:solidFill>
              </a:rPr>
              <a:t>Traçabilité complète du terrain au laboratoire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" y="4325112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2976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8E6EC"/>
                </a:solidFill>
              </a:rPr>
              <a:t>Déploiement sécurisé et autonome sur infrastructure institutionnelle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7365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8A95"/>
                </a:solidFill>
              </a:rPr>
              <a:t>Henintsoa Andrianina  ·  Institut Pasteur Madagascar  · 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724</TotalTime>
  <Words>2976</Words>
  <Application>Microsoft Office PowerPoint</Application>
  <PresentationFormat>Affichage à l'écran (16:9)</PresentationFormat>
  <Paragraphs>225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SpécimenManager — Institut Pasteur Madagascar</dc:title>
  <dc:subject>PptxGenJS Presentation</dc:subject>
  <dc:creator>Henintsoa Andrianina</dc:creator>
  <cp:lastModifiedBy>Henintsoa Andrianina RAZANAKOTO</cp:lastModifiedBy>
  <cp:revision>2</cp:revision>
  <dcterms:created xsi:type="dcterms:W3CDTF">2026-07-02T19:52:22Z</dcterms:created>
  <dcterms:modified xsi:type="dcterms:W3CDTF">2026-07-03T07:58:13Z</dcterms:modified>
</cp:coreProperties>
</file>