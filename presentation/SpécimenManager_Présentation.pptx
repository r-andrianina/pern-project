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Je vais vous présenter SpécimenManager, une application développée spécifiquement pour Institut Pasteur Madagascar. Son objectif : ne plus perdre une seule donnée entre le moment où un entomologiste attrape un spécimen sur le terrain et le moment où le chercheur analyse ses résultats au laboratoire. Dix minutes, et vous aurez une vision complète.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quotidien avant cette application : le terrain remplit des fiches papier. Quelqu'un retranscrit manuellement en Excel. Des fichiers circulent par email. Les chercheurs ne savent pas quelle version est la bonne. Un spécimen mal codé peut invalider des semaines de travail. Et personne ne sait qui a modifié quoi. C'est exactement ce problème que SpécimenManager résout.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réponse à ce chaos : une seule application, accessible depuis n'importe quel navigateur sur le réseau IPM. Tout est structuré autour d'une hiérarchie métier réelle — la même que vous utilisez sur le terrain. Et chaque utilisateur n'accède qu'à ce que son rôle lui autorise : un agent de terrain ne voit pas les paramètres d'administration.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Dès la connexion, le chercheur ou le responsable de projet voit immédiatement l'état de la collecte. Combien de spécimens ce mois-ci ? Quelle espèce domine ? Quelle mission est en cours ? Tout ça en un coup d'œil, sans ouvrir un seul fichier Excel. Les graphiques sont dynamiques et se mettent à jour en temps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saisie est guidée par les protocoles de collecte d'IPM. Le champ 'repas sanguin' propose uniquement les valeurs reconnues : N, G, Gr, SGr, NC — impossible de saisir une valeur incorrecte. La position H12 dans la plaque est automatiquement bloquée — c'est le témoin négatif, l'application l'empêche physiquement. Et si vous avez 200 spécimens à importer d'un coup, le fichier Excel standard est accepté directement.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chercheur qui a besoin de tous les moustiques gorgés collectés à Antananarivo en avril sur le projet X ? Trois filtres, deux secondes, et le fichier Excel est prêt. Les colonnes sont exactement celles attendues par vos protocoles d'analyse. La colonne Parité est même calculée automatiquement selon les règles de collecte IPM.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sécurité des données de recherche est non-négociable. Un nouveau compte créé est inactif par défaut — un administrateur doit l'activer manuellement. Chaque action dans l'application est enregistrée dans un journal d'audit : qui a modifié quoi, quand. Et surtout : toutes les données restent hébergées sur le serveur NAS d'Institut Pasteur Madagascar — rien ne part dans le cloud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L'application a été construite en suivant une approche rigoureuse : d'abord comprendre les besoins réels du terrain et des chercheurs, puis concevoir une architecture adaptée, développer et tester en continu, et enfin déployer sur le serveur IPM. Le résultat est une application stable, sécurisée et maintainable sur le long terme.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Concrètement : un agent de terrain saisit un moustique en 45 secondes avec les bonnes valeurs. Un chercheur exporte les données du mois en un clic, dans le bon format. Un administrateur sait exactement qui a touché quelle donnée. Et tout reste sur vos serveurs IPM — aucune donnée ne part dans le cloud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L'application est fonctionnelle et déployée. Les prochaines étapes dépendent de vous : former les équipes, débloquer l'accès réseau externe avec l'IT, et planifier la migration des données historiques. À moyen terme, une version mobile permettrait une saisie directement sur le terrain sans connexion. Je reste disponible pour toutes vos questions. Merci.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11827"/>
          </a:solidFill>
          <a:ln/>
        </p:spPr>
      </p:sp>
      <p:sp>
        <p:nvSpPr>
          <p:cNvPr id="3" name="Shape 1"/>
          <p:cNvSpPr/>
          <p:nvPr/>
        </p:nvSpPr>
        <p:spPr>
          <a:xfrm>
            <a:off x="0" y="0"/>
            <a:ext cx="4114800" cy="6858000"/>
          </a:xfrm>
          <a:prstGeom prst="rect">
            <a:avLst/>
          </a:prstGeom>
          <a:solidFill>
            <a:srgbClr val="1D9E75"/>
          </a:solidFill>
          <a:ln/>
        </p:spPr>
      </p:sp>
      <p:sp>
        <p:nvSpPr>
          <p:cNvPr id="4" name="Text 2"/>
          <p:cNvSpPr/>
          <p:nvPr/>
        </p:nvSpPr>
        <p:spPr>
          <a:xfrm>
            <a:off x="274320" y="1463040"/>
            <a:ext cx="356616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SpécimenManager</a:t>
            </a:r>
            <a:endParaRPr lang="en-US" sz="3000" dirty="0"/>
          </a:p>
        </p:txBody>
      </p:sp>
      <p:sp>
        <p:nvSpPr>
          <p:cNvPr id="5" name="Text 3"/>
          <p:cNvSpPr/>
          <p:nvPr/>
        </p:nvSpPr>
        <p:spPr>
          <a:xfrm>
            <a:off x="274320" y="2286000"/>
            <a:ext cx="3566160" cy="1097280"/>
          </a:xfrm>
          <a:prstGeom prst="rect">
            <a:avLst/>
          </a:prstGeom>
          <a:noFill/>
          <a:ln/>
        </p:spPr>
        <p:txBody>
          <a:bodyPr wrap="square" rtlCol="0" anchor="ctr"/>
          <a:lstStyle/>
          <a:p>
            <a:pPr indent="0" marL="0">
              <a:lnSpc>
                <a:spcPct val="130000"/>
              </a:lnSpc>
              <a:buNone/>
            </a:pPr>
            <a:r>
              <a:rPr lang="en-US" sz="1600" dirty="0">
                <a:solidFill>
                  <a:srgbClr val="D1FAE5"/>
                </a:solidFill>
                <a:latin typeface="Calibri" pitchFamily="34" charset="0"/>
                <a:ea typeface="Calibri" pitchFamily="34" charset="-122"/>
                <a:cs typeface="Calibri" pitchFamily="34" charset="-120"/>
              </a:rPr>
              <a:t>La traçabilité entomologique</a:t>
            </a:r>
            <a:endParaRPr lang="en-US" sz="1600" dirty="0"/>
          </a:p>
          <a:p>
            <a:pPr indent="0" marL="0">
              <a:lnSpc>
                <a:spcPct val="130000"/>
              </a:lnSpc>
              <a:buNone/>
            </a:pPr>
            <a:r>
              <a:rPr lang="en-US" sz="1600" dirty="0">
                <a:solidFill>
                  <a:srgbClr val="D1FAE5"/>
                </a:solidFill>
                <a:latin typeface="Calibri" pitchFamily="34" charset="0"/>
                <a:ea typeface="Calibri" pitchFamily="34" charset="-122"/>
                <a:cs typeface="Calibri" pitchFamily="34" charset="-120"/>
              </a:rPr>
              <a:t>au service de la recherche</a:t>
            </a:r>
            <a:endParaRPr lang="en-US" sz="1600" dirty="0"/>
          </a:p>
        </p:txBody>
      </p:sp>
      <p:sp>
        <p:nvSpPr>
          <p:cNvPr id="6" name="Text 4"/>
          <p:cNvSpPr/>
          <p:nvPr/>
        </p:nvSpPr>
        <p:spPr>
          <a:xfrm>
            <a:off x="274320" y="3657600"/>
            <a:ext cx="3566160" cy="457200"/>
          </a:xfrm>
          <a:prstGeom prst="rect">
            <a:avLst/>
          </a:prstGeom>
          <a:noFill/>
          <a:ln/>
        </p:spPr>
        <p:txBody>
          <a:bodyPr wrap="square" rtlCol="0" anchor="ctr"/>
          <a:lstStyle/>
          <a:p>
            <a:pPr indent="0" marL="0">
              <a:buNone/>
            </a:pPr>
            <a:r>
              <a:rPr lang="en-US" sz="1300" b="1" dirty="0">
                <a:solidFill>
                  <a:srgbClr val="A7F3D0"/>
                </a:solidFill>
                <a:latin typeface="Calibri" pitchFamily="34" charset="0"/>
                <a:ea typeface="Calibri" pitchFamily="34" charset="-122"/>
                <a:cs typeface="Calibri" pitchFamily="34" charset="-120"/>
              </a:rPr>
              <a:t>Institut Pasteur Madagascar</a:t>
            </a:r>
            <a:endParaRPr lang="en-US" sz="1300" dirty="0"/>
          </a:p>
        </p:txBody>
      </p:sp>
      <p:sp>
        <p:nvSpPr>
          <p:cNvPr id="7" name="Text 5"/>
          <p:cNvSpPr/>
          <p:nvPr/>
        </p:nvSpPr>
        <p:spPr>
          <a:xfrm>
            <a:off x="4572000" y="2011680"/>
            <a:ext cx="5943600" cy="548640"/>
          </a:xfrm>
          <a:prstGeom prst="rect">
            <a:avLst/>
          </a:prstGeom>
          <a:noFill/>
          <a:ln/>
        </p:spPr>
        <p:txBody>
          <a:bodyPr wrap="square" rtlCol="0" anchor="ctr"/>
          <a:lstStyle/>
          <a:p>
            <a:pPr indent="0" marL="0">
              <a:buNone/>
            </a:pPr>
            <a:r>
              <a:rPr lang="en-US" sz="2200" b="1" dirty="0">
                <a:solidFill>
                  <a:srgbClr val="1D9E75"/>
                </a:solidFill>
                <a:latin typeface="Calibri" pitchFamily="34" charset="0"/>
                <a:ea typeface="Calibri" pitchFamily="34" charset="-122"/>
                <a:cs typeface="Calibri" pitchFamily="34" charset="-120"/>
              </a:rPr>
              <a:t>Moustiques · Tiques · Puces</a:t>
            </a:r>
            <a:endParaRPr lang="en-US" sz="2200" dirty="0"/>
          </a:p>
        </p:txBody>
      </p:sp>
      <p:sp>
        <p:nvSpPr>
          <p:cNvPr id="8" name="Text 6"/>
          <p:cNvSpPr/>
          <p:nvPr/>
        </p:nvSpPr>
        <p:spPr>
          <a:xfrm>
            <a:off x="4572000" y="2743200"/>
            <a:ext cx="5943600" cy="1097280"/>
          </a:xfrm>
          <a:prstGeom prst="rect">
            <a:avLst/>
          </a:prstGeom>
          <a:noFill/>
          <a:ln/>
        </p:spPr>
        <p:txBody>
          <a:bodyPr wrap="square" rtlCol="0" anchor="ctr"/>
          <a:lstStyle/>
          <a:p>
            <a:pPr indent="0" marL="0">
              <a:lnSpc>
                <a:spcPct val="150000"/>
              </a:lnSpc>
              <a:buNone/>
            </a:pPr>
            <a:r>
              <a:rPr lang="en-US" sz="1500" dirty="0">
                <a:solidFill>
                  <a:srgbClr val="9CA3AF"/>
                </a:solidFill>
                <a:latin typeface="Calibri" pitchFamily="34" charset="0"/>
                <a:ea typeface="Calibri" pitchFamily="34" charset="-122"/>
                <a:cs typeface="Calibri" pitchFamily="34" charset="-120"/>
              </a:rPr>
              <a:t>Collecte terrain → Saisie numérique → Analyse</a:t>
            </a:r>
            <a:endParaRPr lang="en-US" sz="1500" dirty="0"/>
          </a:p>
          <a:p>
            <a:pPr indent="0" marL="0">
              <a:lnSpc>
                <a:spcPct val="150000"/>
              </a:lnSpc>
              <a:buNone/>
            </a:pPr>
            <a:r>
              <a:rPr lang="en-US" sz="1500" dirty="0">
                <a:solidFill>
                  <a:srgbClr val="9CA3AF"/>
                </a:solidFill>
                <a:latin typeface="Calibri" pitchFamily="34" charset="0"/>
                <a:ea typeface="Calibri" pitchFamily="34" charset="-122"/>
                <a:cs typeface="Calibri" pitchFamily="34" charset="-120"/>
              </a:rPr>
              <a:t>Sans perte. Sans erreur. Sans délai.</a:t>
            </a:r>
            <a:endParaRPr lang="en-US" sz="1500" dirty="0"/>
          </a:p>
        </p:txBody>
      </p:sp>
      <p:sp>
        <p:nvSpPr>
          <p:cNvPr id="9" name="Text 7"/>
          <p:cNvSpPr/>
          <p:nvPr/>
        </p:nvSpPr>
        <p:spPr>
          <a:xfrm>
            <a:off x="4572000" y="4572000"/>
            <a:ext cx="5943600" cy="548640"/>
          </a:xfrm>
          <a:prstGeom prst="rect">
            <a:avLst/>
          </a:prstGeom>
          <a:noFill/>
          <a:ln/>
        </p:spPr>
        <p:txBody>
          <a:bodyPr wrap="square" rtlCol="0" anchor="ctr"/>
          <a:lstStyle/>
          <a:p>
            <a:pPr algn="ctr" indent="0" marL="0">
              <a:buNone/>
            </a:pPr>
            <a:r>
              <a:rPr lang="en-US" sz="2800" dirty="0">
                <a:solidFill>
                  <a:srgbClr val="000000"/>
                </a:solidFill>
              </a:rPr>
              <a:t>🦟   🕷️   🦟</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AFAFA"/>
          </a:solidFill>
          <a:ln/>
        </p:spPr>
      </p:sp>
      <p:sp>
        <p:nvSpPr>
          <p:cNvPr id="3" name="Shape 1"/>
          <p:cNvSpPr/>
          <p:nvPr/>
        </p:nvSpPr>
        <p:spPr>
          <a:xfrm>
            <a:off x="0" y="0"/>
            <a:ext cx="73152" cy="6858000"/>
          </a:xfrm>
          <a:prstGeom prst="rect">
            <a:avLst/>
          </a:prstGeom>
          <a:solidFill>
            <a:srgbClr val="EF4444"/>
          </a:solidFill>
          <a:ln/>
        </p:spPr>
      </p:sp>
      <p:sp>
        <p:nvSpPr>
          <p:cNvPr id="4" name="Text 2"/>
          <p:cNvSpPr/>
          <p:nvPr/>
        </p:nvSpPr>
        <p:spPr>
          <a:xfrm>
            <a:off x="0" y="6492240"/>
            <a:ext cx="12192000" cy="274320"/>
          </a:xfrm>
          <a:prstGeom prst="rect">
            <a:avLst/>
          </a:prstGeom>
          <a:noFill/>
          <a:ln/>
        </p:spPr>
        <p:txBody>
          <a:bodyPr wrap="square"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SpécimenManager  ·  Institut Pasteur Madagascar  ·  2/10</a:t>
            </a:r>
            <a:endParaRPr lang="en-US" sz="900" dirty="0"/>
          </a:p>
        </p:txBody>
      </p:sp>
      <p:sp>
        <p:nvSpPr>
          <p:cNvPr id="5" name="Text 3"/>
          <p:cNvSpPr/>
          <p:nvPr/>
        </p:nvSpPr>
        <p:spPr>
          <a:xfrm>
            <a:off x="457200" y="320040"/>
            <a:ext cx="10515600" cy="640080"/>
          </a:xfrm>
          <a:prstGeom prst="rect">
            <a:avLst/>
          </a:prstGeom>
          <a:noFill/>
          <a:ln/>
        </p:spPr>
        <p:txBody>
          <a:bodyPr wrap="square"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Avant : un processus fragmenté et risqué</a:t>
            </a:r>
            <a:endParaRPr lang="en-US" sz="2600" dirty="0"/>
          </a:p>
        </p:txBody>
      </p:sp>
      <p:sp>
        <p:nvSpPr>
          <p:cNvPr id="6" name="Shape 4"/>
          <p:cNvSpPr/>
          <p:nvPr/>
        </p:nvSpPr>
        <p:spPr>
          <a:xfrm>
            <a:off x="457200" y="1005840"/>
            <a:ext cx="10515600" cy="0"/>
          </a:xfrm>
          <a:prstGeom prst="line">
            <a:avLst/>
          </a:prstGeom>
          <a:noFill/>
          <a:ln w="12700">
            <a:solidFill>
              <a:srgbClr val="E5E7EB"/>
            </a:solidFill>
            <a:prstDash val="solid"/>
          </a:ln>
        </p:spPr>
      </p:sp>
      <p:sp>
        <p:nvSpPr>
          <p:cNvPr id="7" name="Shape 5"/>
          <p:cNvSpPr/>
          <p:nvPr/>
        </p:nvSpPr>
        <p:spPr>
          <a:xfrm>
            <a:off x="502920" y="1371600"/>
            <a:ext cx="2103120" cy="914400"/>
          </a:xfrm>
          <a:prstGeom prst="roundRect">
            <a:avLst>
              <a:gd name="adj" fmla="val 10000"/>
            </a:avLst>
          </a:prstGeom>
          <a:solidFill>
            <a:srgbClr val="DC2626"/>
          </a:solidFill>
          <a:ln w="12700">
            <a:solidFill>
              <a:srgbClr val="DC2626"/>
            </a:solidFill>
            <a:prstDash val="solid"/>
          </a:ln>
        </p:spPr>
      </p:sp>
      <p:sp>
        <p:nvSpPr>
          <p:cNvPr id="8" name="Text 6"/>
          <p:cNvSpPr/>
          <p:nvPr/>
        </p:nvSpPr>
        <p:spPr>
          <a:xfrm>
            <a:off x="502920" y="1371600"/>
            <a:ext cx="210312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Papier terrain</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Fiche manuscrite</a:t>
            </a:r>
            <a:endParaRPr lang="en-US" sz="1200" dirty="0"/>
          </a:p>
        </p:txBody>
      </p:sp>
      <p:sp>
        <p:nvSpPr>
          <p:cNvPr id="9" name="Shape 7"/>
          <p:cNvSpPr/>
          <p:nvPr/>
        </p:nvSpPr>
        <p:spPr>
          <a:xfrm>
            <a:off x="2651760" y="1828800"/>
            <a:ext cx="640080" cy="0"/>
          </a:xfrm>
          <a:prstGeom prst="line">
            <a:avLst/>
          </a:prstGeom>
          <a:noFill/>
          <a:ln w="25400">
            <a:solidFill>
              <a:srgbClr val="EF4444"/>
            </a:solidFill>
            <a:prstDash val="solid"/>
          </a:ln>
        </p:spPr>
      </p:sp>
      <p:sp>
        <p:nvSpPr>
          <p:cNvPr id="10" name="Text 8"/>
          <p:cNvSpPr/>
          <p:nvPr/>
        </p:nvSpPr>
        <p:spPr>
          <a:xfrm>
            <a:off x="2651760" y="1691640"/>
            <a:ext cx="640080" cy="274320"/>
          </a:xfrm>
          <a:prstGeom prst="rect">
            <a:avLst/>
          </a:prstGeom>
          <a:noFill/>
          <a:ln/>
        </p:spPr>
        <p:txBody>
          <a:bodyPr wrap="square" rtlCol="0" anchor="ctr"/>
          <a:lstStyle/>
          <a:p>
            <a:pPr algn="ctr" indent="0" marL="0">
              <a:buNone/>
            </a:pPr>
            <a:r>
              <a:rPr lang="en-US" sz="1600" dirty="0">
                <a:solidFill>
                  <a:srgbClr val="EF4444"/>
                </a:solidFill>
              </a:rPr>
              <a:t>→</a:t>
            </a:r>
            <a:endParaRPr lang="en-US" sz="1600" dirty="0"/>
          </a:p>
        </p:txBody>
      </p:sp>
      <p:sp>
        <p:nvSpPr>
          <p:cNvPr id="11" name="Shape 9"/>
          <p:cNvSpPr/>
          <p:nvPr/>
        </p:nvSpPr>
        <p:spPr>
          <a:xfrm>
            <a:off x="2834640" y="1371600"/>
            <a:ext cx="2103120" cy="914400"/>
          </a:xfrm>
          <a:prstGeom prst="roundRect">
            <a:avLst>
              <a:gd name="adj" fmla="val 10000"/>
            </a:avLst>
          </a:prstGeom>
          <a:solidFill>
            <a:srgbClr val="DC2626"/>
          </a:solidFill>
          <a:ln w="12700">
            <a:solidFill>
              <a:srgbClr val="DC2626"/>
            </a:solidFill>
            <a:prstDash val="solid"/>
          </a:ln>
        </p:spPr>
      </p:sp>
      <p:sp>
        <p:nvSpPr>
          <p:cNvPr id="12" name="Text 10"/>
          <p:cNvSpPr/>
          <p:nvPr/>
        </p:nvSpPr>
        <p:spPr>
          <a:xfrm>
            <a:off x="2834640" y="1371600"/>
            <a:ext cx="210312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Excel local</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Retranscription manuelle</a:t>
            </a:r>
            <a:endParaRPr lang="en-US" sz="1200" dirty="0"/>
          </a:p>
        </p:txBody>
      </p:sp>
      <p:sp>
        <p:nvSpPr>
          <p:cNvPr id="13" name="Shape 11"/>
          <p:cNvSpPr/>
          <p:nvPr/>
        </p:nvSpPr>
        <p:spPr>
          <a:xfrm>
            <a:off x="4983480" y="1828800"/>
            <a:ext cx="640080" cy="0"/>
          </a:xfrm>
          <a:prstGeom prst="line">
            <a:avLst/>
          </a:prstGeom>
          <a:noFill/>
          <a:ln w="25400">
            <a:solidFill>
              <a:srgbClr val="EF4444"/>
            </a:solidFill>
            <a:prstDash val="solid"/>
          </a:ln>
        </p:spPr>
      </p:sp>
      <p:sp>
        <p:nvSpPr>
          <p:cNvPr id="14" name="Text 12"/>
          <p:cNvSpPr/>
          <p:nvPr/>
        </p:nvSpPr>
        <p:spPr>
          <a:xfrm>
            <a:off x="4983480" y="1691640"/>
            <a:ext cx="640080" cy="274320"/>
          </a:xfrm>
          <a:prstGeom prst="rect">
            <a:avLst/>
          </a:prstGeom>
          <a:noFill/>
          <a:ln/>
        </p:spPr>
        <p:txBody>
          <a:bodyPr wrap="square" rtlCol="0" anchor="ctr"/>
          <a:lstStyle/>
          <a:p>
            <a:pPr algn="ctr" indent="0" marL="0">
              <a:buNone/>
            </a:pPr>
            <a:r>
              <a:rPr lang="en-US" sz="1600" dirty="0">
                <a:solidFill>
                  <a:srgbClr val="EF4444"/>
                </a:solidFill>
              </a:rPr>
              <a:t>→</a:t>
            </a:r>
            <a:endParaRPr lang="en-US" sz="1600" dirty="0"/>
          </a:p>
        </p:txBody>
      </p:sp>
      <p:sp>
        <p:nvSpPr>
          <p:cNvPr id="15" name="Shape 13"/>
          <p:cNvSpPr/>
          <p:nvPr/>
        </p:nvSpPr>
        <p:spPr>
          <a:xfrm>
            <a:off x="5166360" y="1371600"/>
            <a:ext cx="2103120" cy="914400"/>
          </a:xfrm>
          <a:prstGeom prst="roundRect">
            <a:avLst>
              <a:gd name="adj" fmla="val 10000"/>
            </a:avLst>
          </a:prstGeom>
          <a:solidFill>
            <a:srgbClr val="DC2626"/>
          </a:solidFill>
          <a:ln w="12700">
            <a:solidFill>
              <a:srgbClr val="DC2626"/>
            </a:solidFill>
            <a:prstDash val="solid"/>
          </a:ln>
        </p:spPr>
      </p:sp>
      <p:sp>
        <p:nvSpPr>
          <p:cNvPr id="16" name="Text 14"/>
          <p:cNvSpPr/>
          <p:nvPr/>
        </p:nvSpPr>
        <p:spPr>
          <a:xfrm>
            <a:off x="5166360" y="1371600"/>
            <a:ext cx="210312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Email</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Fichiers épars</a:t>
            </a:r>
            <a:endParaRPr lang="en-US" sz="1200" dirty="0"/>
          </a:p>
        </p:txBody>
      </p:sp>
      <p:sp>
        <p:nvSpPr>
          <p:cNvPr id="17" name="Shape 15"/>
          <p:cNvSpPr/>
          <p:nvPr/>
        </p:nvSpPr>
        <p:spPr>
          <a:xfrm>
            <a:off x="7315200" y="1828800"/>
            <a:ext cx="640080" cy="0"/>
          </a:xfrm>
          <a:prstGeom prst="line">
            <a:avLst/>
          </a:prstGeom>
          <a:noFill/>
          <a:ln w="25400">
            <a:solidFill>
              <a:srgbClr val="EF4444"/>
            </a:solidFill>
            <a:prstDash val="solid"/>
          </a:ln>
        </p:spPr>
      </p:sp>
      <p:sp>
        <p:nvSpPr>
          <p:cNvPr id="18" name="Text 16"/>
          <p:cNvSpPr/>
          <p:nvPr/>
        </p:nvSpPr>
        <p:spPr>
          <a:xfrm>
            <a:off x="7315200" y="1691640"/>
            <a:ext cx="640080" cy="274320"/>
          </a:xfrm>
          <a:prstGeom prst="rect">
            <a:avLst/>
          </a:prstGeom>
          <a:noFill/>
          <a:ln/>
        </p:spPr>
        <p:txBody>
          <a:bodyPr wrap="square" rtlCol="0" anchor="ctr"/>
          <a:lstStyle/>
          <a:p>
            <a:pPr algn="ctr" indent="0" marL="0">
              <a:buNone/>
            </a:pPr>
            <a:r>
              <a:rPr lang="en-US" sz="1600" dirty="0">
                <a:solidFill>
                  <a:srgbClr val="EF4444"/>
                </a:solidFill>
              </a:rPr>
              <a:t>→</a:t>
            </a:r>
            <a:endParaRPr lang="en-US" sz="1600" dirty="0"/>
          </a:p>
        </p:txBody>
      </p:sp>
      <p:sp>
        <p:nvSpPr>
          <p:cNvPr id="19" name="Shape 17"/>
          <p:cNvSpPr/>
          <p:nvPr/>
        </p:nvSpPr>
        <p:spPr>
          <a:xfrm>
            <a:off x="7498080" y="1371600"/>
            <a:ext cx="2103120" cy="914400"/>
          </a:xfrm>
          <a:prstGeom prst="roundRect">
            <a:avLst>
              <a:gd name="adj" fmla="val 10000"/>
            </a:avLst>
          </a:prstGeom>
          <a:solidFill>
            <a:srgbClr val="EF4444"/>
          </a:solidFill>
          <a:ln w="12700">
            <a:solidFill>
              <a:srgbClr val="EF4444"/>
            </a:solidFill>
            <a:prstDash val="solid"/>
          </a:ln>
        </p:spPr>
      </p:sp>
      <p:sp>
        <p:nvSpPr>
          <p:cNvPr id="20" name="Text 18"/>
          <p:cNvSpPr/>
          <p:nvPr/>
        </p:nvSpPr>
        <p:spPr>
          <a:xfrm>
            <a:off x="7498080" y="1371600"/>
            <a:ext cx="2103120" cy="9144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Base floue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Quelle version ?</a:t>
            </a:r>
            <a:endParaRPr lang="en-US" sz="1200" dirty="0"/>
          </a:p>
        </p:txBody>
      </p:sp>
      <p:sp>
        <p:nvSpPr>
          <p:cNvPr id="21" name="Text 19"/>
          <p:cNvSpPr/>
          <p:nvPr/>
        </p:nvSpPr>
        <p:spPr>
          <a:xfrm>
            <a:off x="502920" y="2560320"/>
            <a:ext cx="10058400" cy="4114800"/>
          </a:xfrm>
          <a:prstGeom prst="rect">
            <a:avLst/>
          </a:prstGeom>
          <a:noFill/>
          <a:ln/>
        </p:spPr>
        <p:txBody>
          <a:bodyPr wrap="square" rtlCol="0" anchor="t"/>
          <a:lstStyle/>
          <a:p>
            <a:pPr>
              <a:spcAft>
                <a:spcPts val="600"/>
              </a:spcAft>
            </a:pPr>
            <a:r>
              <a:rPr lang="en-US" sz="1400" dirty="0">
                <a:solidFill>
                  <a:srgbClr val="1F2937"/>
                </a:solidFill>
                <a:latin typeface="Calibri" pitchFamily="34" charset="0"/>
                <a:ea typeface="Calibri" pitchFamily="34" charset="-122"/>
                <a:cs typeface="Calibri" pitchFamily="34" charset="-120"/>
              </a:rPr>
              <a:t>⚠️  Erreurs de retranscription — un chiffre mal recopié invalide un spécimen</a:t>
            </a:r>
            <a:endParaRPr lang="en-US" sz="1400" dirty="0"/>
          </a:p>
          <a:p>
            <a:pPr>
              <a:spcAft>
                <a:spcPts val="600"/>
              </a:spcAft>
            </a:pPr>
            <a:r>
              <a:rPr lang="en-US" sz="1400" dirty="0">
                <a:solidFill>
                  <a:srgbClr val="1F2937"/>
                </a:solidFill>
                <a:latin typeface="Calibri" pitchFamily="34" charset="0"/>
                <a:ea typeface="Calibri" pitchFamily="34" charset="-122"/>
                <a:cs typeface="Calibri" pitchFamily="34" charset="-120"/>
              </a:rPr>
              <a:t>⚠️  Aucune traçabilité — impossible de savoir qui a modifié quoi, quand</a:t>
            </a:r>
            <a:endParaRPr lang="en-US" sz="1400" dirty="0"/>
          </a:p>
          <a:p>
            <a:pPr>
              <a:spcAft>
                <a:spcPts val="600"/>
              </a:spcAft>
            </a:pPr>
            <a:r>
              <a:rPr lang="en-US" sz="1400" dirty="0">
                <a:solidFill>
                  <a:srgbClr val="1F2937"/>
                </a:solidFill>
                <a:latin typeface="Calibri" pitchFamily="34" charset="0"/>
                <a:ea typeface="Calibri" pitchFamily="34" charset="-122"/>
                <a:cs typeface="Calibri" pitchFamily="34" charset="-120"/>
              </a:rPr>
              <a:t>⚠️  Pas de standard commun — chaque agent a son propre format Excel</a:t>
            </a:r>
            <a:endParaRPr lang="en-US" sz="1400" dirty="0"/>
          </a:p>
          <a:p>
            <a:pPr>
              <a:spcAft>
                <a:spcPts val="600"/>
              </a:spcAft>
            </a:pPr>
            <a:r>
              <a:rPr lang="en-US" sz="1400" dirty="0">
                <a:solidFill>
                  <a:srgbClr val="1F2937"/>
                </a:solidFill>
                <a:latin typeface="Calibri" pitchFamily="34" charset="0"/>
                <a:ea typeface="Calibri" pitchFamily="34" charset="-122"/>
                <a:cs typeface="Calibri" pitchFamily="34" charset="-120"/>
              </a:rPr>
              <a:t>⚠️  Données perdues entre terrain et laboratoire — des semaines de collecte en jeu</a:t>
            </a:r>
            <a:endParaRPr lang="en-US" sz="1400" dirty="0"/>
          </a:p>
          <a:p>
            <a:pPr>
              <a:spcAft>
                <a:spcPts val="600"/>
              </a:spcAft>
            </a:pPr>
            <a:r>
              <a:rPr lang="en-US" sz="1400" dirty="0">
                <a:solidFill>
                  <a:srgbClr val="1F2937"/>
                </a:solidFill>
                <a:latin typeface="Calibri" pitchFamily="34" charset="0"/>
                <a:ea typeface="Calibri" pitchFamily="34" charset="-122"/>
                <a:cs typeface="Calibri" pitchFamily="34" charset="-120"/>
              </a:rPr>
              <a:t>⚠️  Zéro contrôle qualité — les valeurs (statut sanguin, méthode, stade…) ne sont pas vérifiées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AFAFA"/>
          </a:solidFill>
          <a:ln/>
        </p:spPr>
      </p:sp>
      <p:sp>
        <p:nvSpPr>
          <p:cNvPr id="3" name="Shape 1"/>
          <p:cNvSpPr/>
          <p:nvPr/>
        </p:nvSpPr>
        <p:spPr>
          <a:xfrm>
            <a:off x="0" y="0"/>
            <a:ext cx="73152" cy="6858000"/>
          </a:xfrm>
          <a:prstGeom prst="rect">
            <a:avLst/>
          </a:prstGeom>
          <a:solidFill>
            <a:srgbClr val="1D9E75"/>
          </a:solidFill>
          <a:ln/>
        </p:spPr>
      </p:sp>
      <p:sp>
        <p:nvSpPr>
          <p:cNvPr id="4" name="Text 2"/>
          <p:cNvSpPr/>
          <p:nvPr/>
        </p:nvSpPr>
        <p:spPr>
          <a:xfrm>
            <a:off x="0" y="6492240"/>
            <a:ext cx="12192000" cy="274320"/>
          </a:xfrm>
          <a:prstGeom prst="rect">
            <a:avLst/>
          </a:prstGeom>
          <a:noFill/>
          <a:ln/>
        </p:spPr>
        <p:txBody>
          <a:bodyPr wrap="square"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SpécimenManager  ·  Institut Pasteur Madagascar  ·  3/10</a:t>
            </a:r>
            <a:endParaRPr lang="en-US" sz="900" dirty="0"/>
          </a:p>
        </p:txBody>
      </p:sp>
      <p:sp>
        <p:nvSpPr>
          <p:cNvPr id="5" name="Text 3"/>
          <p:cNvSpPr/>
          <p:nvPr/>
        </p:nvSpPr>
        <p:spPr>
          <a:xfrm>
            <a:off x="457200" y="320040"/>
            <a:ext cx="10515600" cy="640080"/>
          </a:xfrm>
          <a:prstGeom prst="rect">
            <a:avLst/>
          </a:prstGeom>
          <a:noFill/>
          <a:ln/>
        </p:spPr>
        <p:txBody>
          <a:bodyPr wrap="square"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SpécimenManager : une seule source de vérité</a:t>
            </a:r>
            <a:endParaRPr lang="en-US" sz="2600" dirty="0"/>
          </a:p>
        </p:txBody>
      </p:sp>
      <p:sp>
        <p:nvSpPr>
          <p:cNvPr id="6" name="Shape 4"/>
          <p:cNvSpPr/>
          <p:nvPr/>
        </p:nvSpPr>
        <p:spPr>
          <a:xfrm>
            <a:off x="457200" y="1005840"/>
            <a:ext cx="10515600" cy="0"/>
          </a:xfrm>
          <a:prstGeom prst="line">
            <a:avLst/>
          </a:prstGeom>
          <a:noFill/>
          <a:ln w="12700">
            <a:solidFill>
              <a:srgbClr val="E5E7EB"/>
            </a:solidFill>
            <a:prstDash val="solid"/>
          </a:ln>
        </p:spPr>
      </p:sp>
      <p:sp>
        <p:nvSpPr>
          <p:cNvPr id="7" name="Shape 5"/>
          <p:cNvSpPr/>
          <p:nvPr/>
        </p:nvSpPr>
        <p:spPr>
          <a:xfrm>
            <a:off x="502920" y="1280160"/>
            <a:ext cx="5029200" cy="640080"/>
          </a:xfrm>
          <a:prstGeom prst="roundRect">
            <a:avLst>
              <a:gd name="adj" fmla="val 14286"/>
            </a:avLst>
          </a:prstGeom>
          <a:solidFill>
            <a:srgbClr val="157A5A"/>
          </a:solidFill>
          <a:ln w="12700">
            <a:solidFill>
              <a:srgbClr val="157A5A"/>
            </a:solidFill>
            <a:prstDash val="solid"/>
          </a:ln>
        </p:spPr>
      </p:sp>
      <p:sp>
        <p:nvSpPr>
          <p:cNvPr id="8" name="Text 6"/>
          <p:cNvSpPr/>
          <p:nvPr/>
        </p:nvSpPr>
        <p:spPr>
          <a:xfrm>
            <a:off x="502920" y="1280160"/>
            <a:ext cx="5029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Projet</a:t>
            </a:r>
            <a:endParaRPr lang="en-US" sz="1300" dirty="0"/>
          </a:p>
        </p:txBody>
      </p:sp>
      <p:sp>
        <p:nvSpPr>
          <p:cNvPr id="9" name="Shape 7"/>
          <p:cNvSpPr/>
          <p:nvPr/>
        </p:nvSpPr>
        <p:spPr>
          <a:xfrm>
            <a:off x="822960" y="1920240"/>
            <a:ext cx="0" cy="182880"/>
          </a:xfrm>
          <a:prstGeom prst="line">
            <a:avLst/>
          </a:prstGeom>
          <a:noFill/>
          <a:ln w="12700">
            <a:solidFill>
              <a:srgbClr val="9CA3AF"/>
            </a:solidFill>
            <a:prstDash val="dash"/>
          </a:ln>
        </p:spPr>
      </p:sp>
      <p:sp>
        <p:nvSpPr>
          <p:cNvPr id="10" name="Shape 8"/>
          <p:cNvSpPr/>
          <p:nvPr/>
        </p:nvSpPr>
        <p:spPr>
          <a:xfrm>
            <a:off x="868680" y="2103120"/>
            <a:ext cx="4846320" cy="640080"/>
          </a:xfrm>
          <a:prstGeom prst="roundRect">
            <a:avLst>
              <a:gd name="adj" fmla="val 14286"/>
            </a:avLst>
          </a:prstGeom>
          <a:solidFill>
            <a:srgbClr val="1D9E75"/>
          </a:solidFill>
          <a:ln w="12700">
            <a:solidFill>
              <a:srgbClr val="1D9E75"/>
            </a:solidFill>
            <a:prstDash val="solid"/>
          </a:ln>
        </p:spPr>
      </p:sp>
      <p:sp>
        <p:nvSpPr>
          <p:cNvPr id="11" name="Text 9"/>
          <p:cNvSpPr/>
          <p:nvPr/>
        </p:nvSpPr>
        <p:spPr>
          <a:xfrm>
            <a:off x="868680" y="2103120"/>
            <a:ext cx="484632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Mission</a:t>
            </a:r>
            <a:endParaRPr lang="en-US" sz="1300" dirty="0"/>
          </a:p>
        </p:txBody>
      </p:sp>
      <p:sp>
        <p:nvSpPr>
          <p:cNvPr id="12" name="Shape 10"/>
          <p:cNvSpPr/>
          <p:nvPr/>
        </p:nvSpPr>
        <p:spPr>
          <a:xfrm>
            <a:off x="1188720" y="2743200"/>
            <a:ext cx="0" cy="182880"/>
          </a:xfrm>
          <a:prstGeom prst="line">
            <a:avLst/>
          </a:prstGeom>
          <a:noFill/>
          <a:ln w="12700">
            <a:solidFill>
              <a:srgbClr val="9CA3AF"/>
            </a:solidFill>
            <a:prstDash val="dash"/>
          </a:ln>
        </p:spPr>
      </p:sp>
      <p:sp>
        <p:nvSpPr>
          <p:cNvPr id="13" name="Shape 11"/>
          <p:cNvSpPr/>
          <p:nvPr/>
        </p:nvSpPr>
        <p:spPr>
          <a:xfrm>
            <a:off x="1234440" y="2926080"/>
            <a:ext cx="4663440" cy="640080"/>
          </a:xfrm>
          <a:prstGeom prst="roundRect">
            <a:avLst>
              <a:gd name="adj" fmla="val 14286"/>
            </a:avLst>
          </a:prstGeom>
          <a:solidFill>
            <a:srgbClr val="0D9488"/>
          </a:solidFill>
          <a:ln w="12700">
            <a:solidFill>
              <a:srgbClr val="0D9488"/>
            </a:solidFill>
            <a:prstDash val="solid"/>
          </a:ln>
        </p:spPr>
      </p:sp>
      <p:sp>
        <p:nvSpPr>
          <p:cNvPr id="14" name="Text 12"/>
          <p:cNvSpPr/>
          <p:nvPr/>
        </p:nvSpPr>
        <p:spPr>
          <a:xfrm>
            <a:off x="1234440" y="2926080"/>
            <a:ext cx="466344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Localité</a:t>
            </a:r>
            <a:endParaRPr lang="en-US" sz="1300" dirty="0"/>
          </a:p>
        </p:txBody>
      </p:sp>
      <p:sp>
        <p:nvSpPr>
          <p:cNvPr id="15" name="Shape 13"/>
          <p:cNvSpPr/>
          <p:nvPr/>
        </p:nvSpPr>
        <p:spPr>
          <a:xfrm>
            <a:off x="1554480" y="3566160"/>
            <a:ext cx="0" cy="182880"/>
          </a:xfrm>
          <a:prstGeom prst="line">
            <a:avLst/>
          </a:prstGeom>
          <a:noFill/>
          <a:ln w="12700">
            <a:solidFill>
              <a:srgbClr val="9CA3AF"/>
            </a:solidFill>
            <a:prstDash val="dash"/>
          </a:ln>
        </p:spPr>
      </p:sp>
      <p:sp>
        <p:nvSpPr>
          <p:cNvPr id="16" name="Shape 14"/>
          <p:cNvSpPr/>
          <p:nvPr/>
        </p:nvSpPr>
        <p:spPr>
          <a:xfrm>
            <a:off x="1600200" y="3749040"/>
            <a:ext cx="4480560" cy="640080"/>
          </a:xfrm>
          <a:prstGeom prst="roundRect">
            <a:avLst>
              <a:gd name="adj" fmla="val 14286"/>
            </a:avLst>
          </a:prstGeom>
          <a:solidFill>
            <a:srgbClr val="F59E0B"/>
          </a:solidFill>
          <a:ln w="12700">
            <a:solidFill>
              <a:srgbClr val="F59E0B"/>
            </a:solidFill>
            <a:prstDash val="solid"/>
          </a:ln>
        </p:spPr>
      </p:sp>
      <p:sp>
        <p:nvSpPr>
          <p:cNvPr id="17" name="Text 15"/>
          <p:cNvSpPr/>
          <p:nvPr/>
        </p:nvSpPr>
        <p:spPr>
          <a:xfrm>
            <a:off x="1600200" y="3749040"/>
            <a:ext cx="448056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Méthode de collecte</a:t>
            </a:r>
            <a:endParaRPr lang="en-US" sz="1300" dirty="0"/>
          </a:p>
        </p:txBody>
      </p:sp>
      <p:sp>
        <p:nvSpPr>
          <p:cNvPr id="18" name="Shape 16"/>
          <p:cNvSpPr/>
          <p:nvPr/>
        </p:nvSpPr>
        <p:spPr>
          <a:xfrm>
            <a:off x="1920240" y="4389120"/>
            <a:ext cx="0" cy="182880"/>
          </a:xfrm>
          <a:prstGeom prst="line">
            <a:avLst/>
          </a:prstGeom>
          <a:noFill/>
          <a:ln w="12700">
            <a:solidFill>
              <a:srgbClr val="9CA3AF"/>
            </a:solidFill>
            <a:prstDash val="dash"/>
          </a:ln>
        </p:spPr>
      </p:sp>
      <p:sp>
        <p:nvSpPr>
          <p:cNvPr id="19" name="Shape 17"/>
          <p:cNvSpPr/>
          <p:nvPr/>
        </p:nvSpPr>
        <p:spPr>
          <a:xfrm>
            <a:off x="1965960" y="4572000"/>
            <a:ext cx="4297680" cy="640080"/>
          </a:xfrm>
          <a:prstGeom prst="roundRect">
            <a:avLst>
              <a:gd name="adj" fmla="val 14286"/>
            </a:avLst>
          </a:prstGeom>
          <a:solidFill>
            <a:srgbClr val="EF4444"/>
          </a:solidFill>
          <a:ln w="12700">
            <a:solidFill>
              <a:srgbClr val="EF4444"/>
            </a:solidFill>
            <a:prstDash val="solid"/>
          </a:ln>
        </p:spPr>
      </p:sp>
      <p:sp>
        <p:nvSpPr>
          <p:cNvPr id="20" name="Text 18"/>
          <p:cNvSpPr/>
          <p:nvPr/>
        </p:nvSpPr>
        <p:spPr>
          <a:xfrm>
            <a:off x="1965960" y="4572000"/>
            <a:ext cx="429768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Spécimen (Moustique / Tique / Puce)</a:t>
            </a:r>
            <a:endParaRPr lang="en-US" sz="1300" dirty="0"/>
          </a:p>
        </p:txBody>
      </p:sp>
      <p:sp>
        <p:nvSpPr>
          <p:cNvPr id="21" name="Text 19"/>
          <p:cNvSpPr/>
          <p:nvPr/>
        </p:nvSpPr>
        <p:spPr>
          <a:xfrm>
            <a:off x="6217920" y="1188720"/>
            <a:ext cx="4297680" cy="457200"/>
          </a:xfrm>
          <a:prstGeom prst="rect">
            <a:avLst/>
          </a:prstGeom>
          <a:noFill/>
          <a:ln/>
        </p:spPr>
        <p:txBody>
          <a:bodyPr wrap="square"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Rôles &amp; accès</a:t>
            </a:r>
            <a:endParaRPr lang="en-US" sz="1400" dirty="0"/>
          </a:p>
        </p:txBody>
      </p:sp>
      <p:sp>
        <p:nvSpPr>
          <p:cNvPr id="22" name="Shape 20"/>
          <p:cNvSpPr/>
          <p:nvPr/>
        </p:nvSpPr>
        <p:spPr>
          <a:xfrm>
            <a:off x="6217920" y="1737360"/>
            <a:ext cx="1371600" cy="640080"/>
          </a:xfrm>
          <a:prstGeom prst="roundRect">
            <a:avLst>
              <a:gd name="adj" fmla="val 14286"/>
            </a:avLst>
          </a:prstGeom>
          <a:solidFill>
            <a:srgbClr val="EF4444"/>
          </a:solidFill>
          <a:ln w="12700">
            <a:solidFill>
              <a:srgbClr val="EF4444"/>
            </a:solidFill>
            <a:prstDash val="solid"/>
          </a:ln>
        </p:spPr>
      </p:sp>
      <p:sp>
        <p:nvSpPr>
          <p:cNvPr id="23" name="Text 21"/>
          <p:cNvSpPr/>
          <p:nvPr/>
        </p:nvSpPr>
        <p:spPr>
          <a:xfrm>
            <a:off x="6217920" y="1737360"/>
            <a:ext cx="137160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Admin</a:t>
            </a:r>
            <a:endParaRPr lang="en-US" sz="1200" dirty="0"/>
          </a:p>
        </p:txBody>
      </p:sp>
      <p:sp>
        <p:nvSpPr>
          <p:cNvPr id="24" name="Text 22"/>
          <p:cNvSpPr/>
          <p:nvPr/>
        </p:nvSpPr>
        <p:spPr>
          <a:xfrm>
            <a:off x="7726680" y="1737360"/>
            <a:ext cx="2788920" cy="64008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Accès total + gestion utilisateurs</a:t>
            </a:r>
            <a:endParaRPr lang="en-US" sz="1100" dirty="0"/>
          </a:p>
        </p:txBody>
      </p:sp>
      <p:sp>
        <p:nvSpPr>
          <p:cNvPr id="25" name="Shape 23"/>
          <p:cNvSpPr/>
          <p:nvPr/>
        </p:nvSpPr>
        <p:spPr>
          <a:xfrm>
            <a:off x="6217920" y="2651760"/>
            <a:ext cx="1371600" cy="640080"/>
          </a:xfrm>
          <a:prstGeom prst="roundRect">
            <a:avLst>
              <a:gd name="adj" fmla="val 14286"/>
            </a:avLst>
          </a:prstGeom>
          <a:solidFill>
            <a:srgbClr val="1D9E75"/>
          </a:solidFill>
          <a:ln w="12700">
            <a:solidFill>
              <a:srgbClr val="1D9E75"/>
            </a:solidFill>
            <a:prstDash val="solid"/>
          </a:ln>
        </p:spPr>
      </p:sp>
      <p:sp>
        <p:nvSpPr>
          <p:cNvPr id="26" name="Text 24"/>
          <p:cNvSpPr/>
          <p:nvPr/>
        </p:nvSpPr>
        <p:spPr>
          <a:xfrm>
            <a:off x="6217920" y="2651760"/>
            <a:ext cx="137160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Chercheur</a:t>
            </a:r>
            <a:endParaRPr lang="en-US" sz="1200" dirty="0"/>
          </a:p>
        </p:txBody>
      </p:sp>
      <p:sp>
        <p:nvSpPr>
          <p:cNvPr id="27" name="Text 25"/>
          <p:cNvSpPr/>
          <p:nvPr/>
        </p:nvSpPr>
        <p:spPr>
          <a:xfrm>
            <a:off x="7726680" y="2651760"/>
            <a:ext cx="2788920" cy="64008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Saisie, export, analyse</a:t>
            </a:r>
            <a:endParaRPr lang="en-US" sz="1100" dirty="0"/>
          </a:p>
        </p:txBody>
      </p:sp>
      <p:sp>
        <p:nvSpPr>
          <p:cNvPr id="28" name="Shape 26"/>
          <p:cNvSpPr/>
          <p:nvPr/>
        </p:nvSpPr>
        <p:spPr>
          <a:xfrm>
            <a:off x="6217920" y="3566160"/>
            <a:ext cx="1371600" cy="640080"/>
          </a:xfrm>
          <a:prstGeom prst="roundRect">
            <a:avLst>
              <a:gd name="adj" fmla="val 14286"/>
            </a:avLst>
          </a:prstGeom>
          <a:solidFill>
            <a:srgbClr val="F59E0B"/>
          </a:solidFill>
          <a:ln w="12700">
            <a:solidFill>
              <a:srgbClr val="F59E0B"/>
            </a:solidFill>
            <a:prstDash val="solid"/>
          </a:ln>
        </p:spPr>
      </p:sp>
      <p:sp>
        <p:nvSpPr>
          <p:cNvPr id="29" name="Text 27"/>
          <p:cNvSpPr/>
          <p:nvPr/>
        </p:nvSpPr>
        <p:spPr>
          <a:xfrm>
            <a:off x="6217920" y="3566160"/>
            <a:ext cx="137160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Terrain</a:t>
            </a:r>
            <a:endParaRPr lang="en-US" sz="1200" dirty="0"/>
          </a:p>
        </p:txBody>
      </p:sp>
      <p:sp>
        <p:nvSpPr>
          <p:cNvPr id="30" name="Text 28"/>
          <p:cNvSpPr/>
          <p:nvPr/>
        </p:nvSpPr>
        <p:spPr>
          <a:xfrm>
            <a:off x="7726680" y="3566160"/>
            <a:ext cx="2788920" cy="64008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Saisie spécimens uniquement</a:t>
            </a:r>
            <a:endParaRPr lang="en-US" sz="1100" dirty="0"/>
          </a:p>
        </p:txBody>
      </p:sp>
      <p:sp>
        <p:nvSpPr>
          <p:cNvPr id="31" name="Shape 29"/>
          <p:cNvSpPr/>
          <p:nvPr/>
        </p:nvSpPr>
        <p:spPr>
          <a:xfrm>
            <a:off x="6217920" y="4480560"/>
            <a:ext cx="1371600" cy="640080"/>
          </a:xfrm>
          <a:prstGeom prst="roundRect">
            <a:avLst>
              <a:gd name="adj" fmla="val 14286"/>
            </a:avLst>
          </a:prstGeom>
          <a:solidFill>
            <a:srgbClr val="9CA3AF"/>
          </a:solidFill>
          <a:ln w="12700">
            <a:solidFill>
              <a:srgbClr val="9CA3AF"/>
            </a:solidFill>
            <a:prstDash val="solid"/>
          </a:ln>
        </p:spPr>
      </p:sp>
      <p:sp>
        <p:nvSpPr>
          <p:cNvPr id="32" name="Text 30"/>
          <p:cNvSpPr/>
          <p:nvPr/>
        </p:nvSpPr>
        <p:spPr>
          <a:xfrm>
            <a:off x="6217920" y="4480560"/>
            <a:ext cx="137160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Lecteur</a:t>
            </a:r>
            <a:endParaRPr lang="en-US" sz="1200" dirty="0"/>
          </a:p>
        </p:txBody>
      </p:sp>
      <p:sp>
        <p:nvSpPr>
          <p:cNvPr id="33" name="Text 31"/>
          <p:cNvSpPr/>
          <p:nvPr/>
        </p:nvSpPr>
        <p:spPr>
          <a:xfrm>
            <a:off x="7726680" y="4480560"/>
            <a:ext cx="2788920" cy="640080"/>
          </a:xfrm>
          <a:prstGeom prst="rect">
            <a:avLst/>
          </a:prstGeom>
          <a:noFill/>
          <a:ln/>
        </p:spPr>
        <p:txBody>
          <a:bodyPr wrap="square" rtlCol="0" anchor="ctr"/>
          <a:lstStyle/>
          <a:p>
            <a:pPr indent="0" marL="0">
              <a:buNone/>
            </a:pPr>
            <a:r>
              <a:rPr lang="en-US" sz="1100" dirty="0">
                <a:solidFill>
                  <a:srgbClr val="4B5563"/>
                </a:solidFill>
                <a:latin typeface="Calibri" pitchFamily="34" charset="0"/>
                <a:ea typeface="Calibri" pitchFamily="34" charset="-122"/>
                <a:cs typeface="Calibri" pitchFamily="34" charset="-120"/>
              </a:rPr>
              <a:t>Consultation uniquement</a:t>
            </a:r>
            <a:endParaRPr lang="en-US" sz="1100" dirty="0"/>
          </a:p>
        </p:txBody>
      </p:sp>
      <p:sp>
        <p:nvSpPr>
          <p:cNvPr id="34" name="Text 32"/>
          <p:cNvSpPr/>
          <p:nvPr/>
        </p:nvSpPr>
        <p:spPr>
          <a:xfrm>
            <a:off x="502920" y="5943600"/>
            <a:ext cx="10058400" cy="365760"/>
          </a:xfrm>
          <a:prstGeom prst="rect">
            <a:avLst/>
          </a:prstGeom>
          <a:noFill/>
          <a:ln/>
        </p:spPr>
        <p:txBody>
          <a:bodyPr wrap="square" rtlCol="0" anchor="ctr"/>
          <a:lstStyle/>
          <a:p>
            <a:pPr indent="0" marL="0">
              <a:buNone/>
            </a:pPr>
            <a:r>
              <a:rPr lang="en-US" sz="1300" b="1" dirty="0">
                <a:solidFill>
                  <a:srgbClr val="1D9E75"/>
                </a:solidFill>
                <a:latin typeface="Calibri" pitchFamily="34" charset="0"/>
                <a:ea typeface="Calibri" pitchFamily="34" charset="-122"/>
                <a:cs typeface="Calibri" pitchFamily="34" charset="-120"/>
              </a:rPr>
              <a:t>✅  Conforme aux protocoles de collecte officiels d'IPM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AFAFA"/>
          </a:solidFill>
          <a:ln/>
        </p:spPr>
      </p:sp>
      <p:sp>
        <p:nvSpPr>
          <p:cNvPr id="3" name="Shape 1"/>
          <p:cNvSpPr/>
          <p:nvPr/>
        </p:nvSpPr>
        <p:spPr>
          <a:xfrm>
            <a:off x="0" y="0"/>
            <a:ext cx="73152" cy="6858000"/>
          </a:xfrm>
          <a:prstGeom prst="rect">
            <a:avLst/>
          </a:prstGeom>
          <a:solidFill>
            <a:srgbClr val="1D9E75"/>
          </a:solidFill>
          <a:ln/>
        </p:spPr>
      </p:sp>
      <p:sp>
        <p:nvSpPr>
          <p:cNvPr id="4" name="Text 2"/>
          <p:cNvSpPr/>
          <p:nvPr/>
        </p:nvSpPr>
        <p:spPr>
          <a:xfrm>
            <a:off x="0" y="6492240"/>
            <a:ext cx="12192000" cy="274320"/>
          </a:xfrm>
          <a:prstGeom prst="rect">
            <a:avLst/>
          </a:prstGeom>
          <a:noFill/>
          <a:ln/>
        </p:spPr>
        <p:txBody>
          <a:bodyPr wrap="square"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SpécimenManager  ·  Institut Pasteur Madagascar  ·  4/10</a:t>
            </a:r>
            <a:endParaRPr lang="en-US" sz="900" dirty="0"/>
          </a:p>
        </p:txBody>
      </p:sp>
      <p:sp>
        <p:nvSpPr>
          <p:cNvPr id="5" name="Text 3"/>
          <p:cNvSpPr/>
          <p:nvPr/>
        </p:nvSpPr>
        <p:spPr>
          <a:xfrm>
            <a:off x="457200" y="320040"/>
            <a:ext cx="10515600" cy="640080"/>
          </a:xfrm>
          <a:prstGeom prst="rect">
            <a:avLst/>
          </a:prstGeom>
          <a:noFill/>
          <a:ln/>
        </p:spPr>
        <p:txBody>
          <a:bodyPr wrap="square"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Tableau de bord — Vue d'ensemble instantanée</a:t>
            </a:r>
            <a:endParaRPr lang="en-US" sz="2600" dirty="0"/>
          </a:p>
        </p:txBody>
      </p:sp>
      <p:sp>
        <p:nvSpPr>
          <p:cNvPr id="6" name="Shape 4"/>
          <p:cNvSpPr/>
          <p:nvPr/>
        </p:nvSpPr>
        <p:spPr>
          <a:xfrm>
            <a:off x="457200" y="1005840"/>
            <a:ext cx="10515600" cy="0"/>
          </a:xfrm>
          <a:prstGeom prst="line">
            <a:avLst/>
          </a:prstGeom>
          <a:noFill/>
          <a:ln w="12700">
            <a:solidFill>
              <a:srgbClr val="E5E7EB"/>
            </a:solidFill>
            <a:prstDash val="solid"/>
          </a:ln>
        </p:spPr>
      </p:sp>
      <p:sp>
        <p:nvSpPr>
          <p:cNvPr id="7" name="Shape 5"/>
          <p:cNvSpPr/>
          <p:nvPr/>
        </p:nvSpPr>
        <p:spPr>
          <a:xfrm>
            <a:off x="502920" y="1280160"/>
            <a:ext cx="2377440" cy="1188720"/>
          </a:xfrm>
          <a:prstGeom prst="roundRect">
            <a:avLst>
              <a:gd name="adj" fmla="val 9231"/>
            </a:avLst>
          </a:prstGeom>
          <a:solidFill>
            <a:srgbClr val="FFFFFF"/>
          </a:solidFill>
          <a:ln w="12700">
            <a:solidFill>
              <a:srgbClr val="E5E7EB"/>
            </a:solidFill>
            <a:prstDash val="solid"/>
          </a:ln>
          <a:effectLst>
            <a:outerShdw sx="100000" sy="100000" kx="0" ky="0" algn="bl" rotWithShape="0" blurRad="101600" dist="25400" dir="5400000">
              <a:srgbClr val="00000015">
                <a:alpha val="75000"/>
              </a:srgbClr>
            </a:outerShdw>
          </a:effectLst>
        </p:spPr>
      </p:sp>
      <p:sp>
        <p:nvSpPr>
          <p:cNvPr id="8" name="Text 6"/>
          <p:cNvSpPr/>
          <p:nvPr/>
        </p:nvSpPr>
        <p:spPr>
          <a:xfrm>
            <a:off x="502920" y="1417320"/>
            <a:ext cx="2377440" cy="502920"/>
          </a:xfrm>
          <a:prstGeom prst="rect">
            <a:avLst/>
          </a:prstGeom>
          <a:noFill/>
          <a:ln/>
        </p:spPr>
        <p:txBody>
          <a:bodyPr wrap="square" rtlCol="0" anchor="ctr"/>
          <a:lstStyle/>
          <a:p>
            <a:pPr algn="ctr" indent="0" marL="0">
              <a:buNone/>
            </a:pPr>
            <a:r>
              <a:rPr lang="en-US" sz="2400" b="1" dirty="0">
                <a:solidFill>
                  <a:srgbClr val="1D9E75"/>
                </a:solidFill>
                <a:latin typeface="Calibri" pitchFamily="34" charset="0"/>
                <a:ea typeface="Calibri" pitchFamily="34" charset="-122"/>
                <a:cs typeface="Calibri" pitchFamily="34" charset="-120"/>
              </a:rPr>
              <a:t>12</a:t>
            </a:r>
            <a:endParaRPr lang="en-US" sz="2400" dirty="0"/>
          </a:p>
        </p:txBody>
      </p:sp>
      <p:sp>
        <p:nvSpPr>
          <p:cNvPr id="9" name="Text 7"/>
          <p:cNvSpPr/>
          <p:nvPr/>
        </p:nvSpPr>
        <p:spPr>
          <a:xfrm>
            <a:off x="502920" y="1920240"/>
            <a:ext cx="2377440" cy="365760"/>
          </a:xfrm>
          <a:prstGeom prst="rect">
            <a:avLst/>
          </a:prstGeom>
          <a:noFill/>
          <a:ln/>
        </p:spPr>
        <p:txBody>
          <a:bodyPr wrap="square" rtlCol="0" anchor="ctr"/>
          <a:lstStyle/>
          <a:p>
            <a:pPr algn="ctr" indent="0" marL="0">
              <a:buNone/>
            </a:pPr>
            <a:r>
              <a:rPr lang="en-US" sz="1100" dirty="0">
                <a:solidFill>
                  <a:srgbClr val="4B5563"/>
                </a:solidFill>
                <a:latin typeface="Calibri" pitchFamily="34" charset="0"/>
                <a:ea typeface="Calibri" pitchFamily="34" charset="-122"/>
                <a:cs typeface="Calibri" pitchFamily="34" charset="-120"/>
              </a:rPr>
              <a:t>Projets</a:t>
            </a:r>
            <a:endParaRPr lang="en-US" sz="1100" dirty="0"/>
          </a:p>
        </p:txBody>
      </p:sp>
      <p:sp>
        <p:nvSpPr>
          <p:cNvPr id="10" name="Shape 8"/>
          <p:cNvSpPr/>
          <p:nvPr/>
        </p:nvSpPr>
        <p:spPr>
          <a:xfrm>
            <a:off x="3154680" y="1280160"/>
            <a:ext cx="2377440" cy="1188720"/>
          </a:xfrm>
          <a:prstGeom prst="roundRect">
            <a:avLst>
              <a:gd name="adj" fmla="val 9231"/>
            </a:avLst>
          </a:prstGeom>
          <a:solidFill>
            <a:srgbClr val="FFFFFF"/>
          </a:solidFill>
          <a:ln w="12700">
            <a:solidFill>
              <a:srgbClr val="E5E7EB"/>
            </a:solidFill>
            <a:prstDash val="solid"/>
          </a:ln>
          <a:effectLst>
            <a:outerShdw sx="100000" sy="100000" kx="0" ky="0" algn="bl" rotWithShape="0" blurRad="101600" dist="25400" dir="5400000">
              <a:srgbClr val="00000015">
                <a:alpha val="75000"/>
              </a:srgbClr>
            </a:outerShdw>
          </a:effectLst>
        </p:spPr>
      </p:sp>
      <p:sp>
        <p:nvSpPr>
          <p:cNvPr id="11" name="Text 9"/>
          <p:cNvSpPr/>
          <p:nvPr/>
        </p:nvSpPr>
        <p:spPr>
          <a:xfrm>
            <a:off x="3154680" y="1417320"/>
            <a:ext cx="2377440" cy="502920"/>
          </a:xfrm>
          <a:prstGeom prst="rect">
            <a:avLst/>
          </a:prstGeom>
          <a:noFill/>
          <a:ln/>
        </p:spPr>
        <p:txBody>
          <a:bodyPr wrap="square" rtlCol="0" anchor="ctr"/>
          <a:lstStyle/>
          <a:p>
            <a:pPr algn="ctr" indent="0" marL="0">
              <a:buNone/>
            </a:pPr>
            <a:r>
              <a:rPr lang="en-US" sz="2400" b="1" dirty="0">
                <a:solidFill>
                  <a:srgbClr val="0EA5E9"/>
                </a:solidFill>
                <a:latin typeface="Calibri" pitchFamily="34" charset="0"/>
                <a:ea typeface="Calibri" pitchFamily="34" charset="-122"/>
                <a:cs typeface="Calibri" pitchFamily="34" charset="-120"/>
              </a:rPr>
              <a:t>47</a:t>
            </a:r>
            <a:endParaRPr lang="en-US" sz="2400" dirty="0"/>
          </a:p>
        </p:txBody>
      </p:sp>
      <p:sp>
        <p:nvSpPr>
          <p:cNvPr id="12" name="Text 10"/>
          <p:cNvSpPr/>
          <p:nvPr/>
        </p:nvSpPr>
        <p:spPr>
          <a:xfrm>
            <a:off x="3154680" y="1920240"/>
            <a:ext cx="2377440" cy="365760"/>
          </a:xfrm>
          <a:prstGeom prst="rect">
            <a:avLst/>
          </a:prstGeom>
          <a:noFill/>
          <a:ln/>
        </p:spPr>
        <p:txBody>
          <a:bodyPr wrap="square" rtlCol="0" anchor="ctr"/>
          <a:lstStyle/>
          <a:p>
            <a:pPr algn="ctr" indent="0" marL="0">
              <a:buNone/>
            </a:pPr>
            <a:r>
              <a:rPr lang="en-US" sz="1100" dirty="0">
                <a:solidFill>
                  <a:srgbClr val="4B5563"/>
                </a:solidFill>
                <a:latin typeface="Calibri" pitchFamily="34" charset="0"/>
                <a:ea typeface="Calibri" pitchFamily="34" charset="-122"/>
                <a:cs typeface="Calibri" pitchFamily="34" charset="-120"/>
              </a:rPr>
              <a:t>Missions</a:t>
            </a:r>
            <a:endParaRPr lang="en-US" sz="1100" dirty="0"/>
          </a:p>
        </p:txBody>
      </p:sp>
      <p:sp>
        <p:nvSpPr>
          <p:cNvPr id="13" name="Shape 11"/>
          <p:cNvSpPr/>
          <p:nvPr/>
        </p:nvSpPr>
        <p:spPr>
          <a:xfrm>
            <a:off x="5806440" y="1280160"/>
            <a:ext cx="2377440" cy="1188720"/>
          </a:xfrm>
          <a:prstGeom prst="roundRect">
            <a:avLst>
              <a:gd name="adj" fmla="val 9231"/>
            </a:avLst>
          </a:prstGeom>
          <a:solidFill>
            <a:srgbClr val="FFFFFF"/>
          </a:solidFill>
          <a:ln w="12700">
            <a:solidFill>
              <a:srgbClr val="E5E7EB"/>
            </a:solidFill>
            <a:prstDash val="solid"/>
          </a:ln>
          <a:effectLst>
            <a:outerShdw sx="100000" sy="100000" kx="0" ky="0" algn="bl" rotWithShape="0" blurRad="101600" dist="25400" dir="5400000">
              <a:srgbClr val="00000015">
                <a:alpha val="75000"/>
              </a:srgbClr>
            </a:outerShdw>
          </a:effectLst>
        </p:spPr>
      </p:sp>
      <p:sp>
        <p:nvSpPr>
          <p:cNvPr id="14" name="Text 12"/>
          <p:cNvSpPr/>
          <p:nvPr/>
        </p:nvSpPr>
        <p:spPr>
          <a:xfrm>
            <a:off x="5806440" y="1417320"/>
            <a:ext cx="2377440" cy="502920"/>
          </a:xfrm>
          <a:prstGeom prst="rect">
            <a:avLst/>
          </a:prstGeom>
          <a:noFill/>
          <a:ln/>
        </p:spPr>
        <p:txBody>
          <a:bodyPr wrap="square" rtlCol="0" anchor="ctr"/>
          <a:lstStyle/>
          <a:p>
            <a:pPr algn="ctr" indent="0" marL="0">
              <a:buNone/>
            </a:pPr>
            <a:r>
              <a:rPr lang="en-US" sz="2400" b="1" dirty="0">
                <a:solidFill>
                  <a:srgbClr val="1F2937"/>
                </a:solidFill>
                <a:latin typeface="Calibri" pitchFamily="34" charset="0"/>
                <a:ea typeface="Calibri" pitchFamily="34" charset="-122"/>
                <a:cs typeface="Calibri" pitchFamily="34" charset="-120"/>
              </a:rPr>
              <a:t>1 842</a:t>
            </a:r>
            <a:endParaRPr lang="en-US" sz="2400" dirty="0"/>
          </a:p>
        </p:txBody>
      </p:sp>
      <p:sp>
        <p:nvSpPr>
          <p:cNvPr id="15" name="Text 13"/>
          <p:cNvSpPr/>
          <p:nvPr/>
        </p:nvSpPr>
        <p:spPr>
          <a:xfrm>
            <a:off x="5806440" y="1920240"/>
            <a:ext cx="2377440" cy="365760"/>
          </a:xfrm>
          <a:prstGeom prst="rect">
            <a:avLst/>
          </a:prstGeom>
          <a:noFill/>
          <a:ln/>
        </p:spPr>
        <p:txBody>
          <a:bodyPr wrap="square" rtlCol="0" anchor="ctr"/>
          <a:lstStyle/>
          <a:p>
            <a:pPr algn="ctr" indent="0" marL="0">
              <a:buNone/>
            </a:pPr>
            <a:r>
              <a:rPr lang="en-US" sz="1100" dirty="0">
                <a:solidFill>
                  <a:srgbClr val="4B5563"/>
                </a:solidFill>
                <a:latin typeface="Calibri" pitchFamily="34" charset="0"/>
                <a:ea typeface="Calibri" pitchFamily="34" charset="-122"/>
                <a:cs typeface="Calibri" pitchFamily="34" charset="-120"/>
              </a:rPr>
              <a:t>Spécimens total</a:t>
            </a:r>
            <a:endParaRPr lang="en-US" sz="1100" dirty="0"/>
          </a:p>
        </p:txBody>
      </p:sp>
      <p:sp>
        <p:nvSpPr>
          <p:cNvPr id="16" name="Shape 14"/>
          <p:cNvSpPr/>
          <p:nvPr/>
        </p:nvSpPr>
        <p:spPr>
          <a:xfrm>
            <a:off x="8458200" y="1280160"/>
            <a:ext cx="2377440" cy="1188720"/>
          </a:xfrm>
          <a:prstGeom prst="roundRect">
            <a:avLst>
              <a:gd name="adj" fmla="val 9231"/>
            </a:avLst>
          </a:prstGeom>
          <a:solidFill>
            <a:srgbClr val="FFFFFF"/>
          </a:solidFill>
          <a:ln w="12700">
            <a:solidFill>
              <a:srgbClr val="E5E7EB"/>
            </a:solidFill>
            <a:prstDash val="solid"/>
          </a:ln>
          <a:effectLst>
            <a:outerShdw sx="100000" sy="100000" kx="0" ky="0" algn="bl" rotWithShape="0" blurRad="101600" dist="25400" dir="5400000">
              <a:srgbClr val="00000015">
                <a:alpha val="75000"/>
              </a:srgbClr>
            </a:outerShdw>
          </a:effectLst>
        </p:spPr>
      </p:sp>
      <p:sp>
        <p:nvSpPr>
          <p:cNvPr id="17" name="Text 15"/>
          <p:cNvSpPr/>
          <p:nvPr/>
        </p:nvSpPr>
        <p:spPr>
          <a:xfrm>
            <a:off x="8458200" y="1417320"/>
            <a:ext cx="2377440" cy="502920"/>
          </a:xfrm>
          <a:prstGeom prst="rect">
            <a:avLst/>
          </a:prstGeom>
          <a:noFill/>
          <a:ln/>
        </p:spPr>
        <p:txBody>
          <a:bodyPr wrap="square" rtlCol="0" anchor="ctr"/>
          <a:lstStyle/>
          <a:p>
            <a:pPr algn="ctr" indent="0" marL="0">
              <a:buNone/>
            </a:pPr>
            <a:r>
              <a:rPr lang="en-US" sz="2400" b="1" dirty="0">
                <a:solidFill>
                  <a:srgbClr val="1D9E75"/>
                </a:solidFill>
                <a:latin typeface="Calibri" pitchFamily="34" charset="0"/>
                <a:ea typeface="Calibri" pitchFamily="34" charset="-122"/>
                <a:cs typeface="Calibri" pitchFamily="34" charset="-120"/>
              </a:rPr>
              <a:t>1 204</a:t>
            </a:r>
            <a:endParaRPr lang="en-US" sz="2400" dirty="0"/>
          </a:p>
        </p:txBody>
      </p:sp>
      <p:sp>
        <p:nvSpPr>
          <p:cNvPr id="18" name="Text 16"/>
          <p:cNvSpPr/>
          <p:nvPr/>
        </p:nvSpPr>
        <p:spPr>
          <a:xfrm>
            <a:off x="8458200" y="1920240"/>
            <a:ext cx="2377440" cy="365760"/>
          </a:xfrm>
          <a:prstGeom prst="rect">
            <a:avLst/>
          </a:prstGeom>
          <a:noFill/>
          <a:ln/>
        </p:spPr>
        <p:txBody>
          <a:bodyPr wrap="square" rtlCol="0" anchor="ctr"/>
          <a:lstStyle/>
          <a:p>
            <a:pPr algn="ctr" indent="0" marL="0">
              <a:buNone/>
            </a:pPr>
            <a:r>
              <a:rPr lang="en-US" sz="1100" dirty="0">
                <a:solidFill>
                  <a:srgbClr val="4B5563"/>
                </a:solidFill>
                <a:latin typeface="Calibri" pitchFamily="34" charset="0"/>
                <a:ea typeface="Calibri" pitchFamily="34" charset="-122"/>
                <a:cs typeface="Calibri" pitchFamily="34" charset="-120"/>
              </a:rPr>
              <a:t>Moustiques</a:t>
            </a:r>
            <a:endParaRPr lang="en-US" sz="1100" dirty="0"/>
          </a:p>
        </p:txBody>
      </p:sp>
      <p:sp>
        <p:nvSpPr>
          <p:cNvPr id="19" name="Text 17"/>
          <p:cNvSpPr/>
          <p:nvPr/>
        </p:nvSpPr>
        <p:spPr>
          <a:xfrm>
            <a:off x="502920" y="2743200"/>
            <a:ext cx="6858000" cy="365760"/>
          </a:xfrm>
          <a:prstGeom prst="rect">
            <a:avLst/>
          </a:prstGeom>
          <a:noFill/>
          <a:ln/>
        </p:spPr>
        <p:txBody>
          <a:bodyPr wrap="square"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  Collectes par mois (6 derniers mois)</a:t>
            </a:r>
            <a:endParaRPr lang="en-US" sz="1300" dirty="0"/>
          </a:p>
        </p:txBody>
      </p:sp>
      <p:sp>
        <p:nvSpPr>
          <p:cNvPr id="20" name="Shape 18"/>
          <p:cNvSpPr/>
          <p:nvPr/>
        </p:nvSpPr>
        <p:spPr>
          <a:xfrm>
            <a:off x="502920" y="3689131"/>
            <a:ext cx="822960" cy="1248629"/>
          </a:xfrm>
          <a:prstGeom prst="roundRect">
            <a:avLst>
              <a:gd name="adj" fmla="val 5556"/>
            </a:avLst>
          </a:prstGeom>
          <a:solidFill>
            <a:srgbClr val="1D9E75"/>
          </a:solidFill>
          <a:ln w="12700">
            <a:solidFill>
              <a:srgbClr val="1D9E75"/>
            </a:solidFill>
            <a:prstDash val="solid"/>
          </a:ln>
        </p:spPr>
      </p:sp>
      <p:sp>
        <p:nvSpPr>
          <p:cNvPr id="21" name="Text 19"/>
          <p:cNvSpPr/>
          <p:nvPr/>
        </p:nvSpPr>
        <p:spPr>
          <a:xfrm>
            <a:off x="502920" y="5029200"/>
            <a:ext cx="822960" cy="27432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Jan</a:t>
            </a:r>
            <a:endParaRPr lang="en-US" sz="1000" dirty="0"/>
          </a:p>
        </p:txBody>
      </p:sp>
      <p:sp>
        <p:nvSpPr>
          <p:cNvPr id="22" name="Text 20"/>
          <p:cNvSpPr/>
          <p:nvPr/>
        </p:nvSpPr>
        <p:spPr>
          <a:xfrm>
            <a:off x="502920" y="3369091"/>
            <a:ext cx="822960" cy="274320"/>
          </a:xfrm>
          <a:prstGeom prst="rect">
            <a:avLst/>
          </a:prstGeom>
          <a:noFill/>
          <a:ln/>
        </p:spPr>
        <p:txBody>
          <a:bodyPr wrap="square" rtlCol="0" anchor="ctr"/>
          <a:lstStyle/>
          <a:p>
            <a:pPr algn="ctr" indent="0" marL="0">
              <a:buNone/>
            </a:pPr>
            <a:r>
              <a:rPr lang="en-US" sz="1000" b="1" dirty="0">
                <a:solidFill>
                  <a:srgbClr val="1D9E75"/>
                </a:solidFill>
                <a:latin typeface="Calibri" pitchFamily="34" charset="0"/>
                <a:ea typeface="Calibri" pitchFamily="34" charset="-122"/>
                <a:cs typeface="Calibri" pitchFamily="34" charset="-120"/>
              </a:rPr>
              <a:t>180</a:t>
            </a:r>
            <a:endParaRPr lang="en-US" sz="1000" dirty="0"/>
          </a:p>
        </p:txBody>
      </p:sp>
      <p:sp>
        <p:nvSpPr>
          <p:cNvPr id="23" name="Shape 21"/>
          <p:cNvSpPr/>
          <p:nvPr/>
        </p:nvSpPr>
        <p:spPr>
          <a:xfrm>
            <a:off x="1600200" y="3481026"/>
            <a:ext cx="822960" cy="1456734"/>
          </a:xfrm>
          <a:prstGeom prst="roundRect">
            <a:avLst>
              <a:gd name="adj" fmla="val 5556"/>
            </a:avLst>
          </a:prstGeom>
          <a:solidFill>
            <a:srgbClr val="1D9E75"/>
          </a:solidFill>
          <a:ln w="12700">
            <a:solidFill>
              <a:srgbClr val="1D9E75"/>
            </a:solidFill>
            <a:prstDash val="solid"/>
          </a:ln>
        </p:spPr>
      </p:sp>
      <p:sp>
        <p:nvSpPr>
          <p:cNvPr id="24" name="Text 22"/>
          <p:cNvSpPr/>
          <p:nvPr/>
        </p:nvSpPr>
        <p:spPr>
          <a:xfrm>
            <a:off x="1600200" y="5029200"/>
            <a:ext cx="822960" cy="27432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Fév</a:t>
            </a:r>
            <a:endParaRPr lang="en-US" sz="1000" dirty="0"/>
          </a:p>
        </p:txBody>
      </p:sp>
      <p:sp>
        <p:nvSpPr>
          <p:cNvPr id="25" name="Text 23"/>
          <p:cNvSpPr/>
          <p:nvPr/>
        </p:nvSpPr>
        <p:spPr>
          <a:xfrm>
            <a:off x="1600200" y="3160986"/>
            <a:ext cx="822960" cy="274320"/>
          </a:xfrm>
          <a:prstGeom prst="rect">
            <a:avLst/>
          </a:prstGeom>
          <a:noFill/>
          <a:ln/>
        </p:spPr>
        <p:txBody>
          <a:bodyPr wrap="square" rtlCol="0" anchor="ctr"/>
          <a:lstStyle/>
          <a:p>
            <a:pPr algn="ctr" indent="0" marL="0">
              <a:buNone/>
            </a:pPr>
            <a:r>
              <a:rPr lang="en-US" sz="1000" b="1" dirty="0">
                <a:solidFill>
                  <a:srgbClr val="1D9E75"/>
                </a:solidFill>
                <a:latin typeface="Calibri" pitchFamily="34" charset="0"/>
                <a:ea typeface="Calibri" pitchFamily="34" charset="-122"/>
                <a:cs typeface="Calibri" pitchFamily="34" charset="-120"/>
              </a:rPr>
              <a:t>210</a:t>
            </a:r>
            <a:endParaRPr lang="en-US" sz="1000" dirty="0"/>
          </a:p>
        </p:txBody>
      </p:sp>
      <p:sp>
        <p:nvSpPr>
          <p:cNvPr id="26" name="Shape 24"/>
          <p:cNvSpPr/>
          <p:nvPr/>
        </p:nvSpPr>
        <p:spPr>
          <a:xfrm>
            <a:off x="2697480" y="3793183"/>
            <a:ext cx="822960" cy="1144577"/>
          </a:xfrm>
          <a:prstGeom prst="roundRect">
            <a:avLst>
              <a:gd name="adj" fmla="val 5556"/>
            </a:avLst>
          </a:prstGeom>
          <a:solidFill>
            <a:srgbClr val="1D9E75"/>
          </a:solidFill>
          <a:ln w="12700">
            <a:solidFill>
              <a:srgbClr val="1D9E75"/>
            </a:solidFill>
            <a:prstDash val="solid"/>
          </a:ln>
        </p:spPr>
      </p:sp>
      <p:sp>
        <p:nvSpPr>
          <p:cNvPr id="27" name="Text 25"/>
          <p:cNvSpPr/>
          <p:nvPr/>
        </p:nvSpPr>
        <p:spPr>
          <a:xfrm>
            <a:off x="2697480" y="5029200"/>
            <a:ext cx="822960" cy="27432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Mar</a:t>
            </a:r>
            <a:endParaRPr lang="en-US" sz="1000" dirty="0"/>
          </a:p>
        </p:txBody>
      </p:sp>
      <p:sp>
        <p:nvSpPr>
          <p:cNvPr id="28" name="Text 26"/>
          <p:cNvSpPr/>
          <p:nvPr/>
        </p:nvSpPr>
        <p:spPr>
          <a:xfrm>
            <a:off x="2697480" y="3473143"/>
            <a:ext cx="822960" cy="274320"/>
          </a:xfrm>
          <a:prstGeom prst="rect">
            <a:avLst/>
          </a:prstGeom>
          <a:noFill/>
          <a:ln/>
        </p:spPr>
        <p:txBody>
          <a:bodyPr wrap="square" rtlCol="0" anchor="ctr"/>
          <a:lstStyle/>
          <a:p>
            <a:pPr algn="ctr" indent="0" marL="0">
              <a:buNone/>
            </a:pPr>
            <a:r>
              <a:rPr lang="en-US" sz="1000" b="1" dirty="0">
                <a:solidFill>
                  <a:srgbClr val="1D9E75"/>
                </a:solidFill>
                <a:latin typeface="Calibri" pitchFamily="34" charset="0"/>
                <a:ea typeface="Calibri" pitchFamily="34" charset="-122"/>
                <a:cs typeface="Calibri" pitchFamily="34" charset="-120"/>
              </a:rPr>
              <a:t>165</a:t>
            </a:r>
            <a:endParaRPr lang="en-US" sz="1000" dirty="0"/>
          </a:p>
        </p:txBody>
      </p:sp>
      <p:sp>
        <p:nvSpPr>
          <p:cNvPr id="29" name="Shape 27"/>
          <p:cNvSpPr/>
          <p:nvPr/>
        </p:nvSpPr>
        <p:spPr>
          <a:xfrm>
            <a:off x="3794760" y="2926080"/>
            <a:ext cx="822960" cy="2011680"/>
          </a:xfrm>
          <a:prstGeom prst="roundRect">
            <a:avLst>
              <a:gd name="adj" fmla="val 5556"/>
            </a:avLst>
          </a:prstGeom>
          <a:solidFill>
            <a:srgbClr val="1D9E75"/>
          </a:solidFill>
          <a:ln w="12700">
            <a:solidFill>
              <a:srgbClr val="1D9E75"/>
            </a:solidFill>
            <a:prstDash val="solid"/>
          </a:ln>
        </p:spPr>
      </p:sp>
      <p:sp>
        <p:nvSpPr>
          <p:cNvPr id="30" name="Text 28"/>
          <p:cNvSpPr/>
          <p:nvPr/>
        </p:nvSpPr>
        <p:spPr>
          <a:xfrm>
            <a:off x="3794760" y="5029200"/>
            <a:ext cx="822960" cy="27432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Avr</a:t>
            </a:r>
            <a:endParaRPr lang="en-US" sz="1000" dirty="0"/>
          </a:p>
        </p:txBody>
      </p:sp>
      <p:sp>
        <p:nvSpPr>
          <p:cNvPr id="31" name="Text 29"/>
          <p:cNvSpPr/>
          <p:nvPr/>
        </p:nvSpPr>
        <p:spPr>
          <a:xfrm>
            <a:off x="3794760" y="2606040"/>
            <a:ext cx="822960" cy="274320"/>
          </a:xfrm>
          <a:prstGeom prst="rect">
            <a:avLst/>
          </a:prstGeom>
          <a:noFill/>
          <a:ln/>
        </p:spPr>
        <p:txBody>
          <a:bodyPr wrap="square" rtlCol="0" anchor="ctr"/>
          <a:lstStyle/>
          <a:p>
            <a:pPr algn="ctr" indent="0" marL="0">
              <a:buNone/>
            </a:pPr>
            <a:r>
              <a:rPr lang="en-US" sz="1000" b="1" dirty="0">
                <a:solidFill>
                  <a:srgbClr val="1D9E75"/>
                </a:solidFill>
                <a:latin typeface="Calibri" pitchFamily="34" charset="0"/>
                <a:ea typeface="Calibri" pitchFamily="34" charset="-122"/>
                <a:cs typeface="Calibri" pitchFamily="34" charset="-120"/>
              </a:rPr>
              <a:t>290</a:t>
            </a:r>
            <a:endParaRPr lang="en-US" sz="1000" dirty="0"/>
          </a:p>
        </p:txBody>
      </p:sp>
      <p:sp>
        <p:nvSpPr>
          <p:cNvPr id="32" name="Shape 30"/>
          <p:cNvSpPr/>
          <p:nvPr/>
        </p:nvSpPr>
        <p:spPr>
          <a:xfrm>
            <a:off x="4892040" y="3238237"/>
            <a:ext cx="822960" cy="1699523"/>
          </a:xfrm>
          <a:prstGeom prst="roundRect">
            <a:avLst>
              <a:gd name="adj" fmla="val 5556"/>
            </a:avLst>
          </a:prstGeom>
          <a:solidFill>
            <a:srgbClr val="1D9E75"/>
          </a:solidFill>
          <a:ln w="12700">
            <a:solidFill>
              <a:srgbClr val="1D9E75"/>
            </a:solidFill>
            <a:prstDash val="solid"/>
          </a:ln>
        </p:spPr>
      </p:sp>
      <p:sp>
        <p:nvSpPr>
          <p:cNvPr id="33" name="Text 31"/>
          <p:cNvSpPr/>
          <p:nvPr/>
        </p:nvSpPr>
        <p:spPr>
          <a:xfrm>
            <a:off x="4892040" y="5029200"/>
            <a:ext cx="822960" cy="27432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Mai</a:t>
            </a:r>
            <a:endParaRPr lang="en-US" sz="1000" dirty="0"/>
          </a:p>
        </p:txBody>
      </p:sp>
      <p:sp>
        <p:nvSpPr>
          <p:cNvPr id="34" name="Text 32"/>
          <p:cNvSpPr/>
          <p:nvPr/>
        </p:nvSpPr>
        <p:spPr>
          <a:xfrm>
            <a:off x="4892040" y="2918197"/>
            <a:ext cx="822960" cy="274320"/>
          </a:xfrm>
          <a:prstGeom prst="rect">
            <a:avLst/>
          </a:prstGeom>
          <a:noFill/>
          <a:ln/>
        </p:spPr>
        <p:txBody>
          <a:bodyPr wrap="square" rtlCol="0" anchor="ctr"/>
          <a:lstStyle/>
          <a:p>
            <a:pPr algn="ctr" indent="0" marL="0">
              <a:buNone/>
            </a:pPr>
            <a:r>
              <a:rPr lang="en-US" sz="1000" b="1" dirty="0">
                <a:solidFill>
                  <a:srgbClr val="1D9E75"/>
                </a:solidFill>
                <a:latin typeface="Calibri" pitchFamily="34" charset="0"/>
                <a:ea typeface="Calibri" pitchFamily="34" charset="-122"/>
                <a:cs typeface="Calibri" pitchFamily="34" charset="-120"/>
              </a:rPr>
              <a:t>245</a:t>
            </a:r>
            <a:endParaRPr lang="en-US" sz="1000" dirty="0"/>
          </a:p>
        </p:txBody>
      </p:sp>
      <p:sp>
        <p:nvSpPr>
          <p:cNvPr id="35" name="Shape 33"/>
          <p:cNvSpPr/>
          <p:nvPr/>
        </p:nvSpPr>
        <p:spPr>
          <a:xfrm>
            <a:off x="5989320" y="3689131"/>
            <a:ext cx="822960" cy="1248629"/>
          </a:xfrm>
          <a:prstGeom prst="roundRect">
            <a:avLst>
              <a:gd name="adj" fmla="val 5556"/>
            </a:avLst>
          </a:prstGeom>
          <a:solidFill>
            <a:srgbClr val="1D9E75"/>
          </a:solidFill>
          <a:ln w="12700">
            <a:solidFill>
              <a:srgbClr val="1D9E75"/>
            </a:solidFill>
            <a:prstDash val="solid"/>
          </a:ln>
        </p:spPr>
      </p:sp>
      <p:sp>
        <p:nvSpPr>
          <p:cNvPr id="36" name="Text 34"/>
          <p:cNvSpPr/>
          <p:nvPr/>
        </p:nvSpPr>
        <p:spPr>
          <a:xfrm>
            <a:off x="5989320" y="5029200"/>
            <a:ext cx="822960" cy="274320"/>
          </a:xfrm>
          <a:prstGeom prst="rect">
            <a:avLst/>
          </a:prstGeom>
          <a:noFill/>
          <a:ln/>
        </p:spPr>
        <p:txBody>
          <a:bodyPr wrap="square" rtlCol="0" anchor="ctr"/>
          <a:lstStyle/>
          <a:p>
            <a:pPr algn="ctr" indent="0" marL="0">
              <a:buNone/>
            </a:pPr>
            <a:r>
              <a:rPr lang="en-US" sz="1000" dirty="0">
                <a:solidFill>
                  <a:srgbClr val="9CA3AF"/>
                </a:solidFill>
                <a:latin typeface="Calibri" pitchFamily="34" charset="0"/>
                <a:ea typeface="Calibri" pitchFamily="34" charset="-122"/>
                <a:cs typeface="Calibri" pitchFamily="34" charset="-120"/>
              </a:rPr>
              <a:t>Jun</a:t>
            </a:r>
            <a:endParaRPr lang="en-US" sz="1000" dirty="0"/>
          </a:p>
        </p:txBody>
      </p:sp>
      <p:sp>
        <p:nvSpPr>
          <p:cNvPr id="37" name="Text 35"/>
          <p:cNvSpPr/>
          <p:nvPr/>
        </p:nvSpPr>
        <p:spPr>
          <a:xfrm>
            <a:off x="5989320" y="3369091"/>
            <a:ext cx="822960" cy="274320"/>
          </a:xfrm>
          <a:prstGeom prst="rect">
            <a:avLst/>
          </a:prstGeom>
          <a:noFill/>
          <a:ln/>
        </p:spPr>
        <p:txBody>
          <a:bodyPr wrap="square" rtlCol="0" anchor="ctr"/>
          <a:lstStyle/>
          <a:p>
            <a:pPr algn="ctr" indent="0" marL="0">
              <a:buNone/>
            </a:pPr>
            <a:r>
              <a:rPr lang="en-US" sz="1000" b="1" dirty="0">
                <a:solidFill>
                  <a:srgbClr val="1D9E75"/>
                </a:solidFill>
                <a:latin typeface="Calibri" pitchFamily="34" charset="0"/>
                <a:ea typeface="Calibri" pitchFamily="34" charset="-122"/>
                <a:cs typeface="Calibri" pitchFamily="34" charset="-120"/>
              </a:rPr>
              <a:t>180</a:t>
            </a:r>
            <a:endParaRPr lang="en-US" sz="1000" dirty="0"/>
          </a:p>
        </p:txBody>
      </p:sp>
      <p:sp>
        <p:nvSpPr>
          <p:cNvPr id="38" name="Text 36"/>
          <p:cNvSpPr/>
          <p:nvPr/>
        </p:nvSpPr>
        <p:spPr>
          <a:xfrm>
            <a:off x="7498080" y="2743200"/>
            <a:ext cx="3200400" cy="365760"/>
          </a:xfrm>
          <a:prstGeom prst="rect">
            <a:avLst/>
          </a:prstGeom>
          <a:noFill/>
          <a:ln/>
        </p:spPr>
        <p:txBody>
          <a:bodyPr wrap="square"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  Répartition par type</a:t>
            </a:r>
            <a:endParaRPr lang="en-US" sz="1300" dirty="0"/>
          </a:p>
        </p:txBody>
      </p:sp>
      <p:sp>
        <p:nvSpPr>
          <p:cNvPr id="39" name="Shape 37"/>
          <p:cNvSpPr/>
          <p:nvPr/>
        </p:nvSpPr>
        <p:spPr>
          <a:xfrm>
            <a:off x="7543800" y="3246120"/>
            <a:ext cx="228600" cy="228600"/>
          </a:xfrm>
          <a:prstGeom prst="ellipse">
            <a:avLst/>
          </a:prstGeom>
          <a:solidFill>
            <a:srgbClr val="1D9E75"/>
          </a:solidFill>
          <a:ln w="12700">
            <a:solidFill>
              <a:srgbClr val="1D9E75"/>
            </a:solidFill>
            <a:prstDash val="solid"/>
          </a:ln>
        </p:spPr>
      </p:sp>
      <p:sp>
        <p:nvSpPr>
          <p:cNvPr id="40" name="Text 38"/>
          <p:cNvSpPr/>
          <p:nvPr/>
        </p:nvSpPr>
        <p:spPr>
          <a:xfrm>
            <a:off x="7863840" y="3200400"/>
            <a:ext cx="2743200" cy="32004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Moustique  65%</a:t>
            </a:r>
            <a:endParaRPr lang="en-US" sz="1200" dirty="0"/>
          </a:p>
        </p:txBody>
      </p:sp>
      <p:sp>
        <p:nvSpPr>
          <p:cNvPr id="41" name="Shape 39"/>
          <p:cNvSpPr/>
          <p:nvPr/>
        </p:nvSpPr>
        <p:spPr>
          <a:xfrm>
            <a:off x="7543800" y="3840480"/>
            <a:ext cx="228600" cy="228600"/>
          </a:xfrm>
          <a:prstGeom prst="ellipse">
            <a:avLst/>
          </a:prstGeom>
          <a:solidFill>
            <a:srgbClr val="F59E0B"/>
          </a:solidFill>
          <a:ln w="12700">
            <a:solidFill>
              <a:srgbClr val="F59E0B"/>
            </a:solidFill>
            <a:prstDash val="solid"/>
          </a:ln>
        </p:spPr>
      </p:sp>
      <p:sp>
        <p:nvSpPr>
          <p:cNvPr id="42" name="Text 40"/>
          <p:cNvSpPr/>
          <p:nvPr/>
        </p:nvSpPr>
        <p:spPr>
          <a:xfrm>
            <a:off x="7863840" y="3794760"/>
            <a:ext cx="2743200" cy="32004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Tique         22%</a:t>
            </a:r>
            <a:endParaRPr lang="en-US" sz="1200" dirty="0"/>
          </a:p>
        </p:txBody>
      </p:sp>
      <p:sp>
        <p:nvSpPr>
          <p:cNvPr id="43" name="Shape 41"/>
          <p:cNvSpPr/>
          <p:nvPr/>
        </p:nvSpPr>
        <p:spPr>
          <a:xfrm>
            <a:off x="7543800" y="4434840"/>
            <a:ext cx="228600" cy="228600"/>
          </a:xfrm>
          <a:prstGeom prst="ellipse">
            <a:avLst/>
          </a:prstGeom>
          <a:solidFill>
            <a:srgbClr val="EF4444"/>
          </a:solidFill>
          <a:ln w="12700">
            <a:solidFill>
              <a:srgbClr val="EF4444"/>
            </a:solidFill>
            <a:prstDash val="solid"/>
          </a:ln>
        </p:spPr>
      </p:sp>
      <p:sp>
        <p:nvSpPr>
          <p:cNvPr id="44" name="Text 42"/>
          <p:cNvSpPr/>
          <p:nvPr/>
        </p:nvSpPr>
        <p:spPr>
          <a:xfrm>
            <a:off x="7863840" y="4389120"/>
            <a:ext cx="2743200" cy="32004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Puce           13%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AFAFA"/>
          </a:solidFill>
          <a:ln/>
        </p:spPr>
      </p:sp>
      <p:sp>
        <p:nvSpPr>
          <p:cNvPr id="3" name="Shape 1"/>
          <p:cNvSpPr/>
          <p:nvPr/>
        </p:nvSpPr>
        <p:spPr>
          <a:xfrm>
            <a:off x="0" y="0"/>
            <a:ext cx="73152" cy="6858000"/>
          </a:xfrm>
          <a:prstGeom prst="rect">
            <a:avLst/>
          </a:prstGeom>
          <a:solidFill>
            <a:srgbClr val="1D9E75"/>
          </a:solidFill>
          <a:ln/>
        </p:spPr>
      </p:sp>
      <p:sp>
        <p:nvSpPr>
          <p:cNvPr id="4" name="Text 2"/>
          <p:cNvSpPr/>
          <p:nvPr/>
        </p:nvSpPr>
        <p:spPr>
          <a:xfrm>
            <a:off x="0" y="6492240"/>
            <a:ext cx="12192000" cy="274320"/>
          </a:xfrm>
          <a:prstGeom prst="rect">
            <a:avLst/>
          </a:prstGeom>
          <a:noFill/>
          <a:ln/>
        </p:spPr>
        <p:txBody>
          <a:bodyPr wrap="square"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SpécimenManager  ·  Institut Pasteur Madagascar  ·  5/10</a:t>
            </a:r>
            <a:endParaRPr lang="en-US" sz="900" dirty="0"/>
          </a:p>
        </p:txBody>
      </p:sp>
      <p:sp>
        <p:nvSpPr>
          <p:cNvPr id="5" name="Text 3"/>
          <p:cNvSpPr/>
          <p:nvPr/>
        </p:nvSpPr>
        <p:spPr>
          <a:xfrm>
            <a:off x="457200" y="320040"/>
            <a:ext cx="10515600" cy="640080"/>
          </a:xfrm>
          <a:prstGeom prst="rect">
            <a:avLst/>
          </a:prstGeom>
          <a:noFill/>
          <a:ln/>
        </p:spPr>
        <p:txBody>
          <a:bodyPr wrap="square"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Saisie terrain — Rigoureuse &amp; géolocalisée</a:t>
            </a:r>
            <a:endParaRPr lang="en-US" sz="2600" dirty="0"/>
          </a:p>
        </p:txBody>
      </p:sp>
      <p:sp>
        <p:nvSpPr>
          <p:cNvPr id="6" name="Shape 4"/>
          <p:cNvSpPr/>
          <p:nvPr/>
        </p:nvSpPr>
        <p:spPr>
          <a:xfrm>
            <a:off x="457200" y="1005840"/>
            <a:ext cx="10515600" cy="0"/>
          </a:xfrm>
          <a:prstGeom prst="line">
            <a:avLst/>
          </a:prstGeom>
          <a:noFill/>
          <a:ln w="12700">
            <a:solidFill>
              <a:srgbClr val="E5E7EB"/>
            </a:solidFill>
            <a:prstDash val="solid"/>
          </a:ln>
        </p:spPr>
      </p:sp>
      <p:sp>
        <p:nvSpPr>
          <p:cNvPr id="7" name="Text 5"/>
          <p:cNvSpPr/>
          <p:nvPr/>
        </p:nvSpPr>
        <p:spPr>
          <a:xfrm>
            <a:off x="502920" y="1188720"/>
            <a:ext cx="5029200" cy="365760"/>
          </a:xfrm>
          <a:prstGeom prst="rect">
            <a:avLst/>
          </a:prstGeom>
          <a:noFill/>
          <a:ln/>
        </p:spPr>
        <p:txBody>
          <a:bodyPr wrap="square"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Formulaire structuré IPM</a:t>
            </a:r>
            <a:endParaRPr lang="en-US" sz="1400" dirty="0"/>
          </a:p>
        </p:txBody>
      </p:sp>
      <p:sp>
        <p:nvSpPr>
          <p:cNvPr id="8" name="Shape 6"/>
          <p:cNvSpPr/>
          <p:nvPr/>
        </p:nvSpPr>
        <p:spPr>
          <a:xfrm>
            <a:off x="502920" y="1645920"/>
            <a:ext cx="5029200" cy="566928"/>
          </a:xfrm>
          <a:prstGeom prst="roundRect">
            <a:avLst>
              <a:gd name="adj" fmla="val 11290"/>
            </a:avLst>
          </a:prstGeom>
          <a:solidFill>
            <a:srgbClr val="E8F7F2"/>
          </a:solidFill>
          <a:ln w="12700">
            <a:solidFill>
              <a:srgbClr val="E5E7EB"/>
            </a:solidFill>
            <a:prstDash val="solid"/>
          </a:ln>
        </p:spPr>
      </p:sp>
      <p:sp>
        <p:nvSpPr>
          <p:cNvPr id="9" name="Text 7"/>
          <p:cNvSpPr/>
          <p:nvPr/>
        </p:nvSpPr>
        <p:spPr>
          <a:xfrm>
            <a:off x="685800" y="1691640"/>
            <a:ext cx="2011680" cy="475488"/>
          </a:xfrm>
          <a:prstGeom prst="rect">
            <a:avLst/>
          </a:prstGeom>
          <a:noFill/>
          <a:ln/>
        </p:spPr>
        <p:txBody>
          <a:bodyPr wrap="square"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Statut sanguin</a:t>
            </a:r>
            <a:endParaRPr lang="en-US" sz="1100" dirty="0"/>
          </a:p>
        </p:txBody>
      </p:sp>
      <p:sp>
        <p:nvSpPr>
          <p:cNvPr id="10" name="Text 8"/>
          <p:cNvSpPr/>
          <p:nvPr/>
        </p:nvSpPr>
        <p:spPr>
          <a:xfrm>
            <a:off x="2697480" y="1691640"/>
            <a:ext cx="2651760" cy="475488"/>
          </a:xfrm>
          <a:prstGeom prst="rect">
            <a:avLst/>
          </a:prstGeom>
          <a:noFill/>
          <a:ln/>
        </p:spPr>
        <p:txBody>
          <a:bodyPr wrap="square" rtlCol="0" anchor="ctr"/>
          <a:lstStyle/>
          <a:p>
            <a:pPr indent="0" marL="0">
              <a:buNone/>
            </a:pPr>
            <a:r>
              <a:rPr lang="en-US" sz="1100" dirty="0">
                <a:solidFill>
                  <a:srgbClr val="1D9E75"/>
                </a:solidFill>
                <a:latin typeface="Calibri" pitchFamily="34" charset="0"/>
                <a:ea typeface="Calibri" pitchFamily="34" charset="-122"/>
                <a:cs typeface="Calibri" pitchFamily="34" charset="-120"/>
              </a:rPr>
              <a:t>G / Gr / SGr / N / NC</a:t>
            </a:r>
            <a:endParaRPr lang="en-US" sz="1100" dirty="0"/>
          </a:p>
        </p:txBody>
      </p:sp>
      <p:sp>
        <p:nvSpPr>
          <p:cNvPr id="11" name="Shape 9"/>
          <p:cNvSpPr/>
          <p:nvPr/>
        </p:nvSpPr>
        <p:spPr>
          <a:xfrm>
            <a:off x="502920" y="2304288"/>
            <a:ext cx="5029200" cy="566928"/>
          </a:xfrm>
          <a:prstGeom prst="roundRect">
            <a:avLst>
              <a:gd name="adj" fmla="val 11290"/>
            </a:avLst>
          </a:prstGeom>
          <a:solidFill>
            <a:srgbClr val="FFFFFF"/>
          </a:solidFill>
          <a:ln w="12700">
            <a:solidFill>
              <a:srgbClr val="E5E7EB"/>
            </a:solidFill>
            <a:prstDash val="solid"/>
          </a:ln>
        </p:spPr>
      </p:sp>
      <p:sp>
        <p:nvSpPr>
          <p:cNvPr id="12" name="Text 10"/>
          <p:cNvSpPr/>
          <p:nvPr/>
        </p:nvSpPr>
        <p:spPr>
          <a:xfrm>
            <a:off x="685800" y="2350008"/>
            <a:ext cx="2011680" cy="475488"/>
          </a:xfrm>
          <a:prstGeom prst="rect">
            <a:avLst/>
          </a:prstGeom>
          <a:noFill/>
          <a:ln/>
        </p:spPr>
        <p:txBody>
          <a:bodyPr wrap="square"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Stade</a:t>
            </a:r>
            <a:endParaRPr lang="en-US" sz="1100" dirty="0"/>
          </a:p>
        </p:txBody>
      </p:sp>
      <p:sp>
        <p:nvSpPr>
          <p:cNvPr id="13" name="Text 11"/>
          <p:cNvSpPr/>
          <p:nvPr/>
        </p:nvSpPr>
        <p:spPr>
          <a:xfrm>
            <a:off x="2697480" y="2350008"/>
            <a:ext cx="2651760" cy="475488"/>
          </a:xfrm>
          <a:prstGeom prst="rect">
            <a:avLst/>
          </a:prstGeom>
          <a:noFill/>
          <a:ln/>
        </p:spPr>
        <p:txBody>
          <a:bodyPr wrap="square" rtlCol="0" anchor="ctr"/>
          <a:lstStyle/>
          <a:p>
            <a:pPr indent="0" marL="0">
              <a:buNone/>
            </a:pPr>
            <a:r>
              <a:rPr lang="en-US" sz="1100" dirty="0">
                <a:solidFill>
                  <a:srgbClr val="1D9E75"/>
                </a:solidFill>
                <a:latin typeface="Calibri" pitchFamily="34" charset="0"/>
                <a:ea typeface="Calibri" pitchFamily="34" charset="-122"/>
                <a:cs typeface="Calibri" pitchFamily="34" charset="-120"/>
              </a:rPr>
              <a:t>E / L / N / A (adulte)</a:t>
            </a:r>
            <a:endParaRPr lang="en-US" sz="1100" dirty="0"/>
          </a:p>
        </p:txBody>
      </p:sp>
      <p:sp>
        <p:nvSpPr>
          <p:cNvPr id="14" name="Shape 12"/>
          <p:cNvSpPr/>
          <p:nvPr/>
        </p:nvSpPr>
        <p:spPr>
          <a:xfrm>
            <a:off x="502920" y="2962656"/>
            <a:ext cx="5029200" cy="566928"/>
          </a:xfrm>
          <a:prstGeom prst="roundRect">
            <a:avLst>
              <a:gd name="adj" fmla="val 11290"/>
            </a:avLst>
          </a:prstGeom>
          <a:solidFill>
            <a:srgbClr val="FFFFFF"/>
          </a:solidFill>
          <a:ln w="12700">
            <a:solidFill>
              <a:srgbClr val="E5E7EB"/>
            </a:solidFill>
            <a:prstDash val="solid"/>
          </a:ln>
        </p:spPr>
      </p:sp>
      <p:sp>
        <p:nvSpPr>
          <p:cNvPr id="15" name="Text 13"/>
          <p:cNvSpPr/>
          <p:nvPr/>
        </p:nvSpPr>
        <p:spPr>
          <a:xfrm>
            <a:off x="685800" y="3008376"/>
            <a:ext cx="2011680" cy="475488"/>
          </a:xfrm>
          <a:prstGeom prst="rect">
            <a:avLst/>
          </a:prstGeom>
          <a:noFill/>
          <a:ln/>
        </p:spPr>
        <p:txBody>
          <a:bodyPr wrap="square"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Parité</a:t>
            </a:r>
            <a:endParaRPr lang="en-US" sz="1100" dirty="0"/>
          </a:p>
        </p:txBody>
      </p:sp>
      <p:sp>
        <p:nvSpPr>
          <p:cNvPr id="16" name="Text 14"/>
          <p:cNvSpPr/>
          <p:nvPr/>
        </p:nvSpPr>
        <p:spPr>
          <a:xfrm>
            <a:off x="2697480" y="3008376"/>
            <a:ext cx="2651760" cy="475488"/>
          </a:xfrm>
          <a:prstGeom prst="rect">
            <a:avLst/>
          </a:prstGeom>
          <a:noFill/>
          <a:ln/>
        </p:spPr>
        <p:txBody>
          <a:bodyPr wrap="square" rtlCol="0" anchor="ctr"/>
          <a:lstStyle/>
          <a:p>
            <a:pPr indent="0" marL="0">
              <a:buNone/>
            </a:pPr>
            <a:r>
              <a:rPr lang="en-US" sz="1100" dirty="0">
                <a:solidFill>
                  <a:srgbClr val="1D9E75"/>
                </a:solidFill>
                <a:latin typeface="Calibri" pitchFamily="34" charset="0"/>
                <a:ea typeface="Calibri" pitchFamily="34" charset="-122"/>
                <a:cs typeface="Calibri" pitchFamily="34" charset="-120"/>
              </a:rPr>
              <a:t>Nulle → NP · Paucie/Multi → P</a:t>
            </a:r>
            <a:endParaRPr lang="en-US" sz="1100" dirty="0"/>
          </a:p>
        </p:txBody>
      </p:sp>
      <p:sp>
        <p:nvSpPr>
          <p:cNvPr id="17" name="Shape 15"/>
          <p:cNvSpPr/>
          <p:nvPr/>
        </p:nvSpPr>
        <p:spPr>
          <a:xfrm>
            <a:off x="502920" y="3621024"/>
            <a:ext cx="5029200" cy="566928"/>
          </a:xfrm>
          <a:prstGeom prst="roundRect">
            <a:avLst>
              <a:gd name="adj" fmla="val 11290"/>
            </a:avLst>
          </a:prstGeom>
          <a:solidFill>
            <a:srgbClr val="FFFFFF"/>
          </a:solidFill>
          <a:ln w="12700">
            <a:solidFill>
              <a:srgbClr val="E5E7EB"/>
            </a:solidFill>
            <a:prstDash val="solid"/>
          </a:ln>
        </p:spPr>
      </p:sp>
      <p:sp>
        <p:nvSpPr>
          <p:cNvPr id="18" name="Text 16"/>
          <p:cNvSpPr/>
          <p:nvPr/>
        </p:nvSpPr>
        <p:spPr>
          <a:xfrm>
            <a:off x="685800" y="3666744"/>
            <a:ext cx="2011680" cy="475488"/>
          </a:xfrm>
          <a:prstGeom prst="rect">
            <a:avLst/>
          </a:prstGeom>
          <a:noFill/>
          <a:ln/>
        </p:spPr>
        <p:txBody>
          <a:bodyPr wrap="square"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Trap_ID</a:t>
            </a:r>
            <a:endParaRPr lang="en-US" sz="1100" dirty="0"/>
          </a:p>
        </p:txBody>
      </p:sp>
      <p:sp>
        <p:nvSpPr>
          <p:cNvPr id="19" name="Text 17"/>
          <p:cNvSpPr/>
          <p:nvPr/>
        </p:nvSpPr>
        <p:spPr>
          <a:xfrm>
            <a:off x="2697480" y="3666744"/>
            <a:ext cx="2651760" cy="475488"/>
          </a:xfrm>
          <a:prstGeom prst="rect">
            <a:avLst/>
          </a:prstGeom>
          <a:noFill/>
          <a:ln/>
        </p:spPr>
        <p:txBody>
          <a:bodyPr wrap="square" rtlCol="0" anchor="ctr"/>
          <a:lstStyle/>
          <a:p>
            <a:pPr indent="0" marL="0">
              <a:buNone/>
            </a:pPr>
            <a:r>
              <a:rPr lang="en-US" sz="1100" dirty="0">
                <a:solidFill>
                  <a:srgbClr val="1D9E75"/>
                </a:solidFill>
                <a:latin typeface="Calibri" pitchFamily="34" charset="0"/>
                <a:ea typeface="Calibri" pitchFamily="34" charset="-122"/>
                <a:cs typeface="Calibri" pitchFamily="34" charset="-120"/>
              </a:rPr>
              <a:t>HLC, ZP-DP, DN, MHT, OVITRAP…</a:t>
            </a:r>
            <a:endParaRPr lang="en-US" sz="1100" dirty="0"/>
          </a:p>
        </p:txBody>
      </p:sp>
      <p:sp>
        <p:nvSpPr>
          <p:cNvPr id="20" name="Shape 18"/>
          <p:cNvSpPr/>
          <p:nvPr/>
        </p:nvSpPr>
        <p:spPr>
          <a:xfrm>
            <a:off x="502920" y="4279392"/>
            <a:ext cx="5029200" cy="566928"/>
          </a:xfrm>
          <a:prstGeom prst="roundRect">
            <a:avLst>
              <a:gd name="adj" fmla="val 11290"/>
            </a:avLst>
          </a:prstGeom>
          <a:solidFill>
            <a:srgbClr val="E8F7F2"/>
          </a:solidFill>
          <a:ln w="12700">
            <a:solidFill>
              <a:srgbClr val="E5E7EB"/>
            </a:solidFill>
            <a:prstDash val="solid"/>
          </a:ln>
        </p:spPr>
      </p:sp>
      <p:sp>
        <p:nvSpPr>
          <p:cNvPr id="21" name="Text 19"/>
          <p:cNvSpPr/>
          <p:nvPr/>
        </p:nvSpPr>
        <p:spPr>
          <a:xfrm>
            <a:off x="685800" y="4325112"/>
            <a:ext cx="2011680" cy="475488"/>
          </a:xfrm>
          <a:prstGeom prst="rect">
            <a:avLst/>
          </a:prstGeom>
          <a:noFill/>
          <a:ln/>
        </p:spPr>
        <p:txBody>
          <a:bodyPr wrap="square"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GPS</a:t>
            </a:r>
            <a:endParaRPr lang="en-US" sz="1100" dirty="0"/>
          </a:p>
        </p:txBody>
      </p:sp>
      <p:sp>
        <p:nvSpPr>
          <p:cNvPr id="22" name="Text 20"/>
          <p:cNvSpPr/>
          <p:nvPr/>
        </p:nvSpPr>
        <p:spPr>
          <a:xfrm>
            <a:off x="2697480" y="4325112"/>
            <a:ext cx="2651760" cy="475488"/>
          </a:xfrm>
          <a:prstGeom prst="rect">
            <a:avLst/>
          </a:prstGeom>
          <a:noFill/>
          <a:ln/>
        </p:spPr>
        <p:txBody>
          <a:bodyPr wrap="square" rtlCol="0" anchor="ctr"/>
          <a:lstStyle/>
          <a:p>
            <a:pPr indent="0" marL="0">
              <a:buNone/>
            </a:pPr>
            <a:r>
              <a:rPr lang="en-US" sz="1100" dirty="0">
                <a:solidFill>
                  <a:srgbClr val="1D9E75"/>
                </a:solidFill>
                <a:latin typeface="Calibri" pitchFamily="34" charset="0"/>
                <a:ea typeface="Calibri" pitchFamily="34" charset="-122"/>
                <a:cs typeface="Calibri" pitchFamily="34" charset="-120"/>
              </a:rPr>
              <a:t>📍 Clic sur carte = coordonnées</a:t>
            </a:r>
            <a:endParaRPr lang="en-US" sz="1100" dirty="0"/>
          </a:p>
        </p:txBody>
      </p:sp>
      <p:sp>
        <p:nvSpPr>
          <p:cNvPr id="23" name="Shape 21"/>
          <p:cNvSpPr/>
          <p:nvPr/>
        </p:nvSpPr>
        <p:spPr>
          <a:xfrm>
            <a:off x="502920" y="4937760"/>
            <a:ext cx="5029200" cy="566928"/>
          </a:xfrm>
          <a:prstGeom prst="roundRect">
            <a:avLst>
              <a:gd name="adj" fmla="val 11290"/>
            </a:avLst>
          </a:prstGeom>
          <a:solidFill>
            <a:srgbClr val="E8F7F2"/>
          </a:solidFill>
          <a:ln w="12700">
            <a:solidFill>
              <a:srgbClr val="E5E7EB"/>
            </a:solidFill>
            <a:prstDash val="solid"/>
          </a:ln>
        </p:spPr>
      </p:sp>
      <p:sp>
        <p:nvSpPr>
          <p:cNvPr id="24" name="Text 22"/>
          <p:cNvSpPr/>
          <p:nvPr/>
        </p:nvSpPr>
        <p:spPr>
          <a:xfrm>
            <a:off x="685800" y="4983480"/>
            <a:ext cx="2011680" cy="475488"/>
          </a:xfrm>
          <a:prstGeom prst="rect">
            <a:avLst/>
          </a:prstGeom>
          <a:noFill/>
          <a:ln/>
        </p:spPr>
        <p:txBody>
          <a:bodyPr wrap="square"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Position plaque</a:t>
            </a:r>
            <a:endParaRPr lang="en-US" sz="1100" dirty="0"/>
          </a:p>
        </p:txBody>
      </p:sp>
      <p:sp>
        <p:nvSpPr>
          <p:cNvPr id="25" name="Text 23"/>
          <p:cNvSpPr/>
          <p:nvPr/>
        </p:nvSpPr>
        <p:spPr>
          <a:xfrm>
            <a:off x="2697480" y="4983480"/>
            <a:ext cx="2651760" cy="475488"/>
          </a:xfrm>
          <a:prstGeom prst="rect">
            <a:avLst/>
          </a:prstGeom>
          <a:noFill/>
          <a:ln/>
        </p:spPr>
        <p:txBody>
          <a:bodyPr wrap="square" rtlCol="0" anchor="ctr"/>
          <a:lstStyle/>
          <a:p>
            <a:pPr indent="0" marL="0">
              <a:buNone/>
            </a:pPr>
            <a:r>
              <a:rPr lang="en-US" sz="1100" dirty="0">
                <a:solidFill>
                  <a:srgbClr val="1D9E75"/>
                </a:solidFill>
                <a:latin typeface="Calibri" pitchFamily="34" charset="0"/>
                <a:ea typeface="Calibri" pitchFamily="34" charset="-122"/>
                <a:cs typeface="Calibri" pitchFamily="34" charset="-120"/>
              </a:rPr>
              <a:t>Sélecteur visuel (H12 bloqué)</a:t>
            </a:r>
            <a:endParaRPr lang="en-US" sz="1100" dirty="0"/>
          </a:p>
        </p:txBody>
      </p:sp>
      <p:sp>
        <p:nvSpPr>
          <p:cNvPr id="26" name="Text 24"/>
          <p:cNvSpPr/>
          <p:nvPr/>
        </p:nvSpPr>
        <p:spPr>
          <a:xfrm>
            <a:off x="5943600" y="1188720"/>
            <a:ext cx="4572000" cy="365760"/>
          </a:xfrm>
          <a:prstGeom prst="rect">
            <a:avLst/>
          </a:prstGeom>
          <a:noFill/>
          <a:ln/>
        </p:spPr>
        <p:txBody>
          <a:bodyPr wrap="square"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Carte interactive des collectes</a:t>
            </a:r>
            <a:endParaRPr lang="en-US" sz="1400" dirty="0"/>
          </a:p>
        </p:txBody>
      </p:sp>
      <p:sp>
        <p:nvSpPr>
          <p:cNvPr id="27" name="Shape 25"/>
          <p:cNvSpPr/>
          <p:nvPr/>
        </p:nvSpPr>
        <p:spPr>
          <a:xfrm>
            <a:off x="5943600" y="1645920"/>
            <a:ext cx="4572000" cy="3474720"/>
          </a:xfrm>
          <a:prstGeom prst="roundRect">
            <a:avLst>
              <a:gd name="adj" fmla="val 3158"/>
            </a:avLst>
          </a:prstGeom>
          <a:solidFill>
            <a:srgbClr val="D1FAE5"/>
          </a:solidFill>
          <a:ln w="19050">
            <a:solidFill>
              <a:srgbClr val="1D9E75"/>
            </a:solidFill>
            <a:prstDash val="solid"/>
          </a:ln>
        </p:spPr>
      </p:sp>
      <p:sp>
        <p:nvSpPr>
          <p:cNvPr id="28" name="Text 26"/>
          <p:cNvSpPr/>
          <p:nvPr/>
        </p:nvSpPr>
        <p:spPr>
          <a:xfrm>
            <a:off x="5943600" y="2011680"/>
            <a:ext cx="4572000" cy="2743200"/>
          </a:xfrm>
          <a:prstGeom prst="rect">
            <a:avLst/>
          </a:prstGeom>
          <a:noFill/>
          <a:ln/>
        </p:spPr>
        <p:txBody>
          <a:bodyPr wrap="square" rtlCol="0" anchor="ctr"/>
          <a:lstStyle/>
          <a:p>
            <a:pPr algn="ctr" indent="0" marL="0">
              <a:lnSpc>
                <a:spcPct val="150000"/>
              </a:lnSpc>
              <a:buNone/>
            </a:pPr>
            <a:r>
              <a:rPr lang="en-US" sz="1400" dirty="0">
                <a:solidFill>
                  <a:srgbClr val="157A5A"/>
                </a:solidFill>
                <a:latin typeface="Calibri" pitchFamily="34" charset="0"/>
                <a:ea typeface="Calibri" pitchFamily="34" charset="-122"/>
                <a:cs typeface="Calibri" pitchFamily="34" charset="-120"/>
              </a:rPr>
              <a:t>🗺️</a:t>
            </a:r>
            <a:endParaRPr lang="en-US" sz="1400" dirty="0"/>
          </a:p>
          <a:p>
            <a:pPr algn="ctr" indent="0" marL="0">
              <a:lnSpc>
                <a:spcPct val="150000"/>
              </a:lnSpc>
              <a:buNone/>
            </a:pPr>
            <a:r>
              <a:rPr lang="en-US" sz="1400" dirty="0">
                <a:solidFill>
                  <a:srgbClr val="157A5A"/>
                </a:solidFill>
                <a:latin typeface="Calibri" pitchFamily="34" charset="0"/>
                <a:ea typeface="Calibri" pitchFamily="34" charset="-122"/>
                <a:cs typeface="Calibri" pitchFamily="34" charset="-120"/>
              </a:rPr>
              <a:t>Carte Leaflet</a:t>
            </a:r>
            <a:endParaRPr lang="en-US" sz="1400" dirty="0"/>
          </a:p>
          <a:p>
            <a:pPr algn="ctr" indent="0" marL="0">
              <a:lnSpc>
                <a:spcPct val="150000"/>
              </a:lnSpc>
              <a:buNone/>
            </a:pPr>
            <a:r>
              <a:rPr lang="en-US" sz="1400" dirty="0">
                <a:solidFill>
                  <a:srgbClr val="157A5A"/>
                </a:solidFill>
                <a:latin typeface="Calibri" pitchFamily="34" charset="0"/>
                <a:ea typeface="Calibri" pitchFamily="34" charset="-122"/>
                <a:cs typeface="Calibri" pitchFamily="34" charset="-120"/>
              </a:rPr>
              <a:t>Marqueurs géolocalisés</a:t>
            </a:r>
            <a:endParaRPr lang="en-US" sz="1400" dirty="0"/>
          </a:p>
          <a:p>
            <a:pPr algn="ctr" indent="0" marL="0">
              <a:lnSpc>
                <a:spcPct val="150000"/>
              </a:lnSpc>
              <a:buNone/>
            </a:pPr>
            <a:r>
              <a:rPr lang="en-US" sz="1400" dirty="0">
                <a:solidFill>
                  <a:srgbClr val="157A5A"/>
                </a:solidFill>
                <a:latin typeface="Calibri" pitchFamily="34" charset="0"/>
                <a:ea typeface="Calibri" pitchFamily="34" charset="-122"/>
                <a:cs typeface="Calibri" pitchFamily="34" charset="-120"/>
              </a:rPr>
              <a:t>par type de spécimen</a:t>
            </a:r>
            <a:endParaRPr lang="en-US" sz="1400" dirty="0"/>
          </a:p>
        </p:txBody>
      </p:sp>
      <p:sp>
        <p:nvSpPr>
          <p:cNvPr id="29" name="Shape 27"/>
          <p:cNvSpPr/>
          <p:nvPr/>
        </p:nvSpPr>
        <p:spPr>
          <a:xfrm>
            <a:off x="6035040" y="5257800"/>
            <a:ext cx="201168" cy="201168"/>
          </a:xfrm>
          <a:prstGeom prst="ellipse">
            <a:avLst/>
          </a:prstGeom>
          <a:solidFill>
            <a:srgbClr val="1D9E75"/>
          </a:solidFill>
          <a:ln w="12700">
            <a:solidFill>
              <a:srgbClr val="1D9E75"/>
            </a:solidFill>
            <a:prstDash val="solid"/>
          </a:ln>
        </p:spPr>
      </p:sp>
      <p:sp>
        <p:nvSpPr>
          <p:cNvPr id="30" name="Text 28"/>
          <p:cNvSpPr/>
          <p:nvPr/>
        </p:nvSpPr>
        <p:spPr>
          <a:xfrm>
            <a:off x="6309360" y="5230368"/>
            <a:ext cx="1188720" cy="256032"/>
          </a:xfrm>
          <a:prstGeom prst="rect">
            <a:avLst/>
          </a:prstGeom>
          <a:noFill/>
          <a:ln/>
        </p:spPr>
        <p:txBody>
          <a:bodyPr wrap="square" rtlCol="0" anchor="ctr"/>
          <a:lstStyle/>
          <a:p>
            <a:pPr indent="0" marL="0">
              <a:buNone/>
            </a:pPr>
            <a:r>
              <a:rPr lang="en-US" sz="1000" dirty="0">
                <a:solidFill>
                  <a:srgbClr val="4B5563"/>
                </a:solidFill>
                <a:latin typeface="Calibri" pitchFamily="34" charset="0"/>
                <a:ea typeface="Calibri" pitchFamily="34" charset="-122"/>
                <a:cs typeface="Calibri" pitchFamily="34" charset="-120"/>
              </a:rPr>
              <a:t>Moustique</a:t>
            </a:r>
            <a:endParaRPr lang="en-US" sz="1000" dirty="0"/>
          </a:p>
        </p:txBody>
      </p:sp>
      <p:sp>
        <p:nvSpPr>
          <p:cNvPr id="31" name="Shape 29"/>
          <p:cNvSpPr/>
          <p:nvPr/>
        </p:nvSpPr>
        <p:spPr>
          <a:xfrm>
            <a:off x="7498080" y="5257800"/>
            <a:ext cx="201168" cy="201168"/>
          </a:xfrm>
          <a:prstGeom prst="ellipse">
            <a:avLst/>
          </a:prstGeom>
          <a:solidFill>
            <a:srgbClr val="F59E0B"/>
          </a:solidFill>
          <a:ln w="12700">
            <a:solidFill>
              <a:srgbClr val="F59E0B"/>
            </a:solidFill>
            <a:prstDash val="solid"/>
          </a:ln>
        </p:spPr>
      </p:sp>
      <p:sp>
        <p:nvSpPr>
          <p:cNvPr id="32" name="Text 30"/>
          <p:cNvSpPr/>
          <p:nvPr/>
        </p:nvSpPr>
        <p:spPr>
          <a:xfrm>
            <a:off x="7772400" y="5230368"/>
            <a:ext cx="1188720" cy="256032"/>
          </a:xfrm>
          <a:prstGeom prst="rect">
            <a:avLst/>
          </a:prstGeom>
          <a:noFill/>
          <a:ln/>
        </p:spPr>
        <p:txBody>
          <a:bodyPr wrap="square" rtlCol="0" anchor="ctr"/>
          <a:lstStyle/>
          <a:p>
            <a:pPr indent="0" marL="0">
              <a:buNone/>
            </a:pPr>
            <a:r>
              <a:rPr lang="en-US" sz="1000" dirty="0">
                <a:solidFill>
                  <a:srgbClr val="4B5563"/>
                </a:solidFill>
                <a:latin typeface="Calibri" pitchFamily="34" charset="0"/>
                <a:ea typeface="Calibri" pitchFamily="34" charset="-122"/>
                <a:cs typeface="Calibri" pitchFamily="34" charset="-120"/>
              </a:rPr>
              <a:t>Tique</a:t>
            </a:r>
            <a:endParaRPr lang="en-US" sz="1000" dirty="0"/>
          </a:p>
        </p:txBody>
      </p:sp>
      <p:sp>
        <p:nvSpPr>
          <p:cNvPr id="33" name="Shape 31"/>
          <p:cNvSpPr/>
          <p:nvPr/>
        </p:nvSpPr>
        <p:spPr>
          <a:xfrm>
            <a:off x="8961120" y="5257800"/>
            <a:ext cx="201168" cy="201168"/>
          </a:xfrm>
          <a:prstGeom prst="ellipse">
            <a:avLst/>
          </a:prstGeom>
          <a:solidFill>
            <a:srgbClr val="EF4444"/>
          </a:solidFill>
          <a:ln w="12700">
            <a:solidFill>
              <a:srgbClr val="EF4444"/>
            </a:solidFill>
            <a:prstDash val="solid"/>
          </a:ln>
        </p:spPr>
      </p:sp>
      <p:sp>
        <p:nvSpPr>
          <p:cNvPr id="34" name="Text 32"/>
          <p:cNvSpPr/>
          <p:nvPr/>
        </p:nvSpPr>
        <p:spPr>
          <a:xfrm>
            <a:off x="9235440" y="5230368"/>
            <a:ext cx="1188720" cy="256032"/>
          </a:xfrm>
          <a:prstGeom prst="rect">
            <a:avLst/>
          </a:prstGeom>
          <a:noFill/>
          <a:ln/>
        </p:spPr>
        <p:txBody>
          <a:bodyPr wrap="square" rtlCol="0" anchor="ctr"/>
          <a:lstStyle/>
          <a:p>
            <a:pPr indent="0" marL="0">
              <a:buNone/>
            </a:pPr>
            <a:r>
              <a:rPr lang="en-US" sz="1000" dirty="0">
                <a:solidFill>
                  <a:srgbClr val="4B5563"/>
                </a:solidFill>
                <a:latin typeface="Calibri" pitchFamily="34" charset="0"/>
                <a:ea typeface="Calibri" pitchFamily="34" charset="-122"/>
                <a:cs typeface="Calibri" pitchFamily="34" charset="-120"/>
              </a:rPr>
              <a:t>Puce</a:t>
            </a:r>
            <a:endParaRPr lang="en-US" sz="1000" dirty="0"/>
          </a:p>
        </p:txBody>
      </p:sp>
      <p:sp>
        <p:nvSpPr>
          <p:cNvPr id="35" name="Shape 33"/>
          <p:cNvSpPr/>
          <p:nvPr/>
        </p:nvSpPr>
        <p:spPr>
          <a:xfrm>
            <a:off x="502920" y="5806440"/>
            <a:ext cx="5029200" cy="411480"/>
          </a:xfrm>
          <a:prstGeom prst="roundRect">
            <a:avLst>
              <a:gd name="adj" fmla="val 15556"/>
            </a:avLst>
          </a:prstGeom>
          <a:solidFill>
            <a:srgbClr val="FEF3C7"/>
          </a:solidFill>
          <a:ln w="12700">
            <a:solidFill>
              <a:srgbClr val="F59E0B"/>
            </a:solidFill>
            <a:prstDash val="solid"/>
          </a:ln>
        </p:spPr>
      </p:sp>
      <p:sp>
        <p:nvSpPr>
          <p:cNvPr id="36" name="Text 34"/>
          <p:cNvSpPr/>
          <p:nvPr/>
        </p:nvSpPr>
        <p:spPr>
          <a:xfrm>
            <a:off x="594360" y="5833872"/>
            <a:ext cx="4846320" cy="356616"/>
          </a:xfrm>
          <a:prstGeom prst="rect">
            <a:avLst/>
          </a:prstGeom>
          <a:noFill/>
          <a:ln/>
        </p:spPr>
        <p:txBody>
          <a:bodyPr wrap="square" rtlCol="0" anchor="ctr"/>
          <a:lstStyle/>
          <a:p>
            <a:pPr indent="0" marL="0">
              <a:buNone/>
            </a:pPr>
            <a:r>
              <a:rPr lang="en-US" sz="1000" dirty="0">
                <a:solidFill>
                  <a:srgbClr val="92400E"/>
                </a:solidFill>
                <a:latin typeface="Calibri" pitchFamily="34" charset="0"/>
                <a:ea typeface="Calibri" pitchFamily="34" charset="-122"/>
                <a:cs typeface="Calibri" pitchFamily="34" charset="-120"/>
              </a:rPr>
              <a:t>⚠️  H12 = Témoin négatif — position automatiquement bloquée par l'application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AFAFA"/>
          </a:solidFill>
          <a:ln/>
        </p:spPr>
      </p:sp>
      <p:sp>
        <p:nvSpPr>
          <p:cNvPr id="3" name="Shape 1"/>
          <p:cNvSpPr/>
          <p:nvPr/>
        </p:nvSpPr>
        <p:spPr>
          <a:xfrm>
            <a:off x="0" y="0"/>
            <a:ext cx="73152" cy="6858000"/>
          </a:xfrm>
          <a:prstGeom prst="rect">
            <a:avLst/>
          </a:prstGeom>
          <a:solidFill>
            <a:srgbClr val="1D9E75"/>
          </a:solidFill>
          <a:ln/>
        </p:spPr>
      </p:sp>
      <p:sp>
        <p:nvSpPr>
          <p:cNvPr id="4" name="Text 2"/>
          <p:cNvSpPr/>
          <p:nvPr/>
        </p:nvSpPr>
        <p:spPr>
          <a:xfrm>
            <a:off x="0" y="6492240"/>
            <a:ext cx="12192000" cy="274320"/>
          </a:xfrm>
          <a:prstGeom prst="rect">
            <a:avLst/>
          </a:prstGeom>
          <a:noFill/>
          <a:ln/>
        </p:spPr>
        <p:txBody>
          <a:bodyPr wrap="square"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SpécimenManager  ·  Institut Pasteur Madagascar  ·  6/10</a:t>
            </a:r>
            <a:endParaRPr lang="en-US" sz="900" dirty="0"/>
          </a:p>
        </p:txBody>
      </p:sp>
      <p:sp>
        <p:nvSpPr>
          <p:cNvPr id="5" name="Text 3"/>
          <p:cNvSpPr/>
          <p:nvPr/>
        </p:nvSpPr>
        <p:spPr>
          <a:xfrm>
            <a:off x="457200" y="320040"/>
            <a:ext cx="10515600" cy="640080"/>
          </a:xfrm>
          <a:prstGeom prst="rect">
            <a:avLst/>
          </a:prstGeom>
          <a:noFill/>
          <a:ln/>
        </p:spPr>
        <p:txBody>
          <a:bodyPr wrap="square"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Recherche &amp; Export — Les données à portée de main</a:t>
            </a:r>
            <a:endParaRPr lang="en-US" sz="2600" dirty="0"/>
          </a:p>
        </p:txBody>
      </p:sp>
      <p:sp>
        <p:nvSpPr>
          <p:cNvPr id="6" name="Shape 4"/>
          <p:cNvSpPr/>
          <p:nvPr/>
        </p:nvSpPr>
        <p:spPr>
          <a:xfrm>
            <a:off x="457200" y="1005840"/>
            <a:ext cx="10515600" cy="0"/>
          </a:xfrm>
          <a:prstGeom prst="line">
            <a:avLst/>
          </a:prstGeom>
          <a:noFill/>
          <a:ln w="12700">
            <a:solidFill>
              <a:srgbClr val="E5E7EB"/>
            </a:solidFill>
            <a:prstDash val="solid"/>
          </a:ln>
        </p:spPr>
      </p:sp>
      <p:sp>
        <p:nvSpPr>
          <p:cNvPr id="7" name="Text 5"/>
          <p:cNvSpPr/>
          <p:nvPr/>
        </p:nvSpPr>
        <p:spPr>
          <a:xfrm>
            <a:off x="502920" y="1188720"/>
            <a:ext cx="4114800" cy="365760"/>
          </a:xfrm>
          <a:prstGeom prst="rect">
            <a:avLst/>
          </a:prstGeom>
          <a:noFill/>
          <a:ln/>
        </p:spPr>
        <p:txBody>
          <a:bodyPr wrap="square"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Filtres multi-critères</a:t>
            </a:r>
            <a:endParaRPr lang="en-US" sz="1400" dirty="0"/>
          </a:p>
        </p:txBody>
      </p:sp>
      <p:sp>
        <p:nvSpPr>
          <p:cNvPr id="8" name="Shape 6"/>
          <p:cNvSpPr/>
          <p:nvPr/>
        </p:nvSpPr>
        <p:spPr>
          <a:xfrm>
            <a:off x="502920" y="1645920"/>
            <a:ext cx="4114800" cy="502920"/>
          </a:xfrm>
          <a:prstGeom prst="roundRect">
            <a:avLst>
              <a:gd name="adj" fmla="val 12727"/>
            </a:avLst>
          </a:prstGeom>
          <a:solidFill>
            <a:srgbClr val="FFFFFF"/>
          </a:solidFill>
          <a:ln w="12700">
            <a:solidFill>
              <a:srgbClr val="E5E7EB"/>
            </a:solidFill>
            <a:prstDash val="solid"/>
          </a:ln>
        </p:spPr>
      </p:sp>
      <p:sp>
        <p:nvSpPr>
          <p:cNvPr id="9" name="Text 7"/>
          <p:cNvSpPr/>
          <p:nvPr/>
        </p:nvSpPr>
        <p:spPr>
          <a:xfrm>
            <a:off x="640080" y="1673352"/>
            <a:ext cx="3840480" cy="448056"/>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  Type de spécimen</a:t>
            </a:r>
            <a:endParaRPr lang="en-US" sz="1150" dirty="0"/>
          </a:p>
        </p:txBody>
      </p:sp>
      <p:sp>
        <p:nvSpPr>
          <p:cNvPr id="10" name="Shape 8"/>
          <p:cNvSpPr/>
          <p:nvPr/>
        </p:nvSpPr>
        <p:spPr>
          <a:xfrm>
            <a:off x="502920" y="2286000"/>
            <a:ext cx="4114800" cy="502920"/>
          </a:xfrm>
          <a:prstGeom prst="roundRect">
            <a:avLst>
              <a:gd name="adj" fmla="val 12727"/>
            </a:avLst>
          </a:prstGeom>
          <a:solidFill>
            <a:srgbClr val="FFFFFF"/>
          </a:solidFill>
          <a:ln w="12700">
            <a:solidFill>
              <a:srgbClr val="E5E7EB"/>
            </a:solidFill>
            <a:prstDash val="solid"/>
          </a:ln>
        </p:spPr>
      </p:sp>
      <p:sp>
        <p:nvSpPr>
          <p:cNvPr id="11" name="Text 9"/>
          <p:cNvSpPr/>
          <p:nvPr/>
        </p:nvSpPr>
        <p:spPr>
          <a:xfrm>
            <a:off x="640080" y="2313432"/>
            <a:ext cx="3840480" cy="448056"/>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  Statut sanguin (N/G/Gr/SGr/NC)</a:t>
            </a:r>
            <a:endParaRPr lang="en-US" sz="1150" dirty="0"/>
          </a:p>
        </p:txBody>
      </p:sp>
      <p:sp>
        <p:nvSpPr>
          <p:cNvPr id="12" name="Shape 10"/>
          <p:cNvSpPr/>
          <p:nvPr/>
        </p:nvSpPr>
        <p:spPr>
          <a:xfrm>
            <a:off x="502920" y="2926080"/>
            <a:ext cx="4114800" cy="502920"/>
          </a:xfrm>
          <a:prstGeom prst="roundRect">
            <a:avLst>
              <a:gd name="adj" fmla="val 12727"/>
            </a:avLst>
          </a:prstGeom>
          <a:solidFill>
            <a:srgbClr val="FFFFFF"/>
          </a:solidFill>
          <a:ln w="12700">
            <a:solidFill>
              <a:srgbClr val="E5E7EB"/>
            </a:solidFill>
            <a:prstDash val="solid"/>
          </a:ln>
        </p:spPr>
      </p:sp>
      <p:sp>
        <p:nvSpPr>
          <p:cNvPr id="13" name="Text 11"/>
          <p:cNvSpPr/>
          <p:nvPr/>
        </p:nvSpPr>
        <p:spPr>
          <a:xfrm>
            <a:off x="640080" y="2953512"/>
            <a:ext cx="3840480" cy="448056"/>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  Espèce (genre)</a:t>
            </a:r>
            <a:endParaRPr lang="en-US" sz="1150" dirty="0"/>
          </a:p>
        </p:txBody>
      </p:sp>
      <p:sp>
        <p:nvSpPr>
          <p:cNvPr id="14" name="Shape 12"/>
          <p:cNvSpPr/>
          <p:nvPr/>
        </p:nvSpPr>
        <p:spPr>
          <a:xfrm>
            <a:off x="502920" y="3566160"/>
            <a:ext cx="4114800" cy="502920"/>
          </a:xfrm>
          <a:prstGeom prst="roundRect">
            <a:avLst>
              <a:gd name="adj" fmla="val 12727"/>
            </a:avLst>
          </a:prstGeom>
          <a:solidFill>
            <a:srgbClr val="FFFFFF"/>
          </a:solidFill>
          <a:ln w="12700">
            <a:solidFill>
              <a:srgbClr val="E5E7EB"/>
            </a:solidFill>
            <a:prstDash val="solid"/>
          </a:ln>
        </p:spPr>
      </p:sp>
      <p:sp>
        <p:nvSpPr>
          <p:cNvPr id="15" name="Text 13"/>
          <p:cNvSpPr/>
          <p:nvPr/>
        </p:nvSpPr>
        <p:spPr>
          <a:xfrm>
            <a:off x="640080" y="3593592"/>
            <a:ext cx="3840480" cy="448056"/>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  Localité / Mission / Projet</a:t>
            </a:r>
            <a:endParaRPr lang="en-US" sz="1150" dirty="0"/>
          </a:p>
        </p:txBody>
      </p:sp>
      <p:sp>
        <p:nvSpPr>
          <p:cNvPr id="16" name="Shape 14"/>
          <p:cNvSpPr/>
          <p:nvPr/>
        </p:nvSpPr>
        <p:spPr>
          <a:xfrm>
            <a:off x="502920" y="4206240"/>
            <a:ext cx="4114800" cy="502920"/>
          </a:xfrm>
          <a:prstGeom prst="roundRect">
            <a:avLst>
              <a:gd name="adj" fmla="val 12727"/>
            </a:avLst>
          </a:prstGeom>
          <a:solidFill>
            <a:srgbClr val="FFFFFF"/>
          </a:solidFill>
          <a:ln w="12700">
            <a:solidFill>
              <a:srgbClr val="E5E7EB"/>
            </a:solidFill>
            <a:prstDash val="solid"/>
          </a:ln>
        </p:spPr>
      </p:sp>
      <p:sp>
        <p:nvSpPr>
          <p:cNvPr id="17" name="Text 15"/>
          <p:cNvSpPr/>
          <p:nvPr/>
        </p:nvSpPr>
        <p:spPr>
          <a:xfrm>
            <a:off x="640080" y="4233672"/>
            <a:ext cx="3840480" cy="448056"/>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  Période de collecte</a:t>
            </a:r>
            <a:endParaRPr lang="en-US" sz="1150" dirty="0"/>
          </a:p>
        </p:txBody>
      </p:sp>
      <p:sp>
        <p:nvSpPr>
          <p:cNvPr id="18" name="Shape 16"/>
          <p:cNvSpPr/>
          <p:nvPr/>
        </p:nvSpPr>
        <p:spPr>
          <a:xfrm>
            <a:off x="502920" y="4846320"/>
            <a:ext cx="4114800" cy="502920"/>
          </a:xfrm>
          <a:prstGeom prst="roundRect">
            <a:avLst>
              <a:gd name="adj" fmla="val 12727"/>
            </a:avLst>
          </a:prstGeom>
          <a:solidFill>
            <a:srgbClr val="FFFFFF"/>
          </a:solidFill>
          <a:ln w="12700">
            <a:solidFill>
              <a:srgbClr val="E5E7EB"/>
            </a:solidFill>
            <a:prstDash val="solid"/>
          </a:ln>
        </p:spPr>
      </p:sp>
      <p:sp>
        <p:nvSpPr>
          <p:cNvPr id="19" name="Text 17"/>
          <p:cNvSpPr/>
          <p:nvPr/>
        </p:nvSpPr>
        <p:spPr>
          <a:xfrm>
            <a:off x="640080" y="4873752"/>
            <a:ext cx="3840480" cy="448056"/>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  Méthode de collecte</a:t>
            </a:r>
            <a:endParaRPr lang="en-US" sz="1150" dirty="0"/>
          </a:p>
        </p:txBody>
      </p:sp>
      <p:sp>
        <p:nvSpPr>
          <p:cNvPr id="20" name="Text 18"/>
          <p:cNvSpPr/>
          <p:nvPr/>
        </p:nvSpPr>
        <p:spPr>
          <a:xfrm>
            <a:off x="4937760" y="1188720"/>
            <a:ext cx="5577840" cy="365760"/>
          </a:xfrm>
          <a:prstGeom prst="rect">
            <a:avLst/>
          </a:prstGeom>
          <a:noFill/>
          <a:ln/>
        </p:spPr>
        <p:txBody>
          <a:bodyPr wrap="square" rtlCol="0" anchor="ctr"/>
          <a:lstStyle/>
          <a:p>
            <a:pPr indent="0" marL="0">
              <a:buNone/>
            </a:pPr>
            <a:r>
              <a:rPr lang="en-US" sz="1400" b="1" dirty="0">
                <a:solidFill>
                  <a:srgbClr val="111827"/>
                </a:solidFill>
                <a:latin typeface="Calibri" pitchFamily="34" charset="0"/>
                <a:ea typeface="Calibri" pitchFamily="34" charset="-122"/>
                <a:cs typeface="Calibri" pitchFamily="34" charset="-120"/>
              </a:rPr>
              <a:t>Résultats — prêts à exporter</a:t>
            </a:r>
            <a:endParaRPr lang="en-US" sz="1400" dirty="0"/>
          </a:p>
        </p:txBody>
      </p:sp>
      <p:sp>
        <p:nvSpPr>
          <p:cNvPr id="21" name="Shape 19"/>
          <p:cNvSpPr/>
          <p:nvPr/>
        </p:nvSpPr>
        <p:spPr>
          <a:xfrm>
            <a:off x="4937760" y="1664208"/>
            <a:ext cx="1115568" cy="384048"/>
          </a:xfrm>
          <a:prstGeom prst="rect">
            <a:avLst/>
          </a:prstGeom>
          <a:solidFill>
            <a:srgbClr val="157A5A"/>
          </a:solidFill>
          <a:ln w="12700">
            <a:solidFill>
              <a:srgbClr val="157A5A"/>
            </a:solidFill>
            <a:prstDash val="solid"/>
          </a:ln>
        </p:spPr>
      </p:sp>
      <p:sp>
        <p:nvSpPr>
          <p:cNvPr id="22" name="Text 20"/>
          <p:cNvSpPr/>
          <p:nvPr/>
        </p:nvSpPr>
        <p:spPr>
          <a:xfrm>
            <a:off x="4937760" y="1664208"/>
            <a:ext cx="1115568" cy="38404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Genre</a:t>
            </a:r>
            <a:endParaRPr lang="en-US" sz="950" dirty="0"/>
          </a:p>
        </p:txBody>
      </p:sp>
      <p:sp>
        <p:nvSpPr>
          <p:cNvPr id="23" name="Shape 21"/>
          <p:cNvSpPr/>
          <p:nvPr/>
        </p:nvSpPr>
        <p:spPr>
          <a:xfrm>
            <a:off x="6053328" y="1664208"/>
            <a:ext cx="1115568" cy="384048"/>
          </a:xfrm>
          <a:prstGeom prst="rect">
            <a:avLst/>
          </a:prstGeom>
          <a:solidFill>
            <a:srgbClr val="157A5A"/>
          </a:solidFill>
          <a:ln w="12700">
            <a:solidFill>
              <a:srgbClr val="157A5A"/>
            </a:solidFill>
            <a:prstDash val="solid"/>
          </a:ln>
        </p:spPr>
      </p:sp>
      <p:sp>
        <p:nvSpPr>
          <p:cNvPr id="24" name="Text 22"/>
          <p:cNvSpPr/>
          <p:nvPr/>
        </p:nvSpPr>
        <p:spPr>
          <a:xfrm>
            <a:off x="6053328" y="1664208"/>
            <a:ext cx="1115568" cy="38404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Espèce</a:t>
            </a:r>
            <a:endParaRPr lang="en-US" sz="950" dirty="0"/>
          </a:p>
        </p:txBody>
      </p:sp>
      <p:sp>
        <p:nvSpPr>
          <p:cNvPr id="25" name="Shape 23"/>
          <p:cNvSpPr/>
          <p:nvPr/>
        </p:nvSpPr>
        <p:spPr>
          <a:xfrm>
            <a:off x="7168896" y="1664208"/>
            <a:ext cx="1115568" cy="384048"/>
          </a:xfrm>
          <a:prstGeom prst="rect">
            <a:avLst/>
          </a:prstGeom>
          <a:solidFill>
            <a:srgbClr val="157A5A"/>
          </a:solidFill>
          <a:ln w="12700">
            <a:solidFill>
              <a:srgbClr val="157A5A"/>
            </a:solidFill>
            <a:prstDash val="solid"/>
          </a:ln>
        </p:spPr>
      </p:sp>
      <p:sp>
        <p:nvSpPr>
          <p:cNvPr id="26" name="Text 24"/>
          <p:cNvSpPr/>
          <p:nvPr/>
        </p:nvSpPr>
        <p:spPr>
          <a:xfrm>
            <a:off x="7168896" y="1664208"/>
            <a:ext cx="1115568" cy="38404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Repas sang</a:t>
            </a:r>
            <a:endParaRPr lang="en-US" sz="950" dirty="0"/>
          </a:p>
        </p:txBody>
      </p:sp>
      <p:sp>
        <p:nvSpPr>
          <p:cNvPr id="27" name="Shape 25"/>
          <p:cNvSpPr/>
          <p:nvPr/>
        </p:nvSpPr>
        <p:spPr>
          <a:xfrm>
            <a:off x="8284464" y="1664208"/>
            <a:ext cx="1115568" cy="384048"/>
          </a:xfrm>
          <a:prstGeom prst="rect">
            <a:avLst/>
          </a:prstGeom>
          <a:solidFill>
            <a:srgbClr val="157A5A"/>
          </a:solidFill>
          <a:ln w="12700">
            <a:solidFill>
              <a:srgbClr val="157A5A"/>
            </a:solidFill>
            <a:prstDash val="solid"/>
          </a:ln>
        </p:spPr>
      </p:sp>
      <p:sp>
        <p:nvSpPr>
          <p:cNvPr id="28" name="Text 26"/>
          <p:cNvSpPr/>
          <p:nvPr/>
        </p:nvSpPr>
        <p:spPr>
          <a:xfrm>
            <a:off x="8284464" y="1664208"/>
            <a:ext cx="1115568" cy="38404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Parité</a:t>
            </a:r>
            <a:endParaRPr lang="en-US" sz="950" dirty="0"/>
          </a:p>
        </p:txBody>
      </p:sp>
      <p:sp>
        <p:nvSpPr>
          <p:cNvPr id="29" name="Shape 27"/>
          <p:cNvSpPr/>
          <p:nvPr/>
        </p:nvSpPr>
        <p:spPr>
          <a:xfrm>
            <a:off x="9400032" y="1664208"/>
            <a:ext cx="1115568" cy="384048"/>
          </a:xfrm>
          <a:prstGeom prst="rect">
            <a:avLst/>
          </a:prstGeom>
          <a:solidFill>
            <a:srgbClr val="157A5A"/>
          </a:solidFill>
          <a:ln w="12700">
            <a:solidFill>
              <a:srgbClr val="157A5A"/>
            </a:solidFill>
            <a:prstDash val="solid"/>
          </a:ln>
        </p:spPr>
      </p:sp>
      <p:sp>
        <p:nvSpPr>
          <p:cNvPr id="30" name="Text 28"/>
          <p:cNvSpPr/>
          <p:nvPr/>
        </p:nvSpPr>
        <p:spPr>
          <a:xfrm>
            <a:off x="9400032" y="1664208"/>
            <a:ext cx="1115568" cy="38404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Localité</a:t>
            </a:r>
            <a:endParaRPr lang="en-US" sz="950" dirty="0"/>
          </a:p>
        </p:txBody>
      </p:sp>
      <p:sp>
        <p:nvSpPr>
          <p:cNvPr id="31" name="Shape 29"/>
          <p:cNvSpPr/>
          <p:nvPr/>
        </p:nvSpPr>
        <p:spPr>
          <a:xfrm>
            <a:off x="4937760" y="2048256"/>
            <a:ext cx="1115568" cy="457200"/>
          </a:xfrm>
          <a:prstGeom prst="rect">
            <a:avLst/>
          </a:prstGeom>
          <a:solidFill>
            <a:srgbClr val="FFFFFF"/>
          </a:solidFill>
          <a:ln w="6350">
            <a:solidFill>
              <a:srgbClr val="E5E7EB"/>
            </a:solidFill>
            <a:prstDash val="solid"/>
          </a:ln>
        </p:spPr>
      </p:sp>
      <p:sp>
        <p:nvSpPr>
          <p:cNvPr id="32" name="Text 30"/>
          <p:cNvSpPr/>
          <p:nvPr/>
        </p:nvSpPr>
        <p:spPr>
          <a:xfrm>
            <a:off x="4937760" y="2048256"/>
            <a:ext cx="1115568" cy="457200"/>
          </a:xfrm>
          <a:prstGeom prst="rect">
            <a:avLst/>
          </a:prstGeom>
          <a:noFill/>
          <a:ln/>
        </p:spPr>
        <p:txBody>
          <a:bodyPr wrap="square" rtlCol="0" anchor="ctr"/>
          <a:lstStyle/>
          <a:p>
            <a:pPr algn="ctr" indent="0" marL="0">
              <a:buNone/>
            </a:pPr>
            <a:r>
              <a:rPr lang="en-US" sz="1000" i="1" dirty="0">
                <a:solidFill>
                  <a:srgbClr val="1F2937"/>
                </a:solidFill>
                <a:latin typeface="Calibri" pitchFamily="34" charset="0"/>
                <a:ea typeface="Calibri" pitchFamily="34" charset="-122"/>
                <a:cs typeface="Calibri" pitchFamily="34" charset="-120"/>
              </a:rPr>
              <a:t>Anopheles</a:t>
            </a:r>
            <a:endParaRPr lang="en-US" sz="1000" dirty="0"/>
          </a:p>
        </p:txBody>
      </p:sp>
      <p:sp>
        <p:nvSpPr>
          <p:cNvPr id="33" name="Shape 31"/>
          <p:cNvSpPr/>
          <p:nvPr/>
        </p:nvSpPr>
        <p:spPr>
          <a:xfrm>
            <a:off x="6053328" y="2048256"/>
            <a:ext cx="1115568" cy="457200"/>
          </a:xfrm>
          <a:prstGeom prst="rect">
            <a:avLst/>
          </a:prstGeom>
          <a:solidFill>
            <a:srgbClr val="FFFFFF"/>
          </a:solidFill>
          <a:ln w="6350">
            <a:solidFill>
              <a:srgbClr val="E5E7EB"/>
            </a:solidFill>
            <a:prstDash val="solid"/>
          </a:ln>
        </p:spPr>
      </p:sp>
      <p:sp>
        <p:nvSpPr>
          <p:cNvPr id="34" name="Text 32"/>
          <p:cNvSpPr/>
          <p:nvPr/>
        </p:nvSpPr>
        <p:spPr>
          <a:xfrm>
            <a:off x="6053328" y="2048256"/>
            <a:ext cx="1115568" cy="457200"/>
          </a:xfrm>
          <a:prstGeom prst="rect">
            <a:avLst/>
          </a:prstGeom>
          <a:noFill/>
          <a:ln/>
        </p:spPr>
        <p:txBody>
          <a:bodyPr wrap="square" rtlCol="0" anchor="ctr"/>
          <a:lstStyle/>
          <a:p>
            <a:pPr algn="ctr" indent="0" marL="0">
              <a:buNone/>
            </a:pPr>
            <a:r>
              <a:rPr lang="en-US" sz="1000" i="1" dirty="0">
                <a:solidFill>
                  <a:srgbClr val="1F2937"/>
                </a:solidFill>
                <a:latin typeface="Calibri" pitchFamily="34" charset="0"/>
                <a:ea typeface="Calibri" pitchFamily="34" charset="-122"/>
                <a:cs typeface="Calibri" pitchFamily="34" charset="-120"/>
              </a:rPr>
              <a:t>gambiae</a:t>
            </a:r>
            <a:endParaRPr lang="en-US" sz="1000" dirty="0"/>
          </a:p>
        </p:txBody>
      </p:sp>
      <p:sp>
        <p:nvSpPr>
          <p:cNvPr id="35" name="Shape 33"/>
          <p:cNvSpPr/>
          <p:nvPr/>
        </p:nvSpPr>
        <p:spPr>
          <a:xfrm>
            <a:off x="7168896" y="2048256"/>
            <a:ext cx="1115568" cy="457200"/>
          </a:xfrm>
          <a:prstGeom prst="rect">
            <a:avLst/>
          </a:prstGeom>
          <a:solidFill>
            <a:srgbClr val="FFFFFF"/>
          </a:solidFill>
          <a:ln w="6350">
            <a:solidFill>
              <a:srgbClr val="E5E7EB"/>
            </a:solidFill>
            <a:prstDash val="solid"/>
          </a:ln>
        </p:spPr>
      </p:sp>
      <p:sp>
        <p:nvSpPr>
          <p:cNvPr id="36" name="Text 34"/>
          <p:cNvSpPr/>
          <p:nvPr/>
        </p:nvSpPr>
        <p:spPr>
          <a:xfrm>
            <a:off x="7168896" y="2048256"/>
            <a:ext cx="1115568" cy="457200"/>
          </a:xfrm>
          <a:prstGeom prst="rect">
            <a:avLst/>
          </a:prstGeom>
          <a:noFill/>
          <a:ln/>
        </p:spPr>
        <p:txBody>
          <a:bodyPr wrap="square"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G</a:t>
            </a:r>
            <a:endParaRPr lang="en-US" sz="1000" dirty="0"/>
          </a:p>
        </p:txBody>
      </p:sp>
      <p:sp>
        <p:nvSpPr>
          <p:cNvPr id="37" name="Shape 35"/>
          <p:cNvSpPr/>
          <p:nvPr/>
        </p:nvSpPr>
        <p:spPr>
          <a:xfrm>
            <a:off x="8284464" y="2048256"/>
            <a:ext cx="1115568" cy="457200"/>
          </a:xfrm>
          <a:prstGeom prst="rect">
            <a:avLst/>
          </a:prstGeom>
          <a:solidFill>
            <a:srgbClr val="FFFFFF"/>
          </a:solidFill>
          <a:ln w="6350">
            <a:solidFill>
              <a:srgbClr val="E5E7EB"/>
            </a:solidFill>
            <a:prstDash val="solid"/>
          </a:ln>
        </p:spPr>
      </p:sp>
      <p:sp>
        <p:nvSpPr>
          <p:cNvPr id="38" name="Text 36"/>
          <p:cNvSpPr/>
          <p:nvPr/>
        </p:nvSpPr>
        <p:spPr>
          <a:xfrm>
            <a:off x="8284464" y="2048256"/>
            <a:ext cx="1115568" cy="457200"/>
          </a:xfrm>
          <a:prstGeom prst="rect">
            <a:avLst/>
          </a:prstGeom>
          <a:noFill/>
          <a:ln/>
        </p:spPr>
        <p:txBody>
          <a:bodyPr wrap="square"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P</a:t>
            </a:r>
            <a:endParaRPr lang="en-US" sz="1000" dirty="0"/>
          </a:p>
        </p:txBody>
      </p:sp>
      <p:sp>
        <p:nvSpPr>
          <p:cNvPr id="39" name="Shape 37"/>
          <p:cNvSpPr/>
          <p:nvPr/>
        </p:nvSpPr>
        <p:spPr>
          <a:xfrm>
            <a:off x="9400032" y="2048256"/>
            <a:ext cx="1115568" cy="457200"/>
          </a:xfrm>
          <a:prstGeom prst="rect">
            <a:avLst/>
          </a:prstGeom>
          <a:solidFill>
            <a:srgbClr val="FFFFFF"/>
          </a:solidFill>
          <a:ln w="6350">
            <a:solidFill>
              <a:srgbClr val="E5E7EB"/>
            </a:solidFill>
            <a:prstDash val="solid"/>
          </a:ln>
        </p:spPr>
      </p:sp>
      <p:sp>
        <p:nvSpPr>
          <p:cNvPr id="40" name="Text 38"/>
          <p:cNvSpPr/>
          <p:nvPr/>
        </p:nvSpPr>
        <p:spPr>
          <a:xfrm>
            <a:off x="9400032" y="2048256"/>
            <a:ext cx="1115568" cy="457200"/>
          </a:xfrm>
          <a:prstGeom prst="rect">
            <a:avLst/>
          </a:prstGeom>
          <a:noFill/>
          <a:ln/>
        </p:spPr>
        <p:txBody>
          <a:bodyPr wrap="square"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Antananarivo</a:t>
            </a:r>
            <a:endParaRPr lang="en-US" sz="1000" dirty="0"/>
          </a:p>
        </p:txBody>
      </p:sp>
      <p:sp>
        <p:nvSpPr>
          <p:cNvPr id="41" name="Shape 39"/>
          <p:cNvSpPr/>
          <p:nvPr/>
        </p:nvSpPr>
        <p:spPr>
          <a:xfrm>
            <a:off x="4937760" y="2505456"/>
            <a:ext cx="1115568" cy="457200"/>
          </a:xfrm>
          <a:prstGeom prst="rect">
            <a:avLst/>
          </a:prstGeom>
          <a:solidFill>
            <a:srgbClr val="F3F4F6"/>
          </a:solidFill>
          <a:ln w="6350">
            <a:solidFill>
              <a:srgbClr val="E5E7EB"/>
            </a:solidFill>
            <a:prstDash val="solid"/>
          </a:ln>
        </p:spPr>
      </p:sp>
      <p:sp>
        <p:nvSpPr>
          <p:cNvPr id="42" name="Text 40"/>
          <p:cNvSpPr/>
          <p:nvPr/>
        </p:nvSpPr>
        <p:spPr>
          <a:xfrm>
            <a:off x="4937760" y="2505456"/>
            <a:ext cx="1115568" cy="457200"/>
          </a:xfrm>
          <a:prstGeom prst="rect">
            <a:avLst/>
          </a:prstGeom>
          <a:noFill/>
          <a:ln/>
        </p:spPr>
        <p:txBody>
          <a:bodyPr wrap="square" rtlCol="0" anchor="ctr"/>
          <a:lstStyle/>
          <a:p>
            <a:pPr algn="ctr" indent="0" marL="0">
              <a:buNone/>
            </a:pPr>
            <a:r>
              <a:rPr lang="en-US" sz="1000" i="1" dirty="0">
                <a:solidFill>
                  <a:srgbClr val="1F2937"/>
                </a:solidFill>
                <a:latin typeface="Calibri" pitchFamily="34" charset="0"/>
                <a:ea typeface="Calibri" pitchFamily="34" charset="-122"/>
                <a:cs typeface="Calibri" pitchFamily="34" charset="-120"/>
              </a:rPr>
              <a:t>Culex</a:t>
            </a:r>
            <a:endParaRPr lang="en-US" sz="1000" dirty="0"/>
          </a:p>
        </p:txBody>
      </p:sp>
      <p:sp>
        <p:nvSpPr>
          <p:cNvPr id="43" name="Shape 41"/>
          <p:cNvSpPr/>
          <p:nvPr/>
        </p:nvSpPr>
        <p:spPr>
          <a:xfrm>
            <a:off x="6053328" y="2505456"/>
            <a:ext cx="1115568" cy="457200"/>
          </a:xfrm>
          <a:prstGeom prst="rect">
            <a:avLst/>
          </a:prstGeom>
          <a:solidFill>
            <a:srgbClr val="F3F4F6"/>
          </a:solidFill>
          <a:ln w="6350">
            <a:solidFill>
              <a:srgbClr val="E5E7EB"/>
            </a:solidFill>
            <a:prstDash val="solid"/>
          </a:ln>
        </p:spPr>
      </p:sp>
      <p:sp>
        <p:nvSpPr>
          <p:cNvPr id="44" name="Text 42"/>
          <p:cNvSpPr/>
          <p:nvPr/>
        </p:nvSpPr>
        <p:spPr>
          <a:xfrm>
            <a:off x="6053328" y="2505456"/>
            <a:ext cx="1115568" cy="457200"/>
          </a:xfrm>
          <a:prstGeom prst="rect">
            <a:avLst/>
          </a:prstGeom>
          <a:noFill/>
          <a:ln/>
        </p:spPr>
        <p:txBody>
          <a:bodyPr wrap="square" rtlCol="0" anchor="ctr"/>
          <a:lstStyle/>
          <a:p>
            <a:pPr algn="ctr" indent="0" marL="0">
              <a:buNone/>
            </a:pPr>
            <a:r>
              <a:rPr lang="en-US" sz="1000" i="1" dirty="0">
                <a:solidFill>
                  <a:srgbClr val="1F2937"/>
                </a:solidFill>
                <a:latin typeface="Calibri" pitchFamily="34" charset="0"/>
                <a:ea typeface="Calibri" pitchFamily="34" charset="-122"/>
                <a:cs typeface="Calibri" pitchFamily="34" charset="-120"/>
              </a:rPr>
              <a:t>quinquefasciatus</a:t>
            </a:r>
            <a:endParaRPr lang="en-US" sz="1000" dirty="0"/>
          </a:p>
        </p:txBody>
      </p:sp>
      <p:sp>
        <p:nvSpPr>
          <p:cNvPr id="45" name="Shape 43"/>
          <p:cNvSpPr/>
          <p:nvPr/>
        </p:nvSpPr>
        <p:spPr>
          <a:xfrm>
            <a:off x="7168896" y="2505456"/>
            <a:ext cx="1115568" cy="457200"/>
          </a:xfrm>
          <a:prstGeom prst="rect">
            <a:avLst/>
          </a:prstGeom>
          <a:solidFill>
            <a:srgbClr val="F3F4F6"/>
          </a:solidFill>
          <a:ln w="6350">
            <a:solidFill>
              <a:srgbClr val="E5E7EB"/>
            </a:solidFill>
            <a:prstDash val="solid"/>
          </a:ln>
        </p:spPr>
      </p:sp>
      <p:sp>
        <p:nvSpPr>
          <p:cNvPr id="46" name="Text 44"/>
          <p:cNvSpPr/>
          <p:nvPr/>
        </p:nvSpPr>
        <p:spPr>
          <a:xfrm>
            <a:off x="7168896" y="2505456"/>
            <a:ext cx="1115568" cy="457200"/>
          </a:xfrm>
          <a:prstGeom prst="rect">
            <a:avLst/>
          </a:prstGeom>
          <a:noFill/>
          <a:ln/>
        </p:spPr>
        <p:txBody>
          <a:bodyPr wrap="square"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N</a:t>
            </a:r>
            <a:endParaRPr lang="en-US" sz="1000" dirty="0"/>
          </a:p>
        </p:txBody>
      </p:sp>
      <p:sp>
        <p:nvSpPr>
          <p:cNvPr id="47" name="Shape 45"/>
          <p:cNvSpPr/>
          <p:nvPr/>
        </p:nvSpPr>
        <p:spPr>
          <a:xfrm>
            <a:off x="8284464" y="2505456"/>
            <a:ext cx="1115568" cy="457200"/>
          </a:xfrm>
          <a:prstGeom prst="rect">
            <a:avLst/>
          </a:prstGeom>
          <a:solidFill>
            <a:srgbClr val="F3F4F6"/>
          </a:solidFill>
          <a:ln w="6350">
            <a:solidFill>
              <a:srgbClr val="E5E7EB"/>
            </a:solidFill>
            <a:prstDash val="solid"/>
          </a:ln>
        </p:spPr>
      </p:sp>
      <p:sp>
        <p:nvSpPr>
          <p:cNvPr id="48" name="Text 46"/>
          <p:cNvSpPr/>
          <p:nvPr/>
        </p:nvSpPr>
        <p:spPr>
          <a:xfrm>
            <a:off x="8284464" y="2505456"/>
            <a:ext cx="1115568" cy="457200"/>
          </a:xfrm>
          <a:prstGeom prst="rect">
            <a:avLst/>
          </a:prstGeom>
          <a:noFill/>
          <a:ln/>
        </p:spPr>
        <p:txBody>
          <a:bodyPr wrap="square"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NP</a:t>
            </a:r>
            <a:endParaRPr lang="en-US" sz="1000" dirty="0"/>
          </a:p>
        </p:txBody>
      </p:sp>
      <p:sp>
        <p:nvSpPr>
          <p:cNvPr id="49" name="Shape 47"/>
          <p:cNvSpPr/>
          <p:nvPr/>
        </p:nvSpPr>
        <p:spPr>
          <a:xfrm>
            <a:off x="9400032" y="2505456"/>
            <a:ext cx="1115568" cy="457200"/>
          </a:xfrm>
          <a:prstGeom prst="rect">
            <a:avLst/>
          </a:prstGeom>
          <a:solidFill>
            <a:srgbClr val="F3F4F6"/>
          </a:solidFill>
          <a:ln w="6350">
            <a:solidFill>
              <a:srgbClr val="E5E7EB"/>
            </a:solidFill>
            <a:prstDash val="solid"/>
          </a:ln>
        </p:spPr>
      </p:sp>
      <p:sp>
        <p:nvSpPr>
          <p:cNvPr id="50" name="Text 48"/>
          <p:cNvSpPr/>
          <p:nvPr/>
        </p:nvSpPr>
        <p:spPr>
          <a:xfrm>
            <a:off x="9400032" y="2505456"/>
            <a:ext cx="1115568" cy="457200"/>
          </a:xfrm>
          <a:prstGeom prst="rect">
            <a:avLst/>
          </a:prstGeom>
          <a:noFill/>
          <a:ln/>
        </p:spPr>
        <p:txBody>
          <a:bodyPr wrap="square"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Toamasina</a:t>
            </a:r>
            <a:endParaRPr lang="en-US" sz="1000" dirty="0"/>
          </a:p>
        </p:txBody>
      </p:sp>
      <p:sp>
        <p:nvSpPr>
          <p:cNvPr id="51" name="Shape 49"/>
          <p:cNvSpPr/>
          <p:nvPr/>
        </p:nvSpPr>
        <p:spPr>
          <a:xfrm>
            <a:off x="4937760" y="2962656"/>
            <a:ext cx="1115568" cy="457200"/>
          </a:xfrm>
          <a:prstGeom prst="rect">
            <a:avLst/>
          </a:prstGeom>
          <a:solidFill>
            <a:srgbClr val="FFFFFF"/>
          </a:solidFill>
          <a:ln w="6350">
            <a:solidFill>
              <a:srgbClr val="E5E7EB"/>
            </a:solidFill>
            <a:prstDash val="solid"/>
          </a:ln>
        </p:spPr>
      </p:sp>
      <p:sp>
        <p:nvSpPr>
          <p:cNvPr id="52" name="Text 50"/>
          <p:cNvSpPr/>
          <p:nvPr/>
        </p:nvSpPr>
        <p:spPr>
          <a:xfrm>
            <a:off x="4937760" y="2962656"/>
            <a:ext cx="1115568" cy="457200"/>
          </a:xfrm>
          <a:prstGeom prst="rect">
            <a:avLst/>
          </a:prstGeom>
          <a:noFill/>
          <a:ln/>
        </p:spPr>
        <p:txBody>
          <a:bodyPr wrap="square" rtlCol="0" anchor="ctr"/>
          <a:lstStyle/>
          <a:p>
            <a:pPr algn="ctr" indent="0" marL="0">
              <a:buNone/>
            </a:pPr>
            <a:r>
              <a:rPr lang="en-US" sz="1000" i="1" dirty="0">
                <a:solidFill>
                  <a:srgbClr val="1F2937"/>
                </a:solidFill>
                <a:latin typeface="Calibri" pitchFamily="34" charset="0"/>
                <a:ea typeface="Calibri" pitchFamily="34" charset="-122"/>
                <a:cs typeface="Calibri" pitchFamily="34" charset="-120"/>
              </a:rPr>
              <a:t>Aedes</a:t>
            </a:r>
            <a:endParaRPr lang="en-US" sz="1000" dirty="0"/>
          </a:p>
        </p:txBody>
      </p:sp>
      <p:sp>
        <p:nvSpPr>
          <p:cNvPr id="53" name="Shape 51"/>
          <p:cNvSpPr/>
          <p:nvPr/>
        </p:nvSpPr>
        <p:spPr>
          <a:xfrm>
            <a:off x="6053328" y="2962656"/>
            <a:ext cx="1115568" cy="457200"/>
          </a:xfrm>
          <a:prstGeom prst="rect">
            <a:avLst/>
          </a:prstGeom>
          <a:solidFill>
            <a:srgbClr val="FFFFFF"/>
          </a:solidFill>
          <a:ln w="6350">
            <a:solidFill>
              <a:srgbClr val="E5E7EB"/>
            </a:solidFill>
            <a:prstDash val="solid"/>
          </a:ln>
        </p:spPr>
      </p:sp>
      <p:sp>
        <p:nvSpPr>
          <p:cNvPr id="54" name="Text 52"/>
          <p:cNvSpPr/>
          <p:nvPr/>
        </p:nvSpPr>
        <p:spPr>
          <a:xfrm>
            <a:off x="6053328" y="2962656"/>
            <a:ext cx="1115568" cy="457200"/>
          </a:xfrm>
          <a:prstGeom prst="rect">
            <a:avLst/>
          </a:prstGeom>
          <a:noFill/>
          <a:ln/>
        </p:spPr>
        <p:txBody>
          <a:bodyPr wrap="square" rtlCol="0" anchor="ctr"/>
          <a:lstStyle/>
          <a:p>
            <a:pPr algn="ctr" indent="0" marL="0">
              <a:buNone/>
            </a:pPr>
            <a:r>
              <a:rPr lang="en-US" sz="1000" i="1" dirty="0">
                <a:solidFill>
                  <a:srgbClr val="1F2937"/>
                </a:solidFill>
                <a:latin typeface="Calibri" pitchFamily="34" charset="0"/>
                <a:ea typeface="Calibri" pitchFamily="34" charset="-122"/>
                <a:cs typeface="Calibri" pitchFamily="34" charset="-120"/>
              </a:rPr>
              <a:t>albopictus</a:t>
            </a:r>
            <a:endParaRPr lang="en-US" sz="1000" dirty="0"/>
          </a:p>
        </p:txBody>
      </p:sp>
      <p:sp>
        <p:nvSpPr>
          <p:cNvPr id="55" name="Shape 53"/>
          <p:cNvSpPr/>
          <p:nvPr/>
        </p:nvSpPr>
        <p:spPr>
          <a:xfrm>
            <a:off x="7168896" y="2962656"/>
            <a:ext cx="1115568" cy="457200"/>
          </a:xfrm>
          <a:prstGeom prst="rect">
            <a:avLst/>
          </a:prstGeom>
          <a:solidFill>
            <a:srgbClr val="FFFFFF"/>
          </a:solidFill>
          <a:ln w="6350">
            <a:solidFill>
              <a:srgbClr val="E5E7EB"/>
            </a:solidFill>
            <a:prstDash val="solid"/>
          </a:ln>
        </p:spPr>
      </p:sp>
      <p:sp>
        <p:nvSpPr>
          <p:cNvPr id="56" name="Text 54"/>
          <p:cNvSpPr/>
          <p:nvPr/>
        </p:nvSpPr>
        <p:spPr>
          <a:xfrm>
            <a:off x="7168896" y="2962656"/>
            <a:ext cx="1115568" cy="457200"/>
          </a:xfrm>
          <a:prstGeom prst="rect">
            <a:avLst/>
          </a:prstGeom>
          <a:noFill/>
          <a:ln/>
        </p:spPr>
        <p:txBody>
          <a:bodyPr wrap="square"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Gr</a:t>
            </a:r>
            <a:endParaRPr lang="en-US" sz="1000" dirty="0"/>
          </a:p>
        </p:txBody>
      </p:sp>
      <p:sp>
        <p:nvSpPr>
          <p:cNvPr id="57" name="Shape 55"/>
          <p:cNvSpPr/>
          <p:nvPr/>
        </p:nvSpPr>
        <p:spPr>
          <a:xfrm>
            <a:off x="8284464" y="2962656"/>
            <a:ext cx="1115568" cy="457200"/>
          </a:xfrm>
          <a:prstGeom prst="rect">
            <a:avLst/>
          </a:prstGeom>
          <a:solidFill>
            <a:srgbClr val="FFFFFF"/>
          </a:solidFill>
          <a:ln w="6350">
            <a:solidFill>
              <a:srgbClr val="E5E7EB"/>
            </a:solidFill>
            <a:prstDash val="solid"/>
          </a:ln>
        </p:spPr>
      </p:sp>
      <p:sp>
        <p:nvSpPr>
          <p:cNvPr id="58" name="Text 56"/>
          <p:cNvSpPr/>
          <p:nvPr/>
        </p:nvSpPr>
        <p:spPr>
          <a:xfrm>
            <a:off x="8284464" y="2962656"/>
            <a:ext cx="1115568" cy="457200"/>
          </a:xfrm>
          <a:prstGeom prst="rect">
            <a:avLst/>
          </a:prstGeom>
          <a:noFill/>
          <a:ln/>
        </p:spPr>
        <p:txBody>
          <a:bodyPr wrap="square"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P</a:t>
            </a:r>
            <a:endParaRPr lang="en-US" sz="1000" dirty="0"/>
          </a:p>
        </p:txBody>
      </p:sp>
      <p:sp>
        <p:nvSpPr>
          <p:cNvPr id="59" name="Shape 57"/>
          <p:cNvSpPr/>
          <p:nvPr/>
        </p:nvSpPr>
        <p:spPr>
          <a:xfrm>
            <a:off x="9400032" y="2962656"/>
            <a:ext cx="1115568" cy="457200"/>
          </a:xfrm>
          <a:prstGeom prst="rect">
            <a:avLst/>
          </a:prstGeom>
          <a:solidFill>
            <a:srgbClr val="FFFFFF"/>
          </a:solidFill>
          <a:ln w="6350">
            <a:solidFill>
              <a:srgbClr val="E5E7EB"/>
            </a:solidFill>
            <a:prstDash val="solid"/>
          </a:ln>
        </p:spPr>
      </p:sp>
      <p:sp>
        <p:nvSpPr>
          <p:cNvPr id="60" name="Text 58"/>
          <p:cNvSpPr/>
          <p:nvPr/>
        </p:nvSpPr>
        <p:spPr>
          <a:xfrm>
            <a:off x="9400032" y="2962656"/>
            <a:ext cx="1115568" cy="457200"/>
          </a:xfrm>
          <a:prstGeom prst="rect">
            <a:avLst/>
          </a:prstGeom>
          <a:noFill/>
          <a:ln/>
        </p:spPr>
        <p:txBody>
          <a:bodyPr wrap="square"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Fianarantsoa</a:t>
            </a:r>
            <a:endParaRPr lang="en-US" sz="1000" dirty="0"/>
          </a:p>
        </p:txBody>
      </p:sp>
      <p:sp>
        <p:nvSpPr>
          <p:cNvPr id="61" name="Shape 59"/>
          <p:cNvSpPr/>
          <p:nvPr/>
        </p:nvSpPr>
        <p:spPr>
          <a:xfrm>
            <a:off x="4937760" y="3419856"/>
            <a:ext cx="1115568" cy="457200"/>
          </a:xfrm>
          <a:prstGeom prst="rect">
            <a:avLst/>
          </a:prstGeom>
          <a:solidFill>
            <a:srgbClr val="F3F4F6"/>
          </a:solidFill>
          <a:ln w="6350">
            <a:solidFill>
              <a:srgbClr val="E5E7EB"/>
            </a:solidFill>
            <a:prstDash val="solid"/>
          </a:ln>
        </p:spPr>
      </p:sp>
      <p:sp>
        <p:nvSpPr>
          <p:cNvPr id="62" name="Text 60"/>
          <p:cNvSpPr/>
          <p:nvPr/>
        </p:nvSpPr>
        <p:spPr>
          <a:xfrm>
            <a:off x="4937760" y="3419856"/>
            <a:ext cx="1115568" cy="457200"/>
          </a:xfrm>
          <a:prstGeom prst="rect">
            <a:avLst/>
          </a:prstGeom>
          <a:noFill/>
          <a:ln/>
        </p:spPr>
        <p:txBody>
          <a:bodyPr wrap="square" rtlCol="0" anchor="ctr"/>
          <a:lstStyle/>
          <a:p>
            <a:pPr algn="ctr" indent="0" marL="0">
              <a:buNone/>
            </a:pPr>
            <a:r>
              <a:rPr lang="en-US" sz="1000" i="1" dirty="0">
                <a:solidFill>
                  <a:srgbClr val="1F2937"/>
                </a:solidFill>
                <a:latin typeface="Calibri" pitchFamily="34" charset="0"/>
                <a:ea typeface="Calibri" pitchFamily="34" charset="-122"/>
                <a:cs typeface="Calibri" pitchFamily="34" charset="-120"/>
              </a:rPr>
              <a:t>Anopheles</a:t>
            </a:r>
            <a:endParaRPr lang="en-US" sz="1000" dirty="0"/>
          </a:p>
        </p:txBody>
      </p:sp>
      <p:sp>
        <p:nvSpPr>
          <p:cNvPr id="63" name="Shape 61"/>
          <p:cNvSpPr/>
          <p:nvPr/>
        </p:nvSpPr>
        <p:spPr>
          <a:xfrm>
            <a:off x="6053328" y="3419856"/>
            <a:ext cx="1115568" cy="457200"/>
          </a:xfrm>
          <a:prstGeom prst="rect">
            <a:avLst/>
          </a:prstGeom>
          <a:solidFill>
            <a:srgbClr val="F3F4F6"/>
          </a:solidFill>
          <a:ln w="6350">
            <a:solidFill>
              <a:srgbClr val="E5E7EB"/>
            </a:solidFill>
            <a:prstDash val="solid"/>
          </a:ln>
        </p:spPr>
      </p:sp>
      <p:sp>
        <p:nvSpPr>
          <p:cNvPr id="64" name="Text 62"/>
          <p:cNvSpPr/>
          <p:nvPr/>
        </p:nvSpPr>
        <p:spPr>
          <a:xfrm>
            <a:off x="6053328" y="3419856"/>
            <a:ext cx="1115568" cy="457200"/>
          </a:xfrm>
          <a:prstGeom prst="rect">
            <a:avLst/>
          </a:prstGeom>
          <a:noFill/>
          <a:ln/>
        </p:spPr>
        <p:txBody>
          <a:bodyPr wrap="square" rtlCol="0" anchor="ctr"/>
          <a:lstStyle/>
          <a:p>
            <a:pPr algn="ctr" indent="0" marL="0">
              <a:buNone/>
            </a:pPr>
            <a:r>
              <a:rPr lang="en-US" sz="1000" i="1" dirty="0">
                <a:solidFill>
                  <a:srgbClr val="1F2937"/>
                </a:solidFill>
                <a:latin typeface="Calibri" pitchFamily="34" charset="0"/>
                <a:ea typeface="Calibri" pitchFamily="34" charset="-122"/>
                <a:cs typeface="Calibri" pitchFamily="34" charset="-120"/>
              </a:rPr>
              <a:t>arabiensis</a:t>
            </a:r>
            <a:endParaRPr lang="en-US" sz="1000" dirty="0"/>
          </a:p>
        </p:txBody>
      </p:sp>
      <p:sp>
        <p:nvSpPr>
          <p:cNvPr id="65" name="Shape 63"/>
          <p:cNvSpPr/>
          <p:nvPr/>
        </p:nvSpPr>
        <p:spPr>
          <a:xfrm>
            <a:off x="7168896" y="3419856"/>
            <a:ext cx="1115568" cy="457200"/>
          </a:xfrm>
          <a:prstGeom prst="rect">
            <a:avLst/>
          </a:prstGeom>
          <a:solidFill>
            <a:srgbClr val="F3F4F6"/>
          </a:solidFill>
          <a:ln w="6350">
            <a:solidFill>
              <a:srgbClr val="E5E7EB"/>
            </a:solidFill>
            <a:prstDash val="solid"/>
          </a:ln>
        </p:spPr>
      </p:sp>
      <p:sp>
        <p:nvSpPr>
          <p:cNvPr id="66" name="Text 64"/>
          <p:cNvSpPr/>
          <p:nvPr/>
        </p:nvSpPr>
        <p:spPr>
          <a:xfrm>
            <a:off x="7168896" y="3419856"/>
            <a:ext cx="1115568" cy="457200"/>
          </a:xfrm>
          <a:prstGeom prst="rect">
            <a:avLst/>
          </a:prstGeom>
          <a:noFill/>
          <a:ln/>
        </p:spPr>
        <p:txBody>
          <a:bodyPr wrap="square"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SGr</a:t>
            </a:r>
            <a:endParaRPr lang="en-US" sz="1000" dirty="0"/>
          </a:p>
        </p:txBody>
      </p:sp>
      <p:sp>
        <p:nvSpPr>
          <p:cNvPr id="67" name="Shape 65"/>
          <p:cNvSpPr/>
          <p:nvPr/>
        </p:nvSpPr>
        <p:spPr>
          <a:xfrm>
            <a:off x="8284464" y="3419856"/>
            <a:ext cx="1115568" cy="457200"/>
          </a:xfrm>
          <a:prstGeom prst="rect">
            <a:avLst/>
          </a:prstGeom>
          <a:solidFill>
            <a:srgbClr val="F3F4F6"/>
          </a:solidFill>
          <a:ln w="6350">
            <a:solidFill>
              <a:srgbClr val="E5E7EB"/>
            </a:solidFill>
            <a:prstDash val="solid"/>
          </a:ln>
        </p:spPr>
      </p:sp>
      <p:sp>
        <p:nvSpPr>
          <p:cNvPr id="68" name="Text 66"/>
          <p:cNvSpPr/>
          <p:nvPr/>
        </p:nvSpPr>
        <p:spPr>
          <a:xfrm>
            <a:off x="8284464" y="3419856"/>
            <a:ext cx="1115568" cy="457200"/>
          </a:xfrm>
          <a:prstGeom prst="rect">
            <a:avLst/>
          </a:prstGeom>
          <a:noFill/>
          <a:ln/>
        </p:spPr>
        <p:txBody>
          <a:bodyPr wrap="square"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P</a:t>
            </a:r>
            <a:endParaRPr lang="en-US" sz="1000" dirty="0"/>
          </a:p>
        </p:txBody>
      </p:sp>
      <p:sp>
        <p:nvSpPr>
          <p:cNvPr id="69" name="Shape 67"/>
          <p:cNvSpPr/>
          <p:nvPr/>
        </p:nvSpPr>
        <p:spPr>
          <a:xfrm>
            <a:off x="9400032" y="3419856"/>
            <a:ext cx="1115568" cy="457200"/>
          </a:xfrm>
          <a:prstGeom prst="rect">
            <a:avLst/>
          </a:prstGeom>
          <a:solidFill>
            <a:srgbClr val="F3F4F6"/>
          </a:solidFill>
          <a:ln w="6350">
            <a:solidFill>
              <a:srgbClr val="E5E7EB"/>
            </a:solidFill>
            <a:prstDash val="solid"/>
          </a:ln>
        </p:spPr>
      </p:sp>
      <p:sp>
        <p:nvSpPr>
          <p:cNvPr id="70" name="Text 68"/>
          <p:cNvSpPr/>
          <p:nvPr/>
        </p:nvSpPr>
        <p:spPr>
          <a:xfrm>
            <a:off x="9400032" y="3419856"/>
            <a:ext cx="1115568" cy="457200"/>
          </a:xfrm>
          <a:prstGeom prst="rect">
            <a:avLst/>
          </a:prstGeom>
          <a:noFill/>
          <a:ln/>
        </p:spPr>
        <p:txBody>
          <a:bodyPr wrap="square" rtlCol="0" anchor="ctr"/>
          <a:lstStyle/>
          <a:p>
            <a:pPr algn="ctr" indent="0" marL="0">
              <a:buNone/>
            </a:pPr>
            <a:r>
              <a:rPr lang="en-US" sz="1000" dirty="0">
                <a:solidFill>
                  <a:srgbClr val="1F2937"/>
                </a:solidFill>
                <a:latin typeface="Calibri" pitchFamily="34" charset="0"/>
                <a:ea typeface="Calibri" pitchFamily="34" charset="-122"/>
                <a:cs typeface="Calibri" pitchFamily="34" charset="-120"/>
              </a:rPr>
              <a:t>Mahajanga</a:t>
            </a:r>
            <a:endParaRPr lang="en-US" sz="1000" dirty="0"/>
          </a:p>
        </p:txBody>
      </p:sp>
      <p:sp>
        <p:nvSpPr>
          <p:cNvPr id="71" name="Shape 69"/>
          <p:cNvSpPr/>
          <p:nvPr/>
        </p:nvSpPr>
        <p:spPr>
          <a:xfrm>
            <a:off x="7772400" y="5120640"/>
            <a:ext cx="2651760" cy="594360"/>
          </a:xfrm>
          <a:prstGeom prst="roundRect">
            <a:avLst>
              <a:gd name="adj" fmla="val 15385"/>
            </a:avLst>
          </a:prstGeom>
          <a:solidFill>
            <a:srgbClr val="1D9E75"/>
          </a:solidFill>
          <a:ln w="12700">
            <a:solidFill>
              <a:srgbClr val="1D9E75"/>
            </a:solidFill>
            <a:prstDash val="solid"/>
          </a:ln>
        </p:spPr>
      </p:sp>
      <p:sp>
        <p:nvSpPr>
          <p:cNvPr id="72" name="Text 70"/>
          <p:cNvSpPr/>
          <p:nvPr/>
        </p:nvSpPr>
        <p:spPr>
          <a:xfrm>
            <a:off x="7772400" y="5120640"/>
            <a:ext cx="2651760" cy="5943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Exporter en Excel (.xlsx)</a:t>
            </a:r>
            <a:endParaRPr lang="en-US" sz="1300" dirty="0"/>
          </a:p>
        </p:txBody>
      </p:sp>
      <p:sp>
        <p:nvSpPr>
          <p:cNvPr id="73" name="Text 71"/>
          <p:cNvSpPr/>
          <p:nvPr/>
        </p:nvSpPr>
        <p:spPr>
          <a:xfrm>
            <a:off x="4937760" y="5806440"/>
            <a:ext cx="5577840" cy="365760"/>
          </a:xfrm>
          <a:prstGeom prst="rect">
            <a:avLst/>
          </a:prstGeom>
          <a:noFill/>
          <a:ln/>
        </p:spPr>
        <p:txBody>
          <a:bodyPr wrap="square" rtlCol="0" anchor="ctr"/>
          <a:lstStyle/>
          <a:p>
            <a:pPr indent="0" marL="0">
              <a:buNone/>
            </a:pPr>
            <a:r>
              <a:rPr lang="en-US" sz="1100" i="1" dirty="0">
                <a:solidFill>
                  <a:srgbClr val="4B5563"/>
                </a:solidFill>
                <a:latin typeface="Calibri" pitchFamily="34" charset="0"/>
                <a:ea typeface="Calibri" pitchFamily="34" charset="-122"/>
                <a:cs typeface="Calibri" pitchFamily="34" charset="-120"/>
              </a:rPr>
              <a:t>Colonnes structurées, prêtes pour R / Python / SPSS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AFAFA"/>
          </a:solidFill>
          <a:ln/>
        </p:spPr>
      </p:sp>
      <p:sp>
        <p:nvSpPr>
          <p:cNvPr id="3" name="Shape 1"/>
          <p:cNvSpPr/>
          <p:nvPr/>
        </p:nvSpPr>
        <p:spPr>
          <a:xfrm>
            <a:off x="0" y="0"/>
            <a:ext cx="73152" cy="6858000"/>
          </a:xfrm>
          <a:prstGeom prst="rect">
            <a:avLst/>
          </a:prstGeom>
          <a:solidFill>
            <a:srgbClr val="1D9E75"/>
          </a:solidFill>
          <a:ln/>
        </p:spPr>
      </p:sp>
      <p:sp>
        <p:nvSpPr>
          <p:cNvPr id="4" name="Text 2"/>
          <p:cNvSpPr/>
          <p:nvPr/>
        </p:nvSpPr>
        <p:spPr>
          <a:xfrm>
            <a:off x="0" y="6492240"/>
            <a:ext cx="12192000" cy="274320"/>
          </a:xfrm>
          <a:prstGeom prst="rect">
            <a:avLst/>
          </a:prstGeom>
          <a:noFill/>
          <a:ln/>
        </p:spPr>
        <p:txBody>
          <a:bodyPr wrap="square"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SpécimenManager  ·  Institut Pasteur Madagascar  ·  7/10</a:t>
            </a:r>
            <a:endParaRPr lang="en-US" sz="900" dirty="0"/>
          </a:p>
        </p:txBody>
      </p:sp>
      <p:sp>
        <p:nvSpPr>
          <p:cNvPr id="5" name="Text 3"/>
          <p:cNvSpPr/>
          <p:nvPr/>
        </p:nvSpPr>
        <p:spPr>
          <a:xfrm>
            <a:off x="457200" y="320040"/>
            <a:ext cx="10515600" cy="640080"/>
          </a:xfrm>
          <a:prstGeom prst="rect">
            <a:avLst/>
          </a:prstGeom>
          <a:noFill/>
          <a:ln/>
        </p:spPr>
        <p:txBody>
          <a:bodyPr wrap="square"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Gestion des accès &amp; Sécurité des données</a:t>
            </a:r>
            <a:endParaRPr lang="en-US" sz="2600" dirty="0"/>
          </a:p>
        </p:txBody>
      </p:sp>
      <p:sp>
        <p:nvSpPr>
          <p:cNvPr id="6" name="Shape 4"/>
          <p:cNvSpPr/>
          <p:nvPr/>
        </p:nvSpPr>
        <p:spPr>
          <a:xfrm>
            <a:off x="457200" y="1005840"/>
            <a:ext cx="10515600" cy="0"/>
          </a:xfrm>
          <a:prstGeom prst="line">
            <a:avLst/>
          </a:prstGeom>
          <a:noFill/>
          <a:ln w="12700">
            <a:solidFill>
              <a:srgbClr val="E5E7EB"/>
            </a:solidFill>
            <a:prstDash val="solid"/>
          </a:ln>
        </p:spPr>
      </p:sp>
      <p:sp>
        <p:nvSpPr>
          <p:cNvPr id="7" name="Shape 5"/>
          <p:cNvSpPr/>
          <p:nvPr/>
        </p:nvSpPr>
        <p:spPr>
          <a:xfrm>
            <a:off x="2743200" y="1280160"/>
            <a:ext cx="1828800" cy="502920"/>
          </a:xfrm>
          <a:prstGeom prst="roundRect">
            <a:avLst>
              <a:gd name="adj" fmla="val 14545"/>
            </a:avLst>
          </a:prstGeom>
          <a:solidFill>
            <a:srgbClr val="EF4444"/>
          </a:solidFill>
          <a:ln w="12700">
            <a:solidFill>
              <a:srgbClr val="EF4444"/>
            </a:solidFill>
            <a:prstDash val="solid"/>
          </a:ln>
        </p:spPr>
      </p:sp>
      <p:sp>
        <p:nvSpPr>
          <p:cNvPr id="8" name="Text 6"/>
          <p:cNvSpPr/>
          <p:nvPr/>
        </p:nvSpPr>
        <p:spPr>
          <a:xfrm>
            <a:off x="2743200" y="1280160"/>
            <a:ext cx="18288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Admin</a:t>
            </a:r>
            <a:endParaRPr lang="en-US" sz="1300" dirty="0"/>
          </a:p>
        </p:txBody>
      </p:sp>
      <p:sp>
        <p:nvSpPr>
          <p:cNvPr id="9" name="Shape 7"/>
          <p:cNvSpPr/>
          <p:nvPr/>
        </p:nvSpPr>
        <p:spPr>
          <a:xfrm>
            <a:off x="4754880" y="1280160"/>
            <a:ext cx="1828800" cy="502920"/>
          </a:xfrm>
          <a:prstGeom prst="roundRect">
            <a:avLst>
              <a:gd name="adj" fmla="val 14545"/>
            </a:avLst>
          </a:prstGeom>
          <a:solidFill>
            <a:srgbClr val="1D9E75"/>
          </a:solidFill>
          <a:ln w="12700">
            <a:solidFill>
              <a:srgbClr val="1D9E75"/>
            </a:solidFill>
            <a:prstDash val="solid"/>
          </a:ln>
        </p:spPr>
      </p:sp>
      <p:sp>
        <p:nvSpPr>
          <p:cNvPr id="10" name="Text 8"/>
          <p:cNvSpPr/>
          <p:nvPr/>
        </p:nvSpPr>
        <p:spPr>
          <a:xfrm>
            <a:off x="4754880" y="1280160"/>
            <a:ext cx="18288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Chercheur</a:t>
            </a:r>
            <a:endParaRPr lang="en-US" sz="1300" dirty="0"/>
          </a:p>
        </p:txBody>
      </p:sp>
      <p:sp>
        <p:nvSpPr>
          <p:cNvPr id="11" name="Shape 9"/>
          <p:cNvSpPr/>
          <p:nvPr/>
        </p:nvSpPr>
        <p:spPr>
          <a:xfrm>
            <a:off x="6766560" y="1280160"/>
            <a:ext cx="1828800" cy="502920"/>
          </a:xfrm>
          <a:prstGeom prst="roundRect">
            <a:avLst>
              <a:gd name="adj" fmla="val 14545"/>
            </a:avLst>
          </a:prstGeom>
          <a:solidFill>
            <a:srgbClr val="F59E0B"/>
          </a:solidFill>
          <a:ln w="12700">
            <a:solidFill>
              <a:srgbClr val="F59E0B"/>
            </a:solidFill>
            <a:prstDash val="solid"/>
          </a:ln>
        </p:spPr>
      </p:sp>
      <p:sp>
        <p:nvSpPr>
          <p:cNvPr id="12" name="Text 10"/>
          <p:cNvSpPr/>
          <p:nvPr/>
        </p:nvSpPr>
        <p:spPr>
          <a:xfrm>
            <a:off x="6766560" y="1280160"/>
            <a:ext cx="18288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Terrain</a:t>
            </a:r>
            <a:endParaRPr lang="en-US" sz="1300" dirty="0"/>
          </a:p>
        </p:txBody>
      </p:sp>
      <p:sp>
        <p:nvSpPr>
          <p:cNvPr id="13" name="Shape 11"/>
          <p:cNvSpPr/>
          <p:nvPr/>
        </p:nvSpPr>
        <p:spPr>
          <a:xfrm>
            <a:off x="8778240" y="1280160"/>
            <a:ext cx="1828800" cy="502920"/>
          </a:xfrm>
          <a:prstGeom prst="roundRect">
            <a:avLst>
              <a:gd name="adj" fmla="val 14545"/>
            </a:avLst>
          </a:prstGeom>
          <a:solidFill>
            <a:srgbClr val="4B5563"/>
          </a:solidFill>
          <a:ln w="12700">
            <a:solidFill>
              <a:srgbClr val="4B5563"/>
            </a:solidFill>
            <a:prstDash val="solid"/>
          </a:ln>
        </p:spPr>
      </p:sp>
      <p:sp>
        <p:nvSpPr>
          <p:cNvPr id="14" name="Text 12"/>
          <p:cNvSpPr/>
          <p:nvPr/>
        </p:nvSpPr>
        <p:spPr>
          <a:xfrm>
            <a:off x="8778240" y="1280160"/>
            <a:ext cx="18288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Lecteur</a:t>
            </a:r>
            <a:endParaRPr lang="en-US" sz="1300" dirty="0"/>
          </a:p>
        </p:txBody>
      </p:sp>
      <p:sp>
        <p:nvSpPr>
          <p:cNvPr id="15" name="Text 13"/>
          <p:cNvSpPr/>
          <p:nvPr/>
        </p:nvSpPr>
        <p:spPr>
          <a:xfrm>
            <a:off x="502920" y="1920240"/>
            <a:ext cx="2148840" cy="50292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Consulter les données</a:t>
            </a:r>
            <a:endParaRPr lang="en-US" sz="1100" dirty="0"/>
          </a:p>
        </p:txBody>
      </p:sp>
      <p:sp>
        <p:nvSpPr>
          <p:cNvPr id="16" name="Shape 14"/>
          <p:cNvSpPr/>
          <p:nvPr/>
        </p:nvSpPr>
        <p:spPr>
          <a:xfrm>
            <a:off x="2743200" y="1920240"/>
            <a:ext cx="1828800" cy="502920"/>
          </a:xfrm>
          <a:prstGeom prst="rect">
            <a:avLst/>
          </a:prstGeom>
          <a:solidFill>
            <a:srgbClr val="FFFFFF"/>
          </a:solidFill>
          <a:ln w="6350">
            <a:solidFill>
              <a:srgbClr val="E5E7EB"/>
            </a:solidFill>
            <a:prstDash val="solid"/>
          </a:ln>
        </p:spPr>
      </p:sp>
      <p:sp>
        <p:nvSpPr>
          <p:cNvPr id="17" name="Text 15"/>
          <p:cNvSpPr/>
          <p:nvPr/>
        </p:nvSpPr>
        <p:spPr>
          <a:xfrm>
            <a:off x="2743200" y="1920240"/>
            <a:ext cx="1828800" cy="502920"/>
          </a:xfrm>
          <a:prstGeom prst="rect">
            <a:avLst/>
          </a:prstGeom>
          <a:noFill/>
          <a:ln/>
        </p:spPr>
        <p:txBody>
          <a:bodyPr wrap="square" rtlCol="0" anchor="ctr"/>
          <a:lstStyle/>
          <a:p>
            <a:pPr algn="ctr" indent="0" marL="0">
              <a:buNone/>
            </a:pPr>
            <a:r>
              <a:rPr lang="en-US" sz="1400" dirty="0">
                <a:solidFill>
                  <a:srgbClr val="1D9E75"/>
                </a:solidFill>
              </a:rPr>
              <a:t>✅</a:t>
            </a:r>
            <a:endParaRPr lang="en-US" sz="1400" dirty="0"/>
          </a:p>
        </p:txBody>
      </p:sp>
      <p:sp>
        <p:nvSpPr>
          <p:cNvPr id="18" name="Shape 16"/>
          <p:cNvSpPr/>
          <p:nvPr/>
        </p:nvSpPr>
        <p:spPr>
          <a:xfrm>
            <a:off x="4754880" y="1920240"/>
            <a:ext cx="1828800" cy="502920"/>
          </a:xfrm>
          <a:prstGeom prst="rect">
            <a:avLst/>
          </a:prstGeom>
          <a:solidFill>
            <a:srgbClr val="FFFFFF"/>
          </a:solidFill>
          <a:ln w="6350">
            <a:solidFill>
              <a:srgbClr val="E5E7EB"/>
            </a:solidFill>
            <a:prstDash val="solid"/>
          </a:ln>
        </p:spPr>
      </p:sp>
      <p:sp>
        <p:nvSpPr>
          <p:cNvPr id="19" name="Text 17"/>
          <p:cNvSpPr/>
          <p:nvPr/>
        </p:nvSpPr>
        <p:spPr>
          <a:xfrm>
            <a:off x="4754880" y="1920240"/>
            <a:ext cx="1828800" cy="502920"/>
          </a:xfrm>
          <a:prstGeom prst="rect">
            <a:avLst/>
          </a:prstGeom>
          <a:noFill/>
          <a:ln/>
        </p:spPr>
        <p:txBody>
          <a:bodyPr wrap="square" rtlCol="0" anchor="ctr"/>
          <a:lstStyle/>
          <a:p>
            <a:pPr algn="ctr" indent="0" marL="0">
              <a:buNone/>
            </a:pPr>
            <a:r>
              <a:rPr lang="en-US" sz="1400" dirty="0">
                <a:solidFill>
                  <a:srgbClr val="1D9E75"/>
                </a:solidFill>
              </a:rPr>
              <a:t>✅</a:t>
            </a:r>
            <a:endParaRPr lang="en-US" sz="1400" dirty="0"/>
          </a:p>
        </p:txBody>
      </p:sp>
      <p:sp>
        <p:nvSpPr>
          <p:cNvPr id="20" name="Shape 18"/>
          <p:cNvSpPr/>
          <p:nvPr/>
        </p:nvSpPr>
        <p:spPr>
          <a:xfrm>
            <a:off x="6766560" y="1920240"/>
            <a:ext cx="1828800" cy="502920"/>
          </a:xfrm>
          <a:prstGeom prst="rect">
            <a:avLst/>
          </a:prstGeom>
          <a:solidFill>
            <a:srgbClr val="FFFFFF"/>
          </a:solidFill>
          <a:ln w="6350">
            <a:solidFill>
              <a:srgbClr val="E5E7EB"/>
            </a:solidFill>
            <a:prstDash val="solid"/>
          </a:ln>
        </p:spPr>
      </p:sp>
      <p:sp>
        <p:nvSpPr>
          <p:cNvPr id="21" name="Text 19"/>
          <p:cNvSpPr/>
          <p:nvPr/>
        </p:nvSpPr>
        <p:spPr>
          <a:xfrm>
            <a:off x="6766560" y="1920240"/>
            <a:ext cx="1828800" cy="502920"/>
          </a:xfrm>
          <a:prstGeom prst="rect">
            <a:avLst/>
          </a:prstGeom>
          <a:noFill/>
          <a:ln/>
        </p:spPr>
        <p:txBody>
          <a:bodyPr wrap="square" rtlCol="0" anchor="ctr"/>
          <a:lstStyle/>
          <a:p>
            <a:pPr algn="ctr" indent="0" marL="0">
              <a:buNone/>
            </a:pPr>
            <a:r>
              <a:rPr lang="en-US" sz="1400" dirty="0">
                <a:solidFill>
                  <a:srgbClr val="1D9E75"/>
                </a:solidFill>
              </a:rPr>
              <a:t>✅</a:t>
            </a:r>
            <a:endParaRPr lang="en-US" sz="1400" dirty="0"/>
          </a:p>
        </p:txBody>
      </p:sp>
      <p:sp>
        <p:nvSpPr>
          <p:cNvPr id="22" name="Shape 20"/>
          <p:cNvSpPr/>
          <p:nvPr/>
        </p:nvSpPr>
        <p:spPr>
          <a:xfrm>
            <a:off x="8778240" y="1920240"/>
            <a:ext cx="1828800" cy="502920"/>
          </a:xfrm>
          <a:prstGeom prst="rect">
            <a:avLst/>
          </a:prstGeom>
          <a:solidFill>
            <a:srgbClr val="FFFFFF"/>
          </a:solidFill>
          <a:ln w="6350">
            <a:solidFill>
              <a:srgbClr val="E5E7EB"/>
            </a:solidFill>
            <a:prstDash val="solid"/>
          </a:ln>
        </p:spPr>
      </p:sp>
      <p:sp>
        <p:nvSpPr>
          <p:cNvPr id="23" name="Text 21"/>
          <p:cNvSpPr/>
          <p:nvPr/>
        </p:nvSpPr>
        <p:spPr>
          <a:xfrm>
            <a:off x="8778240" y="1920240"/>
            <a:ext cx="1828800" cy="502920"/>
          </a:xfrm>
          <a:prstGeom prst="rect">
            <a:avLst/>
          </a:prstGeom>
          <a:noFill/>
          <a:ln/>
        </p:spPr>
        <p:txBody>
          <a:bodyPr wrap="square" rtlCol="0" anchor="ctr"/>
          <a:lstStyle/>
          <a:p>
            <a:pPr algn="ctr" indent="0" marL="0">
              <a:buNone/>
            </a:pPr>
            <a:r>
              <a:rPr lang="en-US" sz="1400" dirty="0">
                <a:solidFill>
                  <a:srgbClr val="1D9E75"/>
                </a:solidFill>
              </a:rPr>
              <a:t>✅</a:t>
            </a:r>
            <a:endParaRPr lang="en-US" sz="1400" dirty="0"/>
          </a:p>
        </p:txBody>
      </p:sp>
      <p:sp>
        <p:nvSpPr>
          <p:cNvPr id="24" name="Text 22"/>
          <p:cNvSpPr/>
          <p:nvPr/>
        </p:nvSpPr>
        <p:spPr>
          <a:xfrm>
            <a:off x="502920" y="2487168"/>
            <a:ext cx="2148840" cy="50292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Saisir des spécimens</a:t>
            </a:r>
            <a:endParaRPr lang="en-US" sz="1100" dirty="0"/>
          </a:p>
        </p:txBody>
      </p:sp>
      <p:sp>
        <p:nvSpPr>
          <p:cNvPr id="25" name="Shape 23"/>
          <p:cNvSpPr/>
          <p:nvPr/>
        </p:nvSpPr>
        <p:spPr>
          <a:xfrm>
            <a:off x="2743200" y="2487168"/>
            <a:ext cx="1828800" cy="502920"/>
          </a:xfrm>
          <a:prstGeom prst="rect">
            <a:avLst/>
          </a:prstGeom>
          <a:solidFill>
            <a:srgbClr val="F3F4F6"/>
          </a:solidFill>
          <a:ln w="6350">
            <a:solidFill>
              <a:srgbClr val="E5E7EB"/>
            </a:solidFill>
            <a:prstDash val="solid"/>
          </a:ln>
        </p:spPr>
      </p:sp>
      <p:sp>
        <p:nvSpPr>
          <p:cNvPr id="26" name="Text 24"/>
          <p:cNvSpPr/>
          <p:nvPr/>
        </p:nvSpPr>
        <p:spPr>
          <a:xfrm>
            <a:off x="2743200" y="2487168"/>
            <a:ext cx="1828800" cy="502920"/>
          </a:xfrm>
          <a:prstGeom prst="rect">
            <a:avLst/>
          </a:prstGeom>
          <a:noFill/>
          <a:ln/>
        </p:spPr>
        <p:txBody>
          <a:bodyPr wrap="square" rtlCol="0" anchor="ctr"/>
          <a:lstStyle/>
          <a:p>
            <a:pPr algn="ctr" indent="0" marL="0">
              <a:buNone/>
            </a:pPr>
            <a:r>
              <a:rPr lang="en-US" sz="1400" dirty="0">
                <a:solidFill>
                  <a:srgbClr val="1D9E75"/>
                </a:solidFill>
              </a:rPr>
              <a:t>✅</a:t>
            </a:r>
            <a:endParaRPr lang="en-US" sz="1400" dirty="0"/>
          </a:p>
        </p:txBody>
      </p:sp>
      <p:sp>
        <p:nvSpPr>
          <p:cNvPr id="27" name="Shape 25"/>
          <p:cNvSpPr/>
          <p:nvPr/>
        </p:nvSpPr>
        <p:spPr>
          <a:xfrm>
            <a:off x="4754880" y="2487168"/>
            <a:ext cx="1828800" cy="502920"/>
          </a:xfrm>
          <a:prstGeom prst="rect">
            <a:avLst/>
          </a:prstGeom>
          <a:solidFill>
            <a:srgbClr val="F3F4F6"/>
          </a:solidFill>
          <a:ln w="6350">
            <a:solidFill>
              <a:srgbClr val="E5E7EB"/>
            </a:solidFill>
            <a:prstDash val="solid"/>
          </a:ln>
        </p:spPr>
      </p:sp>
      <p:sp>
        <p:nvSpPr>
          <p:cNvPr id="28" name="Text 26"/>
          <p:cNvSpPr/>
          <p:nvPr/>
        </p:nvSpPr>
        <p:spPr>
          <a:xfrm>
            <a:off x="4754880" y="2487168"/>
            <a:ext cx="1828800" cy="502920"/>
          </a:xfrm>
          <a:prstGeom prst="rect">
            <a:avLst/>
          </a:prstGeom>
          <a:noFill/>
          <a:ln/>
        </p:spPr>
        <p:txBody>
          <a:bodyPr wrap="square" rtlCol="0" anchor="ctr"/>
          <a:lstStyle/>
          <a:p>
            <a:pPr algn="ctr" indent="0" marL="0">
              <a:buNone/>
            </a:pPr>
            <a:r>
              <a:rPr lang="en-US" sz="1400" dirty="0">
                <a:solidFill>
                  <a:srgbClr val="1D9E75"/>
                </a:solidFill>
              </a:rPr>
              <a:t>✅</a:t>
            </a:r>
            <a:endParaRPr lang="en-US" sz="1400" dirty="0"/>
          </a:p>
        </p:txBody>
      </p:sp>
      <p:sp>
        <p:nvSpPr>
          <p:cNvPr id="29" name="Shape 27"/>
          <p:cNvSpPr/>
          <p:nvPr/>
        </p:nvSpPr>
        <p:spPr>
          <a:xfrm>
            <a:off x="6766560" y="2487168"/>
            <a:ext cx="1828800" cy="502920"/>
          </a:xfrm>
          <a:prstGeom prst="rect">
            <a:avLst/>
          </a:prstGeom>
          <a:solidFill>
            <a:srgbClr val="F3F4F6"/>
          </a:solidFill>
          <a:ln w="6350">
            <a:solidFill>
              <a:srgbClr val="E5E7EB"/>
            </a:solidFill>
            <a:prstDash val="solid"/>
          </a:ln>
        </p:spPr>
      </p:sp>
      <p:sp>
        <p:nvSpPr>
          <p:cNvPr id="30" name="Text 28"/>
          <p:cNvSpPr/>
          <p:nvPr/>
        </p:nvSpPr>
        <p:spPr>
          <a:xfrm>
            <a:off x="6766560" y="2487168"/>
            <a:ext cx="1828800" cy="502920"/>
          </a:xfrm>
          <a:prstGeom prst="rect">
            <a:avLst/>
          </a:prstGeom>
          <a:noFill/>
          <a:ln/>
        </p:spPr>
        <p:txBody>
          <a:bodyPr wrap="square" rtlCol="0" anchor="ctr"/>
          <a:lstStyle/>
          <a:p>
            <a:pPr algn="ctr" indent="0" marL="0">
              <a:buNone/>
            </a:pPr>
            <a:r>
              <a:rPr lang="en-US" sz="1400" dirty="0">
                <a:solidFill>
                  <a:srgbClr val="1D9E75"/>
                </a:solidFill>
              </a:rPr>
              <a:t>✅</a:t>
            </a:r>
            <a:endParaRPr lang="en-US" sz="1400" dirty="0"/>
          </a:p>
        </p:txBody>
      </p:sp>
      <p:sp>
        <p:nvSpPr>
          <p:cNvPr id="31" name="Shape 29"/>
          <p:cNvSpPr/>
          <p:nvPr/>
        </p:nvSpPr>
        <p:spPr>
          <a:xfrm>
            <a:off x="8778240" y="2487168"/>
            <a:ext cx="1828800" cy="502920"/>
          </a:xfrm>
          <a:prstGeom prst="rect">
            <a:avLst/>
          </a:prstGeom>
          <a:solidFill>
            <a:srgbClr val="F3F4F6"/>
          </a:solidFill>
          <a:ln w="6350">
            <a:solidFill>
              <a:srgbClr val="E5E7EB"/>
            </a:solidFill>
            <a:prstDash val="solid"/>
          </a:ln>
        </p:spPr>
      </p:sp>
      <p:sp>
        <p:nvSpPr>
          <p:cNvPr id="32" name="Text 30"/>
          <p:cNvSpPr/>
          <p:nvPr/>
        </p:nvSpPr>
        <p:spPr>
          <a:xfrm>
            <a:off x="8778240" y="2487168"/>
            <a:ext cx="1828800" cy="502920"/>
          </a:xfrm>
          <a:prstGeom prst="rect">
            <a:avLst/>
          </a:prstGeom>
          <a:noFill/>
          <a:ln/>
        </p:spPr>
        <p:txBody>
          <a:bodyPr wrap="square" rtlCol="0" anchor="ctr"/>
          <a:lstStyle/>
          <a:p>
            <a:pPr algn="ctr" indent="0" marL="0">
              <a:buNone/>
            </a:pPr>
            <a:r>
              <a:rPr lang="en-US" sz="1400" dirty="0">
                <a:solidFill>
                  <a:srgbClr val="9CA3AF"/>
                </a:solidFill>
              </a:rPr>
              <a:t>—</a:t>
            </a:r>
            <a:endParaRPr lang="en-US" sz="1400" dirty="0"/>
          </a:p>
        </p:txBody>
      </p:sp>
      <p:sp>
        <p:nvSpPr>
          <p:cNvPr id="33" name="Text 31"/>
          <p:cNvSpPr/>
          <p:nvPr/>
        </p:nvSpPr>
        <p:spPr>
          <a:xfrm>
            <a:off x="502920" y="3054096"/>
            <a:ext cx="2148840" cy="50292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Modifier / supprimer</a:t>
            </a:r>
            <a:endParaRPr lang="en-US" sz="1100" dirty="0"/>
          </a:p>
        </p:txBody>
      </p:sp>
      <p:sp>
        <p:nvSpPr>
          <p:cNvPr id="34" name="Shape 32"/>
          <p:cNvSpPr/>
          <p:nvPr/>
        </p:nvSpPr>
        <p:spPr>
          <a:xfrm>
            <a:off x="2743200" y="3054096"/>
            <a:ext cx="1828800" cy="502920"/>
          </a:xfrm>
          <a:prstGeom prst="rect">
            <a:avLst/>
          </a:prstGeom>
          <a:solidFill>
            <a:srgbClr val="FFFFFF"/>
          </a:solidFill>
          <a:ln w="6350">
            <a:solidFill>
              <a:srgbClr val="E5E7EB"/>
            </a:solidFill>
            <a:prstDash val="solid"/>
          </a:ln>
        </p:spPr>
      </p:sp>
      <p:sp>
        <p:nvSpPr>
          <p:cNvPr id="35" name="Text 33"/>
          <p:cNvSpPr/>
          <p:nvPr/>
        </p:nvSpPr>
        <p:spPr>
          <a:xfrm>
            <a:off x="2743200" y="3054096"/>
            <a:ext cx="1828800" cy="502920"/>
          </a:xfrm>
          <a:prstGeom prst="rect">
            <a:avLst/>
          </a:prstGeom>
          <a:noFill/>
          <a:ln/>
        </p:spPr>
        <p:txBody>
          <a:bodyPr wrap="square" rtlCol="0" anchor="ctr"/>
          <a:lstStyle/>
          <a:p>
            <a:pPr algn="ctr" indent="0" marL="0">
              <a:buNone/>
            </a:pPr>
            <a:r>
              <a:rPr lang="en-US" sz="1400" dirty="0">
                <a:solidFill>
                  <a:srgbClr val="1D9E75"/>
                </a:solidFill>
              </a:rPr>
              <a:t>✅</a:t>
            </a:r>
            <a:endParaRPr lang="en-US" sz="1400" dirty="0"/>
          </a:p>
        </p:txBody>
      </p:sp>
      <p:sp>
        <p:nvSpPr>
          <p:cNvPr id="36" name="Shape 34"/>
          <p:cNvSpPr/>
          <p:nvPr/>
        </p:nvSpPr>
        <p:spPr>
          <a:xfrm>
            <a:off x="4754880" y="3054096"/>
            <a:ext cx="1828800" cy="502920"/>
          </a:xfrm>
          <a:prstGeom prst="rect">
            <a:avLst/>
          </a:prstGeom>
          <a:solidFill>
            <a:srgbClr val="FFFFFF"/>
          </a:solidFill>
          <a:ln w="6350">
            <a:solidFill>
              <a:srgbClr val="E5E7EB"/>
            </a:solidFill>
            <a:prstDash val="solid"/>
          </a:ln>
        </p:spPr>
      </p:sp>
      <p:sp>
        <p:nvSpPr>
          <p:cNvPr id="37" name="Text 35"/>
          <p:cNvSpPr/>
          <p:nvPr/>
        </p:nvSpPr>
        <p:spPr>
          <a:xfrm>
            <a:off x="4754880" y="3054096"/>
            <a:ext cx="1828800" cy="502920"/>
          </a:xfrm>
          <a:prstGeom prst="rect">
            <a:avLst/>
          </a:prstGeom>
          <a:noFill/>
          <a:ln/>
        </p:spPr>
        <p:txBody>
          <a:bodyPr wrap="square" rtlCol="0" anchor="ctr"/>
          <a:lstStyle/>
          <a:p>
            <a:pPr algn="ctr" indent="0" marL="0">
              <a:buNone/>
            </a:pPr>
            <a:r>
              <a:rPr lang="en-US" sz="1400" dirty="0">
                <a:solidFill>
                  <a:srgbClr val="1D9E75"/>
                </a:solidFill>
              </a:rPr>
              <a:t>✅</a:t>
            </a:r>
            <a:endParaRPr lang="en-US" sz="1400" dirty="0"/>
          </a:p>
        </p:txBody>
      </p:sp>
      <p:sp>
        <p:nvSpPr>
          <p:cNvPr id="38" name="Shape 36"/>
          <p:cNvSpPr/>
          <p:nvPr/>
        </p:nvSpPr>
        <p:spPr>
          <a:xfrm>
            <a:off x="6766560" y="3054096"/>
            <a:ext cx="1828800" cy="502920"/>
          </a:xfrm>
          <a:prstGeom prst="rect">
            <a:avLst/>
          </a:prstGeom>
          <a:solidFill>
            <a:srgbClr val="FFFFFF"/>
          </a:solidFill>
          <a:ln w="6350">
            <a:solidFill>
              <a:srgbClr val="E5E7EB"/>
            </a:solidFill>
            <a:prstDash val="solid"/>
          </a:ln>
        </p:spPr>
      </p:sp>
      <p:sp>
        <p:nvSpPr>
          <p:cNvPr id="39" name="Text 37"/>
          <p:cNvSpPr/>
          <p:nvPr/>
        </p:nvSpPr>
        <p:spPr>
          <a:xfrm>
            <a:off x="6766560" y="3054096"/>
            <a:ext cx="1828800" cy="502920"/>
          </a:xfrm>
          <a:prstGeom prst="rect">
            <a:avLst/>
          </a:prstGeom>
          <a:noFill/>
          <a:ln/>
        </p:spPr>
        <p:txBody>
          <a:bodyPr wrap="square" rtlCol="0" anchor="ctr"/>
          <a:lstStyle/>
          <a:p>
            <a:pPr algn="ctr" indent="0" marL="0">
              <a:buNone/>
            </a:pPr>
            <a:r>
              <a:rPr lang="en-US" sz="1400" dirty="0">
                <a:solidFill>
                  <a:srgbClr val="9CA3AF"/>
                </a:solidFill>
              </a:rPr>
              <a:t>—</a:t>
            </a:r>
            <a:endParaRPr lang="en-US" sz="1400" dirty="0"/>
          </a:p>
        </p:txBody>
      </p:sp>
      <p:sp>
        <p:nvSpPr>
          <p:cNvPr id="40" name="Shape 38"/>
          <p:cNvSpPr/>
          <p:nvPr/>
        </p:nvSpPr>
        <p:spPr>
          <a:xfrm>
            <a:off x="8778240" y="3054096"/>
            <a:ext cx="1828800" cy="502920"/>
          </a:xfrm>
          <a:prstGeom prst="rect">
            <a:avLst/>
          </a:prstGeom>
          <a:solidFill>
            <a:srgbClr val="FFFFFF"/>
          </a:solidFill>
          <a:ln w="6350">
            <a:solidFill>
              <a:srgbClr val="E5E7EB"/>
            </a:solidFill>
            <a:prstDash val="solid"/>
          </a:ln>
        </p:spPr>
      </p:sp>
      <p:sp>
        <p:nvSpPr>
          <p:cNvPr id="41" name="Text 39"/>
          <p:cNvSpPr/>
          <p:nvPr/>
        </p:nvSpPr>
        <p:spPr>
          <a:xfrm>
            <a:off x="8778240" y="3054096"/>
            <a:ext cx="1828800" cy="502920"/>
          </a:xfrm>
          <a:prstGeom prst="rect">
            <a:avLst/>
          </a:prstGeom>
          <a:noFill/>
          <a:ln/>
        </p:spPr>
        <p:txBody>
          <a:bodyPr wrap="square" rtlCol="0" anchor="ctr"/>
          <a:lstStyle/>
          <a:p>
            <a:pPr algn="ctr" indent="0" marL="0">
              <a:buNone/>
            </a:pPr>
            <a:r>
              <a:rPr lang="en-US" sz="1400" dirty="0">
                <a:solidFill>
                  <a:srgbClr val="9CA3AF"/>
                </a:solidFill>
              </a:rPr>
              <a:t>—</a:t>
            </a:r>
            <a:endParaRPr lang="en-US" sz="1400" dirty="0"/>
          </a:p>
        </p:txBody>
      </p:sp>
      <p:sp>
        <p:nvSpPr>
          <p:cNvPr id="42" name="Text 40"/>
          <p:cNvSpPr/>
          <p:nvPr/>
        </p:nvSpPr>
        <p:spPr>
          <a:xfrm>
            <a:off x="502920" y="3621024"/>
            <a:ext cx="2148840" cy="50292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Importer / Exporter Excel</a:t>
            </a:r>
            <a:endParaRPr lang="en-US" sz="1100" dirty="0"/>
          </a:p>
        </p:txBody>
      </p:sp>
      <p:sp>
        <p:nvSpPr>
          <p:cNvPr id="43" name="Shape 41"/>
          <p:cNvSpPr/>
          <p:nvPr/>
        </p:nvSpPr>
        <p:spPr>
          <a:xfrm>
            <a:off x="2743200" y="3621024"/>
            <a:ext cx="1828800" cy="502920"/>
          </a:xfrm>
          <a:prstGeom prst="rect">
            <a:avLst/>
          </a:prstGeom>
          <a:solidFill>
            <a:srgbClr val="F3F4F6"/>
          </a:solidFill>
          <a:ln w="6350">
            <a:solidFill>
              <a:srgbClr val="E5E7EB"/>
            </a:solidFill>
            <a:prstDash val="solid"/>
          </a:ln>
        </p:spPr>
      </p:sp>
      <p:sp>
        <p:nvSpPr>
          <p:cNvPr id="44" name="Text 42"/>
          <p:cNvSpPr/>
          <p:nvPr/>
        </p:nvSpPr>
        <p:spPr>
          <a:xfrm>
            <a:off x="2743200" y="3621024"/>
            <a:ext cx="1828800" cy="502920"/>
          </a:xfrm>
          <a:prstGeom prst="rect">
            <a:avLst/>
          </a:prstGeom>
          <a:noFill/>
          <a:ln/>
        </p:spPr>
        <p:txBody>
          <a:bodyPr wrap="square" rtlCol="0" anchor="ctr"/>
          <a:lstStyle/>
          <a:p>
            <a:pPr algn="ctr" indent="0" marL="0">
              <a:buNone/>
            </a:pPr>
            <a:r>
              <a:rPr lang="en-US" sz="1400" dirty="0">
                <a:solidFill>
                  <a:srgbClr val="1D9E75"/>
                </a:solidFill>
              </a:rPr>
              <a:t>✅</a:t>
            </a:r>
            <a:endParaRPr lang="en-US" sz="1400" dirty="0"/>
          </a:p>
        </p:txBody>
      </p:sp>
      <p:sp>
        <p:nvSpPr>
          <p:cNvPr id="45" name="Shape 43"/>
          <p:cNvSpPr/>
          <p:nvPr/>
        </p:nvSpPr>
        <p:spPr>
          <a:xfrm>
            <a:off x="4754880" y="3621024"/>
            <a:ext cx="1828800" cy="502920"/>
          </a:xfrm>
          <a:prstGeom prst="rect">
            <a:avLst/>
          </a:prstGeom>
          <a:solidFill>
            <a:srgbClr val="F3F4F6"/>
          </a:solidFill>
          <a:ln w="6350">
            <a:solidFill>
              <a:srgbClr val="E5E7EB"/>
            </a:solidFill>
            <a:prstDash val="solid"/>
          </a:ln>
        </p:spPr>
      </p:sp>
      <p:sp>
        <p:nvSpPr>
          <p:cNvPr id="46" name="Text 44"/>
          <p:cNvSpPr/>
          <p:nvPr/>
        </p:nvSpPr>
        <p:spPr>
          <a:xfrm>
            <a:off x="4754880" y="3621024"/>
            <a:ext cx="1828800" cy="502920"/>
          </a:xfrm>
          <a:prstGeom prst="rect">
            <a:avLst/>
          </a:prstGeom>
          <a:noFill/>
          <a:ln/>
        </p:spPr>
        <p:txBody>
          <a:bodyPr wrap="square" rtlCol="0" anchor="ctr"/>
          <a:lstStyle/>
          <a:p>
            <a:pPr algn="ctr" indent="0" marL="0">
              <a:buNone/>
            </a:pPr>
            <a:r>
              <a:rPr lang="en-US" sz="1400" dirty="0">
                <a:solidFill>
                  <a:srgbClr val="1D9E75"/>
                </a:solidFill>
              </a:rPr>
              <a:t>✅</a:t>
            </a:r>
            <a:endParaRPr lang="en-US" sz="1400" dirty="0"/>
          </a:p>
        </p:txBody>
      </p:sp>
      <p:sp>
        <p:nvSpPr>
          <p:cNvPr id="47" name="Shape 45"/>
          <p:cNvSpPr/>
          <p:nvPr/>
        </p:nvSpPr>
        <p:spPr>
          <a:xfrm>
            <a:off x="6766560" y="3621024"/>
            <a:ext cx="1828800" cy="502920"/>
          </a:xfrm>
          <a:prstGeom prst="rect">
            <a:avLst/>
          </a:prstGeom>
          <a:solidFill>
            <a:srgbClr val="F3F4F6"/>
          </a:solidFill>
          <a:ln w="6350">
            <a:solidFill>
              <a:srgbClr val="E5E7EB"/>
            </a:solidFill>
            <a:prstDash val="solid"/>
          </a:ln>
        </p:spPr>
      </p:sp>
      <p:sp>
        <p:nvSpPr>
          <p:cNvPr id="48" name="Text 46"/>
          <p:cNvSpPr/>
          <p:nvPr/>
        </p:nvSpPr>
        <p:spPr>
          <a:xfrm>
            <a:off x="6766560" y="3621024"/>
            <a:ext cx="1828800" cy="502920"/>
          </a:xfrm>
          <a:prstGeom prst="rect">
            <a:avLst/>
          </a:prstGeom>
          <a:noFill/>
          <a:ln/>
        </p:spPr>
        <p:txBody>
          <a:bodyPr wrap="square" rtlCol="0" anchor="ctr"/>
          <a:lstStyle/>
          <a:p>
            <a:pPr algn="ctr" indent="0" marL="0">
              <a:buNone/>
            </a:pPr>
            <a:r>
              <a:rPr lang="en-US" sz="1400" dirty="0">
                <a:solidFill>
                  <a:srgbClr val="9CA3AF"/>
                </a:solidFill>
              </a:rPr>
              <a:t>—</a:t>
            </a:r>
            <a:endParaRPr lang="en-US" sz="1400" dirty="0"/>
          </a:p>
        </p:txBody>
      </p:sp>
      <p:sp>
        <p:nvSpPr>
          <p:cNvPr id="49" name="Shape 47"/>
          <p:cNvSpPr/>
          <p:nvPr/>
        </p:nvSpPr>
        <p:spPr>
          <a:xfrm>
            <a:off x="8778240" y="3621024"/>
            <a:ext cx="1828800" cy="502920"/>
          </a:xfrm>
          <a:prstGeom prst="rect">
            <a:avLst/>
          </a:prstGeom>
          <a:solidFill>
            <a:srgbClr val="F3F4F6"/>
          </a:solidFill>
          <a:ln w="6350">
            <a:solidFill>
              <a:srgbClr val="E5E7EB"/>
            </a:solidFill>
            <a:prstDash val="solid"/>
          </a:ln>
        </p:spPr>
      </p:sp>
      <p:sp>
        <p:nvSpPr>
          <p:cNvPr id="50" name="Text 48"/>
          <p:cNvSpPr/>
          <p:nvPr/>
        </p:nvSpPr>
        <p:spPr>
          <a:xfrm>
            <a:off x="8778240" y="3621024"/>
            <a:ext cx="1828800" cy="502920"/>
          </a:xfrm>
          <a:prstGeom prst="rect">
            <a:avLst/>
          </a:prstGeom>
          <a:noFill/>
          <a:ln/>
        </p:spPr>
        <p:txBody>
          <a:bodyPr wrap="square" rtlCol="0" anchor="ctr"/>
          <a:lstStyle/>
          <a:p>
            <a:pPr algn="ctr" indent="0" marL="0">
              <a:buNone/>
            </a:pPr>
            <a:r>
              <a:rPr lang="en-US" sz="1400" dirty="0">
                <a:solidFill>
                  <a:srgbClr val="9CA3AF"/>
                </a:solidFill>
              </a:rPr>
              <a:t>—</a:t>
            </a:r>
            <a:endParaRPr lang="en-US" sz="1400" dirty="0"/>
          </a:p>
        </p:txBody>
      </p:sp>
      <p:sp>
        <p:nvSpPr>
          <p:cNvPr id="51" name="Text 49"/>
          <p:cNvSpPr/>
          <p:nvPr/>
        </p:nvSpPr>
        <p:spPr>
          <a:xfrm>
            <a:off x="502920" y="4187952"/>
            <a:ext cx="2148840" cy="50292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Gérer les projets &amp; missions</a:t>
            </a:r>
            <a:endParaRPr lang="en-US" sz="1100" dirty="0"/>
          </a:p>
        </p:txBody>
      </p:sp>
      <p:sp>
        <p:nvSpPr>
          <p:cNvPr id="52" name="Shape 50"/>
          <p:cNvSpPr/>
          <p:nvPr/>
        </p:nvSpPr>
        <p:spPr>
          <a:xfrm>
            <a:off x="2743200" y="4187952"/>
            <a:ext cx="1828800" cy="502920"/>
          </a:xfrm>
          <a:prstGeom prst="rect">
            <a:avLst/>
          </a:prstGeom>
          <a:solidFill>
            <a:srgbClr val="FFFFFF"/>
          </a:solidFill>
          <a:ln w="6350">
            <a:solidFill>
              <a:srgbClr val="E5E7EB"/>
            </a:solidFill>
            <a:prstDash val="solid"/>
          </a:ln>
        </p:spPr>
      </p:sp>
      <p:sp>
        <p:nvSpPr>
          <p:cNvPr id="53" name="Text 51"/>
          <p:cNvSpPr/>
          <p:nvPr/>
        </p:nvSpPr>
        <p:spPr>
          <a:xfrm>
            <a:off x="2743200" y="4187952"/>
            <a:ext cx="1828800" cy="502920"/>
          </a:xfrm>
          <a:prstGeom prst="rect">
            <a:avLst/>
          </a:prstGeom>
          <a:noFill/>
          <a:ln/>
        </p:spPr>
        <p:txBody>
          <a:bodyPr wrap="square" rtlCol="0" anchor="ctr"/>
          <a:lstStyle/>
          <a:p>
            <a:pPr algn="ctr" indent="0" marL="0">
              <a:buNone/>
            </a:pPr>
            <a:r>
              <a:rPr lang="en-US" sz="1400" dirty="0">
                <a:solidFill>
                  <a:srgbClr val="1D9E75"/>
                </a:solidFill>
              </a:rPr>
              <a:t>✅</a:t>
            </a:r>
            <a:endParaRPr lang="en-US" sz="1400" dirty="0"/>
          </a:p>
        </p:txBody>
      </p:sp>
      <p:sp>
        <p:nvSpPr>
          <p:cNvPr id="54" name="Shape 52"/>
          <p:cNvSpPr/>
          <p:nvPr/>
        </p:nvSpPr>
        <p:spPr>
          <a:xfrm>
            <a:off x="4754880" y="4187952"/>
            <a:ext cx="1828800" cy="502920"/>
          </a:xfrm>
          <a:prstGeom prst="rect">
            <a:avLst/>
          </a:prstGeom>
          <a:solidFill>
            <a:srgbClr val="FFFFFF"/>
          </a:solidFill>
          <a:ln w="6350">
            <a:solidFill>
              <a:srgbClr val="E5E7EB"/>
            </a:solidFill>
            <a:prstDash val="solid"/>
          </a:ln>
        </p:spPr>
      </p:sp>
      <p:sp>
        <p:nvSpPr>
          <p:cNvPr id="55" name="Text 53"/>
          <p:cNvSpPr/>
          <p:nvPr/>
        </p:nvSpPr>
        <p:spPr>
          <a:xfrm>
            <a:off x="4754880" y="4187952"/>
            <a:ext cx="1828800" cy="502920"/>
          </a:xfrm>
          <a:prstGeom prst="rect">
            <a:avLst/>
          </a:prstGeom>
          <a:noFill/>
          <a:ln/>
        </p:spPr>
        <p:txBody>
          <a:bodyPr wrap="square" rtlCol="0" anchor="ctr"/>
          <a:lstStyle/>
          <a:p>
            <a:pPr algn="ctr" indent="0" marL="0">
              <a:buNone/>
            </a:pPr>
            <a:r>
              <a:rPr lang="en-US" sz="1400" dirty="0">
                <a:solidFill>
                  <a:srgbClr val="1D9E75"/>
                </a:solidFill>
              </a:rPr>
              <a:t>✅</a:t>
            </a:r>
            <a:endParaRPr lang="en-US" sz="1400" dirty="0"/>
          </a:p>
        </p:txBody>
      </p:sp>
      <p:sp>
        <p:nvSpPr>
          <p:cNvPr id="56" name="Shape 54"/>
          <p:cNvSpPr/>
          <p:nvPr/>
        </p:nvSpPr>
        <p:spPr>
          <a:xfrm>
            <a:off x="6766560" y="4187952"/>
            <a:ext cx="1828800" cy="502920"/>
          </a:xfrm>
          <a:prstGeom prst="rect">
            <a:avLst/>
          </a:prstGeom>
          <a:solidFill>
            <a:srgbClr val="FFFFFF"/>
          </a:solidFill>
          <a:ln w="6350">
            <a:solidFill>
              <a:srgbClr val="E5E7EB"/>
            </a:solidFill>
            <a:prstDash val="solid"/>
          </a:ln>
        </p:spPr>
      </p:sp>
      <p:sp>
        <p:nvSpPr>
          <p:cNvPr id="57" name="Text 55"/>
          <p:cNvSpPr/>
          <p:nvPr/>
        </p:nvSpPr>
        <p:spPr>
          <a:xfrm>
            <a:off x="6766560" y="4187952"/>
            <a:ext cx="1828800" cy="502920"/>
          </a:xfrm>
          <a:prstGeom prst="rect">
            <a:avLst/>
          </a:prstGeom>
          <a:noFill/>
          <a:ln/>
        </p:spPr>
        <p:txBody>
          <a:bodyPr wrap="square" rtlCol="0" anchor="ctr"/>
          <a:lstStyle/>
          <a:p>
            <a:pPr algn="ctr" indent="0" marL="0">
              <a:buNone/>
            </a:pPr>
            <a:r>
              <a:rPr lang="en-US" sz="1400" dirty="0">
                <a:solidFill>
                  <a:srgbClr val="9CA3AF"/>
                </a:solidFill>
              </a:rPr>
              <a:t>—</a:t>
            </a:r>
            <a:endParaRPr lang="en-US" sz="1400" dirty="0"/>
          </a:p>
        </p:txBody>
      </p:sp>
      <p:sp>
        <p:nvSpPr>
          <p:cNvPr id="58" name="Shape 56"/>
          <p:cNvSpPr/>
          <p:nvPr/>
        </p:nvSpPr>
        <p:spPr>
          <a:xfrm>
            <a:off x="8778240" y="4187952"/>
            <a:ext cx="1828800" cy="502920"/>
          </a:xfrm>
          <a:prstGeom prst="rect">
            <a:avLst/>
          </a:prstGeom>
          <a:solidFill>
            <a:srgbClr val="FFFFFF"/>
          </a:solidFill>
          <a:ln w="6350">
            <a:solidFill>
              <a:srgbClr val="E5E7EB"/>
            </a:solidFill>
            <a:prstDash val="solid"/>
          </a:ln>
        </p:spPr>
      </p:sp>
      <p:sp>
        <p:nvSpPr>
          <p:cNvPr id="59" name="Text 57"/>
          <p:cNvSpPr/>
          <p:nvPr/>
        </p:nvSpPr>
        <p:spPr>
          <a:xfrm>
            <a:off x="8778240" y="4187952"/>
            <a:ext cx="1828800" cy="502920"/>
          </a:xfrm>
          <a:prstGeom prst="rect">
            <a:avLst/>
          </a:prstGeom>
          <a:noFill/>
          <a:ln/>
        </p:spPr>
        <p:txBody>
          <a:bodyPr wrap="square" rtlCol="0" anchor="ctr"/>
          <a:lstStyle/>
          <a:p>
            <a:pPr algn="ctr" indent="0" marL="0">
              <a:buNone/>
            </a:pPr>
            <a:r>
              <a:rPr lang="en-US" sz="1400" dirty="0">
                <a:solidFill>
                  <a:srgbClr val="9CA3AF"/>
                </a:solidFill>
              </a:rPr>
              <a:t>—</a:t>
            </a:r>
            <a:endParaRPr lang="en-US" sz="1400" dirty="0"/>
          </a:p>
        </p:txBody>
      </p:sp>
      <p:sp>
        <p:nvSpPr>
          <p:cNvPr id="60" name="Text 58"/>
          <p:cNvSpPr/>
          <p:nvPr/>
        </p:nvSpPr>
        <p:spPr>
          <a:xfrm>
            <a:off x="502920" y="4754880"/>
            <a:ext cx="2148840" cy="50292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Gérer les utilisateurs</a:t>
            </a:r>
            <a:endParaRPr lang="en-US" sz="1100" dirty="0"/>
          </a:p>
        </p:txBody>
      </p:sp>
      <p:sp>
        <p:nvSpPr>
          <p:cNvPr id="61" name="Shape 59"/>
          <p:cNvSpPr/>
          <p:nvPr/>
        </p:nvSpPr>
        <p:spPr>
          <a:xfrm>
            <a:off x="2743200" y="4754880"/>
            <a:ext cx="1828800" cy="502920"/>
          </a:xfrm>
          <a:prstGeom prst="rect">
            <a:avLst/>
          </a:prstGeom>
          <a:solidFill>
            <a:srgbClr val="F3F4F6"/>
          </a:solidFill>
          <a:ln w="6350">
            <a:solidFill>
              <a:srgbClr val="E5E7EB"/>
            </a:solidFill>
            <a:prstDash val="solid"/>
          </a:ln>
        </p:spPr>
      </p:sp>
      <p:sp>
        <p:nvSpPr>
          <p:cNvPr id="62" name="Text 60"/>
          <p:cNvSpPr/>
          <p:nvPr/>
        </p:nvSpPr>
        <p:spPr>
          <a:xfrm>
            <a:off x="2743200" y="4754880"/>
            <a:ext cx="1828800" cy="502920"/>
          </a:xfrm>
          <a:prstGeom prst="rect">
            <a:avLst/>
          </a:prstGeom>
          <a:noFill/>
          <a:ln/>
        </p:spPr>
        <p:txBody>
          <a:bodyPr wrap="square" rtlCol="0" anchor="ctr"/>
          <a:lstStyle/>
          <a:p>
            <a:pPr algn="ctr" indent="0" marL="0">
              <a:buNone/>
            </a:pPr>
            <a:r>
              <a:rPr lang="en-US" sz="1400" dirty="0">
                <a:solidFill>
                  <a:srgbClr val="1D9E75"/>
                </a:solidFill>
              </a:rPr>
              <a:t>✅</a:t>
            </a:r>
            <a:endParaRPr lang="en-US" sz="1400" dirty="0"/>
          </a:p>
        </p:txBody>
      </p:sp>
      <p:sp>
        <p:nvSpPr>
          <p:cNvPr id="63" name="Shape 61"/>
          <p:cNvSpPr/>
          <p:nvPr/>
        </p:nvSpPr>
        <p:spPr>
          <a:xfrm>
            <a:off x="4754880" y="4754880"/>
            <a:ext cx="1828800" cy="502920"/>
          </a:xfrm>
          <a:prstGeom prst="rect">
            <a:avLst/>
          </a:prstGeom>
          <a:solidFill>
            <a:srgbClr val="F3F4F6"/>
          </a:solidFill>
          <a:ln w="6350">
            <a:solidFill>
              <a:srgbClr val="E5E7EB"/>
            </a:solidFill>
            <a:prstDash val="solid"/>
          </a:ln>
        </p:spPr>
      </p:sp>
      <p:sp>
        <p:nvSpPr>
          <p:cNvPr id="64" name="Text 62"/>
          <p:cNvSpPr/>
          <p:nvPr/>
        </p:nvSpPr>
        <p:spPr>
          <a:xfrm>
            <a:off x="4754880" y="4754880"/>
            <a:ext cx="1828800" cy="502920"/>
          </a:xfrm>
          <a:prstGeom prst="rect">
            <a:avLst/>
          </a:prstGeom>
          <a:noFill/>
          <a:ln/>
        </p:spPr>
        <p:txBody>
          <a:bodyPr wrap="square" rtlCol="0" anchor="ctr"/>
          <a:lstStyle/>
          <a:p>
            <a:pPr algn="ctr" indent="0" marL="0">
              <a:buNone/>
            </a:pPr>
            <a:r>
              <a:rPr lang="en-US" sz="1400" dirty="0">
                <a:solidFill>
                  <a:srgbClr val="9CA3AF"/>
                </a:solidFill>
              </a:rPr>
              <a:t>—</a:t>
            </a:r>
            <a:endParaRPr lang="en-US" sz="1400" dirty="0"/>
          </a:p>
        </p:txBody>
      </p:sp>
      <p:sp>
        <p:nvSpPr>
          <p:cNvPr id="65" name="Shape 63"/>
          <p:cNvSpPr/>
          <p:nvPr/>
        </p:nvSpPr>
        <p:spPr>
          <a:xfrm>
            <a:off x="6766560" y="4754880"/>
            <a:ext cx="1828800" cy="502920"/>
          </a:xfrm>
          <a:prstGeom prst="rect">
            <a:avLst/>
          </a:prstGeom>
          <a:solidFill>
            <a:srgbClr val="F3F4F6"/>
          </a:solidFill>
          <a:ln w="6350">
            <a:solidFill>
              <a:srgbClr val="E5E7EB"/>
            </a:solidFill>
            <a:prstDash val="solid"/>
          </a:ln>
        </p:spPr>
      </p:sp>
      <p:sp>
        <p:nvSpPr>
          <p:cNvPr id="66" name="Text 64"/>
          <p:cNvSpPr/>
          <p:nvPr/>
        </p:nvSpPr>
        <p:spPr>
          <a:xfrm>
            <a:off x="6766560" y="4754880"/>
            <a:ext cx="1828800" cy="502920"/>
          </a:xfrm>
          <a:prstGeom prst="rect">
            <a:avLst/>
          </a:prstGeom>
          <a:noFill/>
          <a:ln/>
        </p:spPr>
        <p:txBody>
          <a:bodyPr wrap="square" rtlCol="0" anchor="ctr"/>
          <a:lstStyle/>
          <a:p>
            <a:pPr algn="ctr" indent="0" marL="0">
              <a:buNone/>
            </a:pPr>
            <a:r>
              <a:rPr lang="en-US" sz="1400" dirty="0">
                <a:solidFill>
                  <a:srgbClr val="9CA3AF"/>
                </a:solidFill>
              </a:rPr>
              <a:t>—</a:t>
            </a:r>
            <a:endParaRPr lang="en-US" sz="1400" dirty="0"/>
          </a:p>
        </p:txBody>
      </p:sp>
      <p:sp>
        <p:nvSpPr>
          <p:cNvPr id="67" name="Shape 65"/>
          <p:cNvSpPr/>
          <p:nvPr/>
        </p:nvSpPr>
        <p:spPr>
          <a:xfrm>
            <a:off x="8778240" y="4754880"/>
            <a:ext cx="1828800" cy="502920"/>
          </a:xfrm>
          <a:prstGeom prst="rect">
            <a:avLst/>
          </a:prstGeom>
          <a:solidFill>
            <a:srgbClr val="F3F4F6"/>
          </a:solidFill>
          <a:ln w="6350">
            <a:solidFill>
              <a:srgbClr val="E5E7EB"/>
            </a:solidFill>
            <a:prstDash val="solid"/>
          </a:ln>
        </p:spPr>
      </p:sp>
      <p:sp>
        <p:nvSpPr>
          <p:cNvPr id="68" name="Text 66"/>
          <p:cNvSpPr/>
          <p:nvPr/>
        </p:nvSpPr>
        <p:spPr>
          <a:xfrm>
            <a:off x="8778240" y="4754880"/>
            <a:ext cx="1828800" cy="502920"/>
          </a:xfrm>
          <a:prstGeom prst="rect">
            <a:avLst/>
          </a:prstGeom>
          <a:noFill/>
          <a:ln/>
        </p:spPr>
        <p:txBody>
          <a:bodyPr wrap="square" rtlCol="0" anchor="ctr"/>
          <a:lstStyle/>
          <a:p>
            <a:pPr algn="ctr" indent="0" marL="0">
              <a:buNone/>
            </a:pPr>
            <a:r>
              <a:rPr lang="en-US" sz="1400" dirty="0">
                <a:solidFill>
                  <a:srgbClr val="9CA3AF"/>
                </a:solidFill>
              </a:rPr>
              <a:t>—</a:t>
            </a:r>
            <a:endParaRPr lang="en-US" sz="1400" dirty="0"/>
          </a:p>
        </p:txBody>
      </p:sp>
      <p:sp>
        <p:nvSpPr>
          <p:cNvPr id="69" name="Text 67"/>
          <p:cNvSpPr/>
          <p:nvPr/>
        </p:nvSpPr>
        <p:spPr>
          <a:xfrm>
            <a:off x="502920" y="5321808"/>
            <a:ext cx="2148840" cy="50292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Accéder aux logs d'audit</a:t>
            </a:r>
            <a:endParaRPr lang="en-US" sz="1100" dirty="0"/>
          </a:p>
        </p:txBody>
      </p:sp>
      <p:sp>
        <p:nvSpPr>
          <p:cNvPr id="70" name="Shape 68"/>
          <p:cNvSpPr/>
          <p:nvPr/>
        </p:nvSpPr>
        <p:spPr>
          <a:xfrm>
            <a:off x="2743200" y="5321808"/>
            <a:ext cx="1828800" cy="502920"/>
          </a:xfrm>
          <a:prstGeom prst="rect">
            <a:avLst/>
          </a:prstGeom>
          <a:solidFill>
            <a:srgbClr val="FFFFFF"/>
          </a:solidFill>
          <a:ln w="6350">
            <a:solidFill>
              <a:srgbClr val="E5E7EB"/>
            </a:solidFill>
            <a:prstDash val="solid"/>
          </a:ln>
        </p:spPr>
      </p:sp>
      <p:sp>
        <p:nvSpPr>
          <p:cNvPr id="71" name="Text 69"/>
          <p:cNvSpPr/>
          <p:nvPr/>
        </p:nvSpPr>
        <p:spPr>
          <a:xfrm>
            <a:off x="2743200" y="5321808"/>
            <a:ext cx="1828800" cy="502920"/>
          </a:xfrm>
          <a:prstGeom prst="rect">
            <a:avLst/>
          </a:prstGeom>
          <a:noFill/>
          <a:ln/>
        </p:spPr>
        <p:txBody>
          <a:bodyPr wrap="square" rtlCol="0" anchor="ctr"/>
          <a:lstStyle/>
          <a:p>
            <a:pPr algn="ctr" indent="0" marL="0">
              <a:buNone/>
            </a:pPr>
            <a:r>
              <a:rPr lang="en-US" sz="1400" dirty="0">
                <a:solidFill>
                  <a:srgbClr val="1D9E75"/>
                </a:solidFill>
              </a:rPr>
              <a:t>✅</a:t>
            </a:r>
            <a:endParaRPr lang="en-US" sz="1400" dirty="0"/>
          </a:p>
        </p:txBody>
      </p:sp>
      <p:sp>
        <p:nvSpPr>
          <p:cNvPr id="72" name="Shape 70"/>
          <p:cNvSpPr/>
          <p:nvPr/>
        </p:nvSpPr>
        <p:spPr>
          <a:xfrm>
            <a:off x="4754880" y="5321808"/>
            <a:ext cx="1828800" cy="502920"/>
          </a:xfrm>
          <a:prstGeom prst="rect">
            <a:avLst/>
          </a:prstGeom>
          <a:solidFill>
            <a:srgbClr val="FFFFFF"/>
          </a:solidFill>
          <a:ln w="6350">
            <a:solidFill>
              <a:srgbClr val="E5E7EB"/>
            </a:solidFill>
            <a:prstDash val="solid"/>
          </a:ln>
        </p:spPr>
      </p:sp>
      <p:sp>
        <p:nvSpPr>
          <p:cNvPr id="73" name="Text 71"/>
          <p:cNvSpPr/>
          <p:nvPr/>
        </p:nvSpPr>
        <p:spPr>
          <a:xfrm>
            <a:off x="4754880" y="5321808"/>
            <a:ext cx="1828800" cy="502920"/>
          </a:xfrm>
          <a:prstGeom prst="rect">
            <a:avLst/>
          </a:prstGeom>
          <a:noFill/>
          <a:ln/>
        </p:spPr>
        <p:txBody>
          <a:bodyPr wrap="square" rtlCol="0" anchor="ctr"/>
          <a:lstStyle/>
          <a:p>
            <a:pPr algn="ctr" indent="0" marL="0">
              <a:buNone/>
            </a:pPr>
            <a:r>
              <a:rPr lang="en-US" sz="1400" dirty="0">
                <a:solidFill>
                  <a:srgbClr val="9CA3AF"/>
                </a:solidFill>
              </a:rPr>
              <a:t>—</a:t>
            </a:r>
            <a:endParaRPr lang="en-US" sz="1400" dirty="0"/>
          </a:p>
        </p:txBody>
      </p:sp>
      <p:sp>
        <p:nvSpPr>
          <p:cNvPr id="74" name="Shape 72"/>
          <p:cNvSpPr/>
          <p:nvPr/>
        </p:nvSpPr>
        <p:spPr>
          <a:xfrm>
            <a:off x="6766560" y="5321808"/>
            <a:ext cx="1828800" cy="502920"/>
          </a:xfrm>
          <a:prstGeom prst="rect">
            <a:avLst/>
          </a:prstGeom>
          <a:solidFill>
            <a:srgbClr val="FFFFFF"/>
          </a:solidFill>
          <a:ln w="6350">
            <a:solidFill>
              <a:srgbClr val="E5E7EB"/>
            </a:solidFill>
            <a:prstDash val="solid"/>
          </a:ln>
        </p:spPr>
      </p:sp>
      <p:sp>
        <p:nvSpPr>
          <p:cNvPr id="75" name="Text 73"/>
          <p:cNvSpPr/>
          <p:nvPr/>
        </p:nvSpPr>
        <p:spPr>
          <a:xfrm>
            <a:off x="6766560" y="5321808"/>
            <a:ext cx="1828800" cy="502920"/>
          </a:xfrm>
          <a:prstGeom prst="rect">
            <a:avLst/>
          </a:prstGeom>
          <a:noFill/>
          <a:ln/>
        </p:spPr>
        <p:txBody>
          <a:bodyPr wrap="square" rtlCol="0" anchor="ctr"/>
          <a:lstStyle/>
          <a:p>
            <a:pPr algn="ctr" indent="0" marL="0">
              <a:buNone/>
            </a:pPr>
            <a:r>
              <a:rPr lang="en-US" sz="1400" dirty="0">
                <a:solidFill>
                  <a:srgbClr val="9CA3AF"/>
                </a:solidFill>
              </a:rPr>
              <a:t>—</a:t>
            </a:r>
            <a:endParaRPr lang="en-US" sz="1400" dirty="0"/>
          </a:p>
        </p:txBody>
      </p:sp>
      <p:sp>
        <p:nvSpPr>
          <p:cNvPr id="76" name="Shape 74"/>
          <p:cNvSpPr/>
          <p:nvPr/>
        </p:nvSpPr>
        <p:spPr>
          <a:xfrm>
            <a:off x="8778240" y="5321808"/>
            <a:ext cx="1828800" cy="502920"/>
          </a:xfrm>
          <a:prstGeom prst="rect">
            <a:avLst/>
          </a:prstGeom>
          <a:solidFill>
            <a:srgbClr val="FFFFFF"/>
          </a:solidFill>
          <a:ln w="6350">
            <a:solidFill>
              <a:srgbClr val="E5E7EB"/>
            </a:solidFill>
            <a:prstDash val="solid"/>
          </a:ln>
        </p:spPr>
      </p:sp>
      <p:sp>
        <p:nvSpPr>
          <p:cNvPr id="77" name="Text 75"/>
          <p:cNvSpPr/>
          <p:nvPr/>
        </p:nvSpPr>
        <p:spPr>
          <a:xfrm>
            <a:off x="8778240" y="5321808"/>
            <a:ext cx="1828800" cy="502920"/>
          </a:xfrm>
          <a:prstGeom prst="rect">
            <a:avLst/>
          </a:prstGeom>
          <a:noFill/>
          <a:ln/>
        </p:spPr>
        <p:txBody>
          <a:bodyPr wrap="square" rtlCol="0" anchor="ctr"/>
          <a:lstStyle/>
          <a:p>
            <a:pPr algn="ctr" indent="0" marL="0">
              <a:buNone/>
            </a:pPr>
            <a:r>
              <a:rPr lang="en-US" sz="1400" dirty="0">
                <a:solidFill>
                  <a:srgbClr val="9CA3AF"/>
                </a:solidFill>
              </a:rPr>
              <a:t>—</a:t>
            </a:r>
            <a:endParaRPr lang="en-US" sz="1400" dirty="0"/>
          </a:p>
        </p:txBody>
      </p:sp>
      <p:sp>
        <p:nvSpPr>
          <p:cNvPr id="78" name="Shape 76"/>
          <p:cNvSpPr/>
          <p:nvPr/>
        </p:nvSpPr>
        <p:spPr>
          <a:xfrm>
            <a:off x="502920" y="5897880"/>
            <a:ext cx="2423160" cy="411480"/>
          </a:xfrm>
          <a:prstGeom prst="roundRect">
            <a:avLst>
              <a:gd name="adj" fmla="val 17778"/>
            </a:avLst>
          </a:prstGeom>
          <a:solidFill>
            <a:srgbClr val="E8F7F2"/>
          </a:solidFill>
          <a:ln w="12700">
            <a:solidFill>
              <a:srgbClr val="1D9E75"/>
            </a:solidFill>
            <a:prstDash val="solid"/>
          </a:ln>
        </p:spPr>
      </p:sp>
      <p:sp>
        <p:nvSpPr>
          <p:cNvPr id="79" name="Text 77"/>
          <p:cNvSpPr/>
          <p:nvPr/>
        </p:nvSpPr>
        <p:spPr>
          <a:xfrm>
            <a:off x="594360" y="5916168"/>
            <a:ext cx="2286000" cy="374904"/>
          </a:xfrm>
          <a:prstGeom prst="rect">
            <a:avLst/>
          </a:prstGeom>
          <a:noFill/>
          <a:ln/>
        </p:spPr>
        <p:txBody>
          <a:bodyPr wrap="square" rtlCol="0" anchor="ctr"/>
          <a:lstStyle/>
          <a:p>
            <a:pPr indent="0" marL="0">
              <a:buNone/>
            </a:pPr>
            <a:r>
              <a:rPr lang="en-US" sz="1000" b="1" dirty="0">
                <a:solidFill>
                  <a:srgbClr val="157A5A"/>
                </a:solidFill>
                <a:latin typeface="Calibri" pitchFamily="34" charset="0"/>
                <a:ea typeface="Calibri" pitchFamily="34" charset="-122"/>
                <a:cs typeface="Calibri" pitchFamily="34" charset="-120"/>
              </a:rPr>
              <a:t>🔐  JWT — Tokens sécurisés</a:t>
            </a:r>
            <a:endParaRPr lang="en-US" sz="1000" dirty="0"/>
          </a:p>
        </p:txBody>
      </p:sp>
      <p:sp>
        <p:nvSpPr>
          <p:cNvPr id="80" name="Shape 78"/>
          <p:cNvSpPr/>
          <p:nvPr/>
        </p:nvSpPr>
        <p:spPr>
          <a:xfrm>
            <a:off x="3200400" y="5897880"/>
            <a:ext cx="2423160" cy="411480"/>
          </a:xfrm>
          <a:prstGeom prst="roundRect">
            <a:avLst>
              <a:gd name="adj" fmla="val 17778"/>
            </a:avLst>
          </a:prstGeom>
          <a:solidFill>
            <a:srgbClr val="E8F7F2"/>
          </a:solidFill>
          <a:ln w="12700">
            <a:solidFill>
              <a:srgbClr val="1D9E75"/>
            </a:solidFill>
            <a:prstDash val="solid"/>
          </a:ln>
        </p:spPr>
      </p:sp>
      <p:sp>
        <p:nvSpPr>
          <p:cNvPr id="81" name="Text 79"/>
          <p:cNvSpPr/>
          <p:nvPr/>
        </p:nvSpPr>
        <p:spPr>
          <a:xfrm>
            <a:off x="3291840" y="5916168"/>
            <a:ext cx="2286000" cy="374904"/>
          </a:xfrm>
          <a:prstGeom prst="rect">
            <a:avLst/>
          </a:prstGeom>
          <a:noFill/>
          <a:ln/>
        </p:spPr>
        <p:txBody>
          <a:bodyPr wrap="square" rtlCol="0" anchor="ctr"/>
          <a:lstStyle/>
          <a:p>
            <a:pPr indent="0" marL="0">
              <a:buNone/>
            </a:pPr>
            <a:r>
              <a:rPr lang="en-US" sz="1000" b="1" dirty="0">
                <a:solidFill>
                  <a:srgbClr val="157A5A"/>
                </a:solidFill>
                <a:latin typeface="Calibri" pitchFamily="34" charset="0"/>
                <a:ea typeface="Calibri" pitchFamily="34" charset="-122"/>
                <a:cs typeface="Calibri" pitchFamily="34" charset="-120"/>
              </a:rPr>
              <a:t>👤  Activation manuelle des comptes</a:t>
            </a:r>
            <a:endParaRPr lang="en-US" sz="1000" dirty="0"/>
          </a:p>
        </p:txBody>
      </p:sp>
      <p:sp>
        <p:nvSpPr>
          <p:cNvPr id="82" name="Shape 80"/>
          <p:cNvSpPr/>
          <p:nvPr/>
        </p:nvSpPr>
        <p:spPr>
          <a:xfrm>
            <a:off x="5897880" y="5897880"/>
            <a:ext cx="2423160" cy="411480"/>
          </a:xfrm>
          <a:prstGeom prst="roundRect">
            <a:avLst>
              <a:gd name="adj" fmla="val 17778"/>
            </a:avLst>
          </a:prstGeom>
          <a:solidFill>
            <a:srgbClr val="E8F7F2"/>
          </a:solidFill>
          <a:ln w="12700">
            <a:solidFill>
              <a:srgbClr val="1D9E75"/>
            </a:solidFill>
            <a:prstDash val="solid"/>
          </a:ln>
        </p:spPr>
      </p:sp>
      <p:sp>
        <p:nvSpPr>
          <p:cNvPr id="83" name="Text 81"/>
          <p:cNvSpPr/>
          <p:nvPr/>
        </p:nvSpPr>
        <p:spPr>
          <a:xfrm>
            <a:off x="5989320" y="5916168"/>
            <a:ext cx="2286000" cy="374904"/>
          </a:xfrm>
          <a:prstGeom prst="rect">
            <a:avLst/>
          </a:prstGeom>
          <a:noFill/>
          <a:ln/>
        </p:spPr>
        <p:txBody>
          <a:bodyPr wrap="square" rtlCol="0" anchor="ctr"/>
          <a:lstStyle/>
          <a:p>
            <a:pPr indent="0" marL="0">
              <a:buNone/>
            </a:pPr>
            <a:r>
              <a:rPr lang="en-US" sz="1000" b="1" dirty="0">
                <a:solidFill>
                  <a:srgbClr val="157A5A"/>
                </a:solidFill>
                <a:latin typeface="Calibri" pitchFamily="34" charset="0"/>
                <a:ea typeface="Calibri" pitchFamily="34" charset="-122"/>
                <a:cs typeface="Calibri" pitchFamily="34" charset="-120"/>
              </a:rPr>
              <a:t>📋  Journal d'audit complet</a:t>
            </a:r>
            <a:endParaRPr lang="en-US" sz="1000" dirty="0"/>
          </a:p>
        </p:txBody>
      </p:sp>
      <p:sp>
        <p:nvSpPr>
          <p:cNvPr id="84" name="Shape 82"/>
          <p:cNvSpPr/>
          <p:nvPr/>
        </p:nvSpPr>
        <p:spPr>
          <a:xfrm>
            <a:off x="8595360" y="5897880"/>
            <a:ext cx="2423160" cy="411480"/>
          </a:xfrm>
          <a:prstGeom prst="roundRect">
            <a:avLst>
              <a:gd name="adj" fmla="val 17778"/>
            </a:avLst>
          </a:prstGeom>
          <a:solidFill>
            <a:srgbClr val="E8F7F2"/>
          </a:solidFill>
          <a:ln w="12700">
            <a:solidFill>
              <a:srgbClr val="1D9E75"/>
            </a:solidFill>
            <a:prstDash val="solid"/>
          </a:ln>
        </p:spPr>
      </p:sp>
      <p:sp>
        <p:nvSpPr>
          <p:cNvPr id="85" name="Text 83"/>
          <p:cNvSpPr/>
          <p:nvPr/>
        </p:nvSpPr>
        <p:spPr>
          <a:xfrm>
            <a:off x="8686800" y="5916168"/>
            <a:ext cx="2286000" cy="374904"/>
          </a:xfrm>
          <a:prstGeom prst="rect">
            <a:avLst/>
          </a:prstGeom>
          <a:noFill/>
          <a:ln/>
        </p:spPr>
        <p:txBody>
          <a:bodyPr wrap="square" rtlCol="0" anchor="ctr"/>
          <a:lstStyle/>
          <a:p>
            <a:pPr indent="0" marL="0">
              <a:buNone/>
            </a:pPr>
            <a:r>
              <a:rPr lang="en-US" sz="1000" b="1" dirty="0">
                <a:solidFill>
                  <a:srgbClr val="157A5A"/>
                </a:solidFill>
                <a:latin typeface="Calibri" pitchFamily="34" charset="0"/>
                <a:ea typeface="Calibri" pitchFamily="34" charset="-122"/>
                <a:cs typeface="Calibri" pitchFamily="34" charset="-120"/>
              </a:rPr>
              <a:t>🏠  Données hébergées sur NAS IPM</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AFAFA"/>
          </a:solidFill>
          <a:ln/>
        </p:spPr>
      </p:sp>
      <p:sp>
        <p:nvSpPr>
          <p:cNvPr id="3" name="Shape 1"/>
          <p:cNvSpPr/>
          <p:nvPr/>
        </p:nvSpPr>
        <p:spPr>
          <a:xfrm>
            <a:off x="0" y="0"/>
            <a:ext cx="73152" cy="6858000"/>
          </a:xfrm>
          <a:prstGeom prst="rect">
            <a:avLst/>
          </a:prstGeom>
          <a:solidFill>
            <a:srgbClr val="1D9E75"/>
          </a:solidFill>
          <a:ln/>
        </p:spPr>
      </p:sp>
      <p:sp>
        <p:nvSpPr>
          <p:cNvPr id="4" name="Text 2"/>
          <p:cNvSpPr/>
          <p:nvPr/>
        </p:nvSpPr>
        <p:spPr>
          <a:xfrm>
            <a:off x="0" y="6492240"/>
            <a:ext cx="12192000" cy="274320"/>
          </a:xfrm>
          <a:prstGeom prst="rect">
            <a:avLst/>
          </a:prstGeom>
          <a:noFill/>
          <a:ln/>
        </p:spPr>
        <p:txBody>
          <a:bodyPr wrap="square"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SpécimenManager  ·  Institut Pasteur Madagascar  ·  8/10</a:t>
            </a:r>
            <a:endParaRPr lang="en-US" sz="900" dirty="0"/>
          </a:p>
        </p:txBody>
      </p:sp>
      <p:sp>
        <p:nvSpPr>
          <p:cNvPr id="5" name="Text 3"/>
          <p:cNvSpPr/>
          <p:nvPr/>
        </p:nvSpPr>
        <p:spPr>
          <a:xfrm>
            <a:off x="457200" y="320040"/>
            <a:ext cx="10515600" cy="640080"/>
          </a:xfrm>
          <a:prstGeom prst="rect">
            <a:avLst/>
          </a:prstGeom>
          <a:noFill/>
          <a:ln/>
        </p:spPr>
        <p:txBody>
          <a:bodyPr wrap="square"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Comment l'application a été construite</a:t>
            </a:r>
            <a:endParaRPr lang="en-US" sz="2600" dirty="0"/>
          </a:p>
        </p:txBody>
      </p:sp>
      <p:sp>
        <p:nvSpPr>
          <p:cNvPr id="6" name="Shape 4"/>
          <p:cNvSpPr/>
          <p:nvPr/>
        </p:nvSpPr>
        <p:spPr>
          <a:xfrm>
            <a:off x="457200" y="1005840"/>
            <a:ext cx="10515600" cy="0"/>
          </a:xfrm>
          <a:prstGeom prst="line">
            <a:avLst/>
          </a:prstGeom>
          <a:noFill/>
          <a:ln w="12700">
            <a:solidFill>
              <a:srgbClr val="E5E7EB"/>
            </a:solidFill>
            <a:prstDash val="solid"/>
          </a:ln>
        </p:spPr>
      </p:sp>
      <p:sp>
        <p:nvSpPr>
          <p:cNvPr id="7" name="Shape 5"/>
          <p:cNvSpPr/>
          <p:nvPr/>
        </p:nvSpPr>
        <p:spPr>
          <a:xfrm>
            <a:off x="1234440" y="1371600"/>
            <a:ext cx="822960" cy="822960"/>
          </a:xfrm>
          <a:prstGeom prst="ellipse">
            <a:avLst/>
          </a:prstGeom>
          <a:solidFill>
            <a:srgbClr val="1D9E75"/>
          </a:solidFill>
          <a:ln w="12700">
            <a:solidFill>
              <a:srgbClr val="1D9E75"/>
            </a:solidFill>
            <a:prstDash val="solid"/>
          </a:ln>
        </p:spPr>
      </p:sp>
      <p:sp>
        <p:nvSpPr>
          <p:cNvPr id="8" name="Text 6"/>
          <p:cNvSpPr/>
          <p:nvPr/>
        </p:nvSpPr>
        <p:spPr>
          <a:xfrm>
            <a:off x="1234440" y="1371600"/>
            <a:ext cx="822960" cy="822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9" name="Shape 7"/>
          <p:cNvSpPr/>
          <p:nvPr/>
        </p:nvSpPr>
        <p:spPr>
          <a:xfrm>
            <a:off x="2075688" y="1783080"/>
            <a:ext cx="1170432" cy="0"/>
          </a:xfrm>
          <a:prstGeom prst="line">
            <a:avLst/>
          </a:prstGeom>
          <a:noFill/>
          <a:ln w="25400">
            <a:solidFill>
              <a:srgbClr val="E5E7EB"/>
            </a:solidFill>
            <a:prstDash val="solid"/>
          </a:ln>
        </p:spPr>
      </p:sp>
      <p:sp>
        <p:nvSpPr>
          <p:cNvPr id="10" name="Text 8"/>
          <p:cNvSpPr/>
          <p:nvPr/>
        </p:nvSpPr>
        <p:spPr>
          <a:xfrm>
            <a:off x="502920" y="2331720"/>
            <a:ext cx="2286000" cy="411480"/>
          </a:xfrm>
          <a:prstGeom prst="rect">
            <a:avLst/>
          </a:prstGeom>
          <a:noFill/>
          <a:ln/>
        </p:spPr>
        <p:txBody>
          <a:bodyPr wrap="square" rtlCol="0" anchor="ctr"/>
          <a:lstStyle/>
          <a:p>
            <a:pPr algn="ctr" indent="0" marL="0">
              <a:buNone/>
            </a:pPr>
            <a:r>
              <a:rPr lang="en-US" sz="1300" b="1" dirty="0">
                <a:solidFill>
                  <a:srgbClr val="111827"/>
                </a:solidFill>
                <a:latin typeface="Calibri" pitchFamily="34" charset="0"/>
                <a:ea typeface="Calibri" pitchFamily="34" charset="-122"/>
                <a:cs typeface="Calibri" pitchFamily="34" charset="-120"/>
              </a:rPr>
              <a:t>Analyse des besoins</a:t>
            </a:r>
            <a:endParaRPr lang="en-US" sz="1300" dirty="0"/>
          </a:p>
        </p:txBody>
      </p:sp>
      <p:sp>
        <p:nvSpPr>
          <p:cNvPr id="11" name="Text 9"/>
          <p:cNvSpPr/>
          <p:nvPr/>
        </p:nvSpPr>
        <p:spPr>
          <a:xfrm>
            <a:off x="502920" y="2788920"/>
            <a:ext cx="2286000" cy="914400"/>
          </a:xfrm>
          <a:prstGeom prst="rect">
            <a:avLst/>
          </a:prstGeom>
          <a:noFill/>
          <a:ln/>
        </p:spPr>
        <p:txBody>
          <a:bodyPr wrap="square" rtlCol="0" anchor="ctr"/>
          <a:lstStyle/>
          <a:p>
            <a:pPr algn="ctr" indent="0" marL="0">
              <a:lnSpc>
                <a:spcPct val="130000"/>
              </a:lnSpc>
              <a:buNone/>
            </a:pPr>
            <a:r>
              <a:rPr lang="en-US" sz="1050" dirty="0">
                <a:solidFill>
                  <a:srgbClr val="4B5563"/>
                </a:solidFill>
                <a:latin typeface="Calibri" pitchFamily="34" charset="0"/>
                <a:ea typeface="Calibri" pitchFamily="34" charset="-122"/>
                <a:cs typeface="Calibri" pitchFamily="34" charset="-120"/>
              </a:rPr>
              <a:t>Interviews terrain &amp; chercheurs</a:t>
            </a:r>
            <a:endParaRPr lang="en-US" sz="1050" dirty="0"/>
          </a:p>
          <a:p>
            <a:pPr algn="ctr" indent="0" marL="0">
              <a:lnSpc>
                <a:spcPct val="130000"/>
              </a:lnSpc>
              <a:buNone/>
            </a:pPr>
            <a:r>
              <a:rPr lang="en-US" sz="1050" dirty="0">
                <a:solidFill>
                  <a:srgbClr val="4B5563"/>
                </a:solidFill>
                <a:latin typeface="Calibri" pitchFamily="34" charset="0"/>
                <a:ea typeface="Calibri" pitchFamily="34" charset="-122"/>
                <a:cs typeface="Calibri" pitchFamily="34" charset="-120"/>
              </a:rPr>
              <a:t>Identification de chaque champ métier</a:t>
            </a:r>
            <a:endParaRPr lang="en-US" sz="1050" dirty="0"/>
          </a:p>
        </p:txBody>
      </p:sp>
      <p:sp>
        <p:nvSpPr>
          <p:cNvPr id="12" name="Shape 10"/>
          <p:cNvSpPr/>
          <p:nvPr/>
        </p:nvSpPr>
        <p:spPr>
          <a:xfrm>
            <a:off x="3977640" y="1371600"/>
            <a:ext cx="822960" cy="822960"/>
          </a:xfrm>
          <a:prstGeom prst="ellipse">
            <a:avLst/>
          </a:prstGeom>
          <a:solidFill>
            <a:srgbClr val="0D9488"/>
          </a:solidFill>
          <a:ln w="12700">
            <a:solidFill>
              <a:srgbClr val="0D9488"/>
            </a:solidFill>
            <a:prstDash val="solid"/>
          </a:ln>
        </p:spPr>
      </p:sp>
      <p:sp>
        <p:nvSpPr>
          <p:cNvPr id="13" name="Text 11"/>
          <p:cNvSpPr/>
          <p:nvPr/>
        </p:nvSpPr>
        <p:spPr>
          <a:xfrm>
            <a:off x="3977640" y="1371600"/>
            <a:ext cx="822960" cy="822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4" name="Shape 12"/>
          <p:cNvSpPr/>
          <p:nvPr/>
        </p:nvSpPr>
        <p:spPr>
          <a:xfrm>
            <a:off x="4818888" y="1783080"/>
            <a:ext cx="1170432" cy="0"/>
          </a:xfrm>
          <a:prstGeom prst="line">
            <a:avLst/>
          </a:prstGeom>
          <a:noFill/>
          <a:ln w="25400">
            <a:solidFill>
              <a:srgbClr val="E5E7EB"/>
            </a:solidFill>
            <a:prstDash val="solid"/>
          </a:ln>
        </p:spPr>
      </p:sp>
      <p:sp>
        <p:nvSpPr>
          <p:cNvPr id="15" name="Text 13"/>
          <p:cNvSpPr/>
          <p:nvPr/>
        </p:nvSpPr>
        <p:spPr>
          <a:xfrm>
            <a:off x="3246120" y="2331720"/>
            <a:ext cx="2286000" cy="411480"/>
          </a:xfrm>
          <a:prstGeom prst="rect">
            <a:avLst/>
          </a:prstGeom>
          <a:noFill/>
          <a:ln/>
        </p:spPr>
        <p:txBody>
          <a:bodyPr wrap="square" rtlCol="0" anchor="ctr"/>
          <a:lstStyle/>
          <a:p>
            <a:pPr algn="ctr" indent="0" marL="0">
              <a:buNone/>
            </a:pPr>
            <a:r>
              <a:rPr lang="en-US" sz="1300" b="1" dirty="0">
                <a:solidFill>
                  <a:srgbClr val="111827"/>
                </a:solidFill>
                <a:latin typeface="Calibri" pitchFamily="34" charset="0"/>
                <a:ea typeface="Calibri" pitchFamily="34" charset="-122"/>
                <a:cs typeface="Calibri" pitchFamily="34" charset="-120"/>
              </a:rPr>
              <a:t>Conception</a:t>
            </a:r>
            <a:endParaRPr lang="en-US" sz="1300" dirty="0"/>
          </a:p>
        </p:txBody>
      </p:sp>
      <p:sp>
        <p:nvSpPr>
          <p:cNvPr id="16" name="Text 14"/>
          <p:cNvSpPr/>
          <p:nvPr/>
        </p:nvSpPr>
        <p:spPr>
          <a:xfrm>
            <a:off x="3246120" y="2788920"/>
            <a:ext cx="2286000" cy="914400"/>
          </a:xfrm>
          <a:prstGeom prst="rect">
            <a:avLst/>
          </a:prstGeom>
          <a:noFill/>
          <a:ln/>
        </p:spPr>
        <p:txBody>
          <a:bodyPr wrap="square" rtlCol="0" anchor="ctr"/>
          <a:lstStyle/>
          <a:p>
            <a:pPr algn="ctr" indent="0" marL="0">
              <a:lnSpc>
                <a:spcPct val="130000"/>
              </a:lnSpc>
              <a:buNone/>
            </a:pPr>
            <a:r>
              <a:rPr lang="en-US" sz="1050" dirty="0">
                <a:solidFill>
                  <a:srgbClr val="4B5563"/>
                </a:solidFill>
                <a:latin typeface="Calibri" pitchFamily="34" charset="0"/>
                <a:ea typeface="Calibri" pitchFamily="34" charset="-122"/>
                <a:cs typeface="Calibri" pitchFamily="34" charset="-120"/>
              </a:rPr>
              <a:t>Schéma de données</a:t>
            </a:r>
            <a:endParaRPr lang="en-US" sz="1050" dirty="0"/>
          </a:p>
          <a:p>
            <a:pPr algn="ctr" indent="0" marL="0">
              <a:lnSpc>
                <a:spcPct val="130000"/>
              </a:lnSpc>
              <a:buNone/>
            </a:pPr>
            <a:r>
              <a:rPr lang="en-US" sz="1050" dirty="0">
                <a:solidFill>
                  <a:srgbClr val="4B5563"/>
                </a:solidFill>
                <a:latin typeface="Calibri" pitchFamily="34" charset="0"/>
                <a:ea typeface="Calibri" pitchFamily="34" charset="-122"/>
                <a:cs typeface="Calibri" pitchFamily="34" charset="-120"/>
              </a:rPr>
              <a:t>Hiérarchie Projet → Spécimen</a:t>
            </a:r>
            <a:endParaRPr lang="en-US" sz="1050" dirty="0"/>
          </a:p>
        </p:txBody>
      </p:sp>
      <p:sp>
        <p:nvSpPr>
          <p:cNvPr id="17" name="Shape 15"/>
          <p:cNvSpPr/>
          <p:nvPr/>
        </p:nvSpPr>
        <p:spPr>
          <a:xfrm>
            <a:off x="6720840" y="1371600"/>
            <a:ext cx="822960" cy="822960"/>
          </a:xfrm>
          <a:prstGeom prst="ellipse">
            <a:avLst/>
          </a:prstGeom>
          <a:solidFill>
            <a:srgbClr val="F59E0B"/>
          </a:solidFill>
          <a:ln w="12700">
            <a:solidFill>
              <a:srgbClr val="F59E0B"/>
            </a:solidFill>
            <a:prstDash val="solid"/>
          </a:ln>
        </p:spPr>
      </p:sp>
      <p:sp>
        <p:nvSpPr>
          <p:cNvPr id="18" name="Text 16"/>
          <p:cNvSpPr/>
          <p:nvPr/>
        </p:nvSpPr>
        <p:spPr>
          <a:xfrm>
            <a:off x="6720840" y="1371600"/>
            <a:ext cx="822960" cy="822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19" name="Shape 17"/>
          <p:cNvSpPr/>
          <p:nvPr/>
        </p:nvSpPr>
        <p:spPr>
          <a:xfrm>
            <a:off x="7562088" y="1783080"/>
            <a:ext cx="1170432" cy="0"/>
          </a:xfrm>
          <a:prstGeom prst="line">
            <a:avLst/>
          </a:prstGeom>
          <a:noFill/>
          <a:ln w="25400">
            <a:solidFill>
              <a:srgbClr val="E5E7EB"/>
            </a:solidFill>
            <a:prstDash val="solid"/>
          </a:ln>
        </p:spPr>
      </p:sp>
      <p:sp>
        <p:nvSpPr>
          <p:cNvPr id="20" name="Text 18"/>
          <p:cNvSpPr/>
          <p:nvPr/>
        </p:nvSpPr>
        <p:spPr>
          <a:xfrm>
            <a:off x="5989320" y="2331720"/>
            <a:ext cx="2286000" cy="411480"/>
          </a:xfrm>
          <a:prstGeom prst="rect">
            <a:avLst/>
          </a:prstGeom>
          <a:noFill/>
          <a:ln/>
        </p:spPr>
        <p:txBody>
          <a:bodyPr wrap="square" rtlCol="0" anchor="ctr"/>
          <a:lstStyle/>
          <a:p>
            <a:pPr algn="ctr" indent="0" marL="0">
              <a:buNone/>
            </a:pPr>
            <a:r>
              <a:rPr lang="en-US" sz="1300" b="1" dirty="0">
                <a:solidFill>
                  <a:srgbClr val="111827"/>
                </a:solidFill>
                <a:latin typeface="Calibri" pitchFamily="34" charset="0"/>
                <a:ea typeface="Calibri" pitchFamily="34" charset="-122"/>
                <a:cs typeface="Calibri" pitchFamily="34" charset="-120"/>
              </a:rPr>
              <a:t>Développement</a:t>
            </a:r>
            <a:endParaRPr lang="en-US" sz="1300" dirty="0"/>
          </a:p>
        </p:txBody>
      </p:sp>
      <p:sp>
        <p:nvSpPr>
          <p:cNvPr id="21" name="Text 19"/>
          <p:cNvSpPr/>
          <p:nvPr/>
        </p:nvSpPr>
        <p:spPr>
          <a:xfrm>
            <a:off x="5989320" y="2788920"/>
            <a:ext cx="2286000" cy="914400"/>
          </a:xfrm>
          <a:prstGeom prst="rect">
            <a:avLst/>
          </a:prstGeom>
          <a:noFill/>
          <a:ln/>
        </p:spPr>
        <p:txBody>
          <a:bodyPr wrap="square" rtlCol="0" anchor="ctr"/>
          <a:lstStyle/>
          <a:p>
            <a:pPr algn="ctr" indent="0" marL="0">
              <a:lnSpc>
                <a:spcPct val="130000"/>
              </a:lnSpc>
              <a:buNone/>
            </a:pPr>
            <a:r>
              <a:rPr lang="en-US" sz="1050" dirty="0">
                <a:solidFill>
                  <a:srgbClr val="4B5563"/>
                </a:solidFill>
                <a:latin typeface="Calibri" pitchFamily="34" charset="0"/>
                <a:ea typeface="Calibri" pitchFamily="34" charset="-122"/>
                <a:cs typeface="Calibri" pitchFamily="34" charset="-120"/>
              </a:rPr>
              <a:t>Application web complète</a:t>
            </a:r>
            <a:endParaRPr lang="en-US" sz="1050" dirty="0"/>
          </a:p>
          <a:p>
            <a:pPr algn="ctr" indent="0" marL="0">
              <a:lnSpc>
                <a:spcPct val="130000"/>
              </a:lnSpc>
              <a:buNone/>
            </a:pPr>
            <a:r>
              <a:rPr lang="en-US" sz="1050" dirty="0">
                <a:solidFill>
                  <a:srgbClr val="4B5563"/>
                </a:solidFill>
                <a:latin typeface="Calibri" pitchFamily="34" charset="0"/>
                <a:ea typeface="Calibri" pitchFamily="34" charset="-122"/>
                <a:cs typeface="Calibri" pitchFamily="34" charset="-120"/>
              </a:rPr>
              <a:t>Testée &amp; validée en continu</a:t>
            </a:r>
            <a:endParaRPr lang="en-US" sz="1050" dirty="0"/>
          </a:p>
        </p:txBody>
      </p:sp>
      <p:sp>
        <p:nvSpPr>
          <p:cNvPr id="22" name="Shape 20"/>
          <p:cNvSpPr/>
          <p:nvPr/>
        </p:nvSpPr>
        <p:spPr>
          <a:xfrm>
            <a:off x="9464040" y="1371600"/>
            <a:ext cx="822960" cy="822960"/>
          </a:xfrm>
          <a:prstGeom prst="ellipse">
            <a:avLst/>
          </a:prstGeom>
          <a:solidFill>
            <a:srgbClr val="157A5A"/>
          </a:solidFill>
          <a:ln w="12700">
            <a:solidFill>
              <a:srgbClr val="157A5A"/>
            </a:solidFill>
            <a:prstDash val="solid"/>
          </a:ln>
        </p:spPr>
      </p:sp>
      <p:sp>
        <p:nvSpPr>
          <p:cNvPr id="23" name="Text 21"/>
          <p:cNvSpPr/>
          <p:nvPr/>
        </p:nvSpPr>
        <p:spPr>
          <a:xfrm>
            <a:off x="9464040" y="1371600"/>
            <a:ext cx="822960" cy="822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4" name="Text 22"/>
          <p:cNvSpPr/>
          <p:nvPr/>
        </p:nvSpPr>
        <p:spPr>
          <a:xfrm>
            <a:off x="8732520" y="2331720"/>
            <a:ext cx="2286000" cy="411480"/>
          </a:xfrm>
          <a:prstGeom prst="rect">
            <a:avLst/>
          </a:prstGeom>
          <a:noFill/>
          <a:ln/>
        </p:spPr>
        <p:txBody>
          <a:bodyPr wrap="square" rtlCol="0" anchor="ctr"/>
          <a:lstStyle/>
          <a:p>
            <a:pPr algn="ctr" indent="0" marL="0">
              <a:buNone/>
            </a:pPr>
            <a:r>
              <a:rPr lang="en-US" sz="1300" b="1" dirty="0">
                <a:solidFill>
                  <a:srgbClr val="111827"/>
                </a:solidFill>
                <a:latin typeface="Calibri" pitchFamily="34" charset="0"/>
                <a:ea typeface="Calibri" pitchFamily="34" charset="-122"/>
                <a:cs typeface="Calibri" pitchFamily="34" charset="-120"/>
              </a:rPr>
              <a:t>Déploiement</a:t>
            </a:r>
            <a:endParaRPr lang="en-US" sz="1300" dirty="0"/>
          </a:p>
        </p:txBody>
      </p:sp>
      <p:sp>
        <p:nvSpPr>
          <p:cNvPr id="25" name="Text 23"/>
          <p:cNvSpPr/>
          <p:nvPr/>
        </p:nvSpPr>
        <p:spPr>
          <a:xfrm>
            <a:off x="8732520" y="2788920"/>
            <a:ext cx="2286000" cy="914400"/>
          </a:xfrm>
          <a:prstGeom prst="rect">
            <a:avLst/>
          </a:prstGeom>
          <a:noFill/>
          <a:ln/>
        </p:spPr>
        <p:txBody>
          <a:bodyPr wrap="square" rtlCol="0" anchor="ctr"/>
          <a:lstStyle/>
          <a:p>
            <a:pPr algn="ctr" indent="0" marL="0">
              <a:lnSpc>
                <a:spcPct val="130000"/>
              </a:lnSpc>
              <a:buNone/>
            </a:pPr>
            <a:r>
              <a:rPr lang="en-US" sz="1050" dirty="0">
                <a:solidFill>
                  <a:srgbClr val="4B5563"/>
                </a:solidFill>
                <a:latin typeface="Calibri" pitchFamily="34" charset="0"/>
                <a:ea typeface="Calibri" pitchFamily="34" charset="-122"/>
                <a:cs typeface="Calibri" pitchFamily="34" charset="-120"/>
              </a:rPr>
              <a:t>Docker + Nginx</a:t>
            </a:r>
            <a:endParaRPr lang="en-US" sz="1050" dirty="0"/>
          </a:p>
          <a:p>
            <a:pPr algn="ctr" indent="0" marL="0">
              <a:lnSpc>
                <a:spcPct val="130000"/>
              </a:lnSpc>
              <a:buNone/>
            </a:pPr>
            <a:r>
              <a:rPr lang="en-US" sz="1050" dirty="0">
                <a:solidFill>
                  <a:srgbClr val="4B5563"/>
                </a:solidFill>
                <a:latin typeface="Calibri" pitchFamily="34" charset="0"/>
                <a:ea typeface="Calibri" pitchFamily="34" charset="-122"/>
                <a:cs typeface="Calibri" pitchFamily="34" charset="-120"/>
              </a:rPr>
              <a:t>Serveur NAS IPM Synology</a:t>
            </a:r>
            <a:endParaRPr lang="en-US" sz="1050" dirty="0"/>
          </a:p>
        </p:txBody>
      </p:sp>
      <p:sp>
        <p:nvSpPr>
          <p:cNvPr id="26" name="Text 24"/>
          <p:cNvSpPr/>
          <p:nvPr/>
        </p:nvSpPr>
        <p:spPr>
          <a:xfrm>
            <a:off x="502920" y="3931920"/>
            <a:ext cx="10058400" cy="365760"/>
          </a:xfrm>
          <a:prstGeom prst="rect">
            <a:avLst/>
          </a:prstGeom>
          <a:noFill/>
          <a:ln/>
        </p:spPr>
        <p:txBody>
          <a:bodyPr wrap="square"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Stack technique</a:t>
            </a:r>
            <a:endParaRPr lang="en-US" sz="1300" dirty="0"/>
          </a:p>
        </p:txBody>
      </p:sp>
      <p:sp>
        <p:nvSpPr>
          <p:cNvPr id="27" name="Shape 25"/>
          <p:cNvSpPr/>
          <p:nvPr/>
        </p:nvSpPr>
        <p:spPr>
          <a:xfrm>
            <a:off x="502920" y="4389120"/>
            <a:ext cx="2377440" cy="594360"/>
          </a:xfrm>
          <a:prstGeom prst="roundRect">
            <a:avLst>
              <a:gd name="adj" fmla="val 12308"/>
            </a:avLst>
          </a:prstGeom>
          <a:solidFill>
            <a:srgbClr val="FFFFFF"/>
          </a:solidFill>
          <a:ln w="19050">
            <a:solidFill>
              <a:srgbClr val="1D9E75"/>
            </a:solidFill>
            <a:prstDash val="solid"/>
          </a:ln>
        </p:spPr>
      </p:sp>
      <p:sp>
        <p:nvSpPr>
          <p:cNvPr id="28" name="Text 26"/>
          <p:cNvSpPr/>
          <p:nvPr/>
        </p:nvSpPr>
        <p:spPr>
          <a:xfrm>
            <a:off x="502920" y="4389120"/>
            <a:ext cx="2377440" cy="347472"/>
          </a:xfrm>
          <a:prstGeom prst="rect">
            <a:avLst/>
          </a:prstGeom>
          <a:noFill/>
          <a:ln/>
        </p:spPr>
        <p:txBody>
          <a:bodyPr wrap="square" rtlCol="0" anchor="b"/>
          <a:lstStyle/>
          <a:p>
            <a:pPr algn="ctr" indent="0" marL="0">
              <a:buNone/>
            </a:pPr>
            <a:r>
              <a:rPr lang="en-US" sz="1200" b="1" dirty="0">
                <a:solidFill>
                  <a:srgbClr val="1D9E75"/>
                </a:solidFill>
                <a:latin typeface="Calibri" pitchFamily="34" charset="0"/>
                <a:ea typeface="Calibri" pitchFamily="34" charset="-122"/>
                <a:cs typeface="Calibri" pitchFamily="34" charset="-120"/>
              </a:rPr>
              <a:t>PostgreSQL</a:t>
            </a:r>
            <a:endParaRPr lang="en-US" sz="1200" dirty="0"/>
          </a:p>
        </p:txBody>
      </p:sp>
      <p:sp>
        <p:nvSpPr>
          <p:cNvPr id="29" name="Text 27"/>
          <p:cNvSpPr/>
          <p:nvPr/>
        </p:nvSpPr>
        <p:spPr>
          <a:xfrm>
            <a:off x="502920" y="4690872"/>
            <a:ext cx="2377440" cy="292608"/>
          </a:xfrm>
          <a:prstGeom prst="rect">
            <a:avLst/>
          </a:prstGeom>
          <a:noFill/>
          <a:ln/>
        </p:spPr>
        <p:txBody>
          <a:bodyPr wrap="square"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Base de données</a:t>
            </a:r>
            <a:endParaRPr lang="en-US" sz="950" dirty="0"/>
          </a:p>
        </p:txBody>
      </p:sp>
      <p:sp>
        <p:nvSpPr>
          <p:cNvPr id="30" name="Shape 28"/>
          <p:cNvSpPr/>
          <p:nvPr/>
        </p:nvSpPr>
        <p:spPr>
          <a:xfrm>
            <a:off x="3154680" y="4389120"/>
            <a:ext cx="2377440" cy="594360"/>
          </a:xfrm>
          <a:prstGeom prst="roundRect">
            <a:avLst>
              <a:gd name="adj" fmla="val 12308"/>
            </a:avLst>
          </a:prstGeom>
          <a:solidFill>
            <a:srgbClr val="FFFFFF"/>
          </a:solidFill>
          <a:ln w="19050">
            <a:solidFill>
              <a:srgbClr val="1D9E75"/>
            </a:solidFill>
            <a:prstDash val="solid"/>
          </a:ln>
        </p:spPr>
      </p:sp>
      <p:sp>
        <p:nvSpPr>
          <p:cNvPr id="31" name="Text 29"/>
          <p:cNvSpPr/>
          <p:nvPr/>
        </p:nvSpPr>
        <p:spPr>
          <a:xfrm>
            <a:off x="3154680" y="4389120"/>
            <a:ext cx="2377440" cy="347472"/>
          </a:xfrm>
          <a:prstGeom prst="rect">
            <a:avLst/>
          </a:prstGeom>
          <a:noFill/>
          <a:ln/>
        </p:spPr>
        <p:txBody>
          <a:bodyPr wrap="square" rtlCol="0" anchor="b"/>
          <a:lstStyle/>
          <a:p>
            <a:pPr algn="ctr" indent="0" marL="0">
              <a:buNone/>
            </a:pPr>
            <a:r>
              <a:rPr lang="en-US" sz="1200" b="1" dirty="0">
                <a:solidFill>
                  <a:srgbClr val="1D9E75"/>
                </a:solidFill>
                <a:latin typeface="Calibri" pitchFamily="34" charset="0"/>
                <a:ea typeface="Calibri" pitchFamily="34" charset="-122"/>
                <a:cs typeface="Calibri" pitchFamily="34" charset="-120"/>
              </a:rPr>
              <a:t>Express.js</a:t>
            </a:r>
            <a:endParaRPr lang="en-US" sz="1200" dirty="0"/>
          </a:p>
        </p:txBody>
      </p:sp>
      <p:sp>
        <p:nvSpPr>
          <p:cNvPr id="32" name="Text 30"/>
          <p:cNvSpPr/>
          <p:nvPr/>
        </p:nvSpPr>
        <p:spPr>
          <a:xfrm>
            <a:off x="3154680" y="4690872"/>
            <a:ext cx="2377440" cy="292608"/>
          </a:xfrm>
          <a:prstGeom prst="rect">
            <a:avLst/>
          </a:prstGeom>
          <a:noFill/>
          <a:ln/>
        </p:spPr>
        <p:txBody>
          <a:bodyPr wrap="square"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API REST</a:t>
            </a:r>
            <a:endParaRPr lang="en-US" sz="950" dirty="0"/>
          </a:p>
        </p:txBody>
      </p:sp>
      <p:sp>
        <p:nvSpPr>
          <p:cNvPr id="33" name="Shape 31"/>
          <p:cNvSpPr/>
          <p:nvPr/>
        </p:nvSpPr>
        <p:spPr>
          <a:xfrm>
            <a:off x="5806440" y="4389120"/>
            <a:ext cx="2377440" cy="594360"/>
          </a:xfrm>
          <a:prstGeom prst="roundRect">
            <a:avLst>
              <a:gd name="adj" fmla="val 12308"/>
            </a:avLst>
          </a:prstGeom>
          <a:solidFill>
            <a:srgbClr val="FFFFFF"/>
          </a:solidFill>
          <a:ln w="19050">
            <a:solidFill>
              <a:srgbClr val="1D9E75"/>
            </a:solidFill>
            <a:prstDash val="solid"/>
          </a:ln>
        </p:spPr>
      </p:sp>
      <p:sp>
        <p:nvSpPr>
          <p:cNvPr id="34" name="Text 32"/>
          <p:cNvSpPr/>
          <p:nvPr/>
        </p:nvSpPr>
        <p:spPr>
          <a:xfrm>
            <a:off x="5806440" y="4389120"/>
            <a:ext cx="2377440" cy="347472"/>
          </a:xfrm>
          <a:prstGeom prst="rect">
            <a:avLst/>
          </a:prstGeom>
          <a:noFill/>
          <a:ln/>
        </p:spPr>
        <p:txBody>
          <a:bodyPr wrap="square" rtlCol="0" anchor="b"/>
          <a:lstStyle/>
          <a:p>
            <a:pPr algn="ctr" indent="0" marL="0">
              <a:buNone/>
            </a:pPr>
            <a:r>
              <a:rPr lang="en-US" sz="1200" b="1" dirty="0">
                <a:solidFill>
                  <a:srgbClr val="1D9E75"/>
                </a:solidFill>
                <a:latin typeface="Calibri" pitchFamily="34" charset="0"/>
                <a:ea typeface="Calibri" pitchFamily="34" charset="-122"/>
                <a:cs typeface="Calibri" pitchFamily="34" charset="-120"/>
              </a:rPr>
              <a:t>React 19</a:t>
            </a:r>
            <a:endParaRPr lang="en-US" sz="1200" dirty="0"/>
          </a:p>
        </p:txBody>
      </p:sp>
      <p:sp>
        <p:nvSpPr>
          <p:cNvPr id="35" name="Text 33"/>
          <p:cNvSpPr/>
          <p:nvPr/>
        </p:nvSpPr>
        <p:spPr>
          <a:xfrm>
            <a:off x="5806440" y="4690872"/>
            <a:ext cx="2377440" cy="292608"/>
          </a:xfrm>
          <a:prstGeom prst="rect">
            <a:avLst/>
          </a:prstGeom>
          <a:noFill/>
          <a:ln/>
        </p:spPr>
        <p:txBody>
          <a:bodyPr wrap="square"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Interface</a:t>
            </a:r>
            <a:endParaRPr lang="en-US" sz="950" dirty="0"/>
          </a:p>
        </p:txBody>
      </p:sp>
      <p:sp>
        <p:nvSpPr>
          <p:cNvPr id="36" name="Shape 34"/>
          <p:cNvSpPr/>
          <p:nvPr/>
        </p:nvSpPr>
        <p:spPr>
          <a:xfrm>
            <a:off x="8458200" y="4389120"/>
            <a:ext cx="2377440" cy="594360"/>
          </a:xfrm>
          <a:prstGeom prst="roundRect">
            <a:avLst>
              <a:gd name="adj" fmla="val 12308"/>
            </a:avLst>
          </a:prstGeom>
          <a:solidFill>
            <a:srgbClr val="FFFFFF"/>
          </a:solidFill>
          <a:ln w="19050">
            <a:solidFill>
              <a:srgbClr val="1D9E75"/>
            </a:solidFill>
            <a:prstDash val="solid"/>
          </a:ln>
        </p:spPr>
      </p:sp>
      <p:sp>
        <p:nvSpPr>
          <p:cNvPr id="37" name="Text 35"/>
          <p:cNvSpPr/>
          <p:nvPr/>
        </p:nvSpPr>
        <p:spPr>
          <a:xfrm>
            <a:off x="8458200" y="4389120"/>
            <a:ext cx="2377440" cy="347472"/>
          </a:xfrm>
          <a:prstGeom prst="rect">
            <a:avLst/>
          </a:prstGeom>
          <a:noFill/>
          <a:ln/>
        </p:spPr>
        <p:txBody>
          <a:bodyPr wrap="square" rtlCol="0" anchor="b"/>
          <a:lstStyle/>
          <a:p>
            <a:pPr algn="ctr" indent="0" marL="0">
              <a:buNone/>
            </a:pPr>
            <a:r>
              <a:rPr lang="en-US" sz="1200" b="1" dirty="0">
                <a:solidFill>
                  <a:srgbClr val="1D9E75"/>
                </a:solidFill>
                <a:latin typeface="Calibri" pitchFamily="34" charset="0"/>
                <a:ea typeface="Calibri" pitchFamily="34" charset="-122"/>
                <a:cs typeface="Calibri" pitchFamily="34" charset="-120"/>
              </a:rPr>
              <a:t>Node.js</a:t>
            </a:r>
            <a:endParaRPr lang="en-US" sz="1200" dirty="0"/>
          </a:p>
        </p:txBody>
      </p:sp>
      <p:sp>
        <p:nvSpPr>
          <p:cNvPr id="38" name="Text 36"/>
          <p:cNvSpPr/>
          <p:nvPr/>
        </p:nvSpPr>
        <p:spPr>
          <a:xfrm>
            <a:off x="8458200" y="4690872"/>
            <a:ext cx="2377440" cy="292608"/>
          </a:xfrm>
          <a:prstGeom prst="rect">
            <a:avLst/>
          </a:prstGeom>
          <a:noFill/>
          <a:ln/>
        </p:spPr>
        <p:txBody>
          <a:bodyPr wrap="square"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Serveur</a:t>
            </a:r>
            <a:endParaRPr lang="en-US" sz="950" dirty="0"/>
          </a:p>
        </p:txBody>
      </p:sp>
      <p:sp>
        <p:nvSpPr>
          <p:cNvPr id="39" name="Shape 37"/>
          <p:cNvSpPr/>
          <p:nvPr/>
        </p:nvSpPr>
        <p:spPr>
          <a:xfrm>
            <a:off x="502920" y="5166360"/>
            <a:ext cx="2377440" cy="594360"/>
          </a:xfrm>
          <a:prstGeom prst="roundRect">
            <a:avLst>
              <a:gd name="adj" fmla="val 12308"/>
            </a:avLst>
          </a:prstGeom>
          <a:solidFill>
            <a:srgbClr val="FFFFFF"/>
          </a:solidFill>
          <a:ln w="19050">
            <a:solidFill>
              <a:srgbClr val="1D9E75"/>
            </a:solidFill>
            <a:prstDash val="solid"/>
          </a:ln>
        </p:spPr>
      </p:sp>
      <p:sp>
        <p:nvSpPr>
          <p:cNvPr id="40" name="Text 38"/>
          <p:cNvSpPr/>
          <p:nvPr/>
        </p:nvSpPr>
        <p:spPr>
          <a:xfrm>
            <a:off x="502920" y="5166360"/>
            <a:ext cx="2377440" cy="347472"/>
          </a:xfrm>
          <a:prstGeom prst="rect">
            <a:avLst/>
          </a:prstGeom>
          <a:noFill/>
          <a:ln/>
        </p:spPr>
        <p:txBody>
          <a:bodyPr wrap="square" rtlCol="0" anchor="b"/>
          <a:lstStyle/>
          <a:p>
            <a:pPr algn="ctr" indent="0" marL="0">
              <a:buNone/>
            </a:pPr>
            <a:r>
              <a:rPr lang="en-US" sz="1200" b="1" dirty="0">
                <a:solidFill>
                  <a:srgbClr val="1D9E75"/>
                </a:solidFill>
                <a:latin typeface="Calibri" pitchFamily="34" charset="0"/>
                <a:ea typeface="Calibri" pitchFamily="34" charset="-122"/>
                <a:cs typeface="Calibri" pitchFamily="34" charset="-120"/>
              </a:rPr>
              <a:t>Prisma ORM</a:t>
            </a:r>
            <a:endParaRPr lang="en-US" sz="1200" dirty="0"/>
          </a:p>
        </p:txBody>
      </p:sp>
      <p:sp>
        <p:nvSpPr>
          <p:cNvPr id="41" name="Text 39"/>
          <p:cNvSpPr/>
          <p:nvPr/>
        </p:nvSpPr>
        <p:spPr>
          <a:xfrm>
            <a:off x="502920" y="5468112"/>
            <a:ext cx="2377440" cy="292608"/>
          </a:xfrm>
          <a:prstGeom prst="rect">
            <a:avLst/>
          </a:prstGeom>
          <a:noFill/>
          <a:ln/>
        </p:spPr>
        <p:txBody>
          <a:bodyPr wrap="square"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Schéma &amp; migrations</a:t>
            </a:r>
            <a:endParaRPr lang="en-US" sz="950" dirty="0"/>
          </a:p>
        </p:txBody>
      </p:sp>
      <p:sp>
        <p:nvSpPr>
          <p:cNvPr id="42" name="Shape 40"/>
          <p:cNvSpPr/>
          <p:nvPr/>
        </p:nvSpPr>
        <p:spPr>
          <a:xfrm>
            <a:off x="3154680" y="5166360"/>
            <a:ext cx="2377440" cy="594360"/>
          </a:xfrm>
          <a:prstGeom prst="roundRect">
            <a:avLst>
              <a:gd name="adj" fmla="val 12308"/>
            </a:avLst>
          </a:prstGeom>
          <a:solidFill>
            <a:srgbClr val="FFFFFF"/>
          </a:solidFill>
          <a:ln w="19050">
            <a:solidFill>
              <a:srgbClr val="1D9E75"/>
            </a:solidFill>
            <a:prstDash val="solid"/>
          </a:ln>
        </p:spPr>
      </p:sp>
      <p:sp>
        <p:nvSpPr>
          <p:cNvPr id="43" name="Text 41"/>
          <p:cNvSpPr/>
          <p:nvPr/>
        </p:nvSpPr>
        <p:spPr>
          <a:xfrm>
            <a:off x="3154680" y="5166360"/>
            <a:ext cx="2377440" cy="347472"/>
          </a:xfrm>
          <a:prstGeom prst="rect">
            <a:avLst/>
          </a:prstGeom>
          <a:noFill/>
          <a:ln/>
        </p:spPr>
        <p:txBody>
          <a:bodyPr wrap="square" rtlCol="0" anchor="b"/>
          <a:lstStyle/>
          <a:p>
            <a:pPr algn="ctr" indent="0" marL="0">
              <a:buNone/>
            </a:pPr>
            <a:r>
              <a:rPr lang="en-US" sz="1200" b="1" dirty="0">
                <a:solidFill>
                  <a:srgbClr val="1D9E75"/>
                </a:solidFill>
                <a:latin typeface="Calibri" pitchFamily="34" charset="0"/>
                <a:ea typeface="Calibri" pitchFamily="34" charset="-122"/>
                <a:cs typeface="Calibri" pitchFamily="34" charset="-120"/>
              </a:rPr>
              <a:t>Docker + Nginx</a:t>
            </a:r>
            <a:endParaRPr lang="en-US" sz="1200" dirty="0"/>
          </a:p>
        </p:txBody>
      </p:sp>
      <p:sp>
        <p:nvSpPr>
          <p:cNvPr id="44" name="Text 42"/>
          <p:cNvSpPr/>
          <p:nvPr/>
        </p:nvSpPr>
        <p:spPr>
          <a:xfrm>
            <a:off x="3154680" y="5468112"/>
            <a:ext cx="2377440" cy="292608"/>
          </a:xfrm>
          <a:prstGeom prst="rect">
            <a:avLst/>
          </a:prstGeom>
          <a:noFill/>
          <a:ln/>
        </p:spPr>
        <p:txBody>
          <a:bodyPr wrap="square" rtlCol="0" anchor="t"/>
          <a:lstStyle/>
          <a:p>
            <a:pPr algn="ctr" indent="0" marL="0">
              <a:buNone/>
            </a:pPr>
            <a:r>
              <a:rPr lang="en-US" sz="950" dirty="0">
                <a:solidFill>
                  <a:srgbClr val="4B5563"/>
                </a:solidFill>
                <a:latin typeface="Calibri" pitchFamily="34" charset="0"/>
                <a:ea typeface="Calibri" pitchFamily="34" charset="-122"/>
                <a:cs typeface="Calibri" pitchFamily="34" charset="-120"/>
              </a:rPr>
              <a:t>Déploiement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AFAFA"/>
          </a:solidFill>
          <a:ln/>
        </p:spPr>
      </p:sp>
      <p:sp>
        <p:nvSpPr>
          <p:cNvPr id="3" name="Shape 1"/>
          <p:cNvSpPr/>
          <p:nvPr/>
        </p:nvSpPr>
        <p:spPr>
          <a:xfrm>
            <a:off x="0" y="0"/>
            <a:ext cx="73152" cy="6858000"/>
          </a:xfrm>
          <a:prstGeom prst="rect">
            <a:avLst/>
          </a:prstGeom>
          <a:solidFill>
            <a:srgbClr val="1D9E75"/>
          </a:solidFill>
          <a:ln/>
        </p:spPr>
      </p:sp>
      <p:sp>
        <p:nvSpPr>
          <p:cNvPr id="4" name="Text 2"/>
          <p:cNvSpPr/>
          <p:nvPr/>
        </p:nvSpPr>
        <p:spPr>
          <a:xfrm>
            <a:off x="0" y="6492240"/>
            <a:ext cx="12192000" cy="274320"/>
          </a:xfrm>
          <a:prstGeom prst="rect">
            <a:avLst/>
          </a:prstGeom>
          <a:noFill/>
          <a:ln/>
        </p:spPr>
        <p:txBody>
          <a:bodyPr wrap="square"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SpécimenManager  ·  Institut Pasteur Madagascar  ·  9/10</a:t>
            </a:r>
            <a:endParaRPr lang="en-US" sz="900" dirty="0"/>
          </a:p>
        </p:txBody>
      </p:sp>
      <p:sp>
        <p:nvSpPr>
          <p:cNvPr id="5" name="Text 3"/>
          <p:cNvSpPr/>
          <p:nvPr/>
        </p:nvSpPr>
        <p:spPr>
          <a:xfrm>
            <a:off x="457200" y="320040"/>
            <a:ext cx="10515600" cy="640080"/>
          </a:xfrm>
          <a:prstGeom prst="rect">
            <a:avLst/>
          </a:prstGeom>
          <a:noFill/>
          <a:ln/>
        </p:spPr>
        <p:txBody>
          <a:bodyPr wrap="square"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Ce que ça change concrètement</a:t>
            </a:r>
            <a:endParaRPr lang="en-US" sz="2600" dirty="0"/>
          </a:p>
        </p:txBody>
      </p:sp>
      <p:sp>
        <p:nvSpPr>
          <p:cNvPr id="6" name="Shape 4"/>
          <p:cNvSpPr/>
          <p:nvPr/>
        </p:nvSpPr>
        <p:spPr>
          <a:xfrm>
            <a:off x="457200" y="1005840"/>
            <a:ext cx="10515600" cy="0"/>
          </a:xfrm>
          <a:prstGeom prst="line">
            <a:avLst/>
          </a:prstGeom>
          <a:noFill/>
          <a:ln w="12700">
            <a:solidFill>
              <a:srgbClr val="E5E7EB"/>
            </a:solidFill>
            <a:prstDash val="solid"/>
          </a:ln>
        </p:spPr>
      </p:sp>
      <p:sp>
        <p:nvSpPr>
          <p:cNvPr id="7" name="Shape 5"/>
          <p:cNvSpPr/>
          <p:nvPr/>
        </p:nvSpPr>
        <p:spPr>
          <a:xfrm>
            <a:off x="502920" y="1371600"/>
            <a:ext cx="3108960" cy="2286000"/>
          </a:xfrm>
          <a:prstGeom prst="roundRect">
            <a:avLst>
              <a:gd name="adj" fmla="val 6000"/>
            </a:avLst>
          </a:prstGeom>
          <a:solidFill>
            <a:srgbClr val="FFFFFF"/>
          </a:solidFill>
          <a:ln w="19050">
            <a:solidFill>
              <a:srgbClr val="1D9E75"/>
            </a:solidFill>
            <a:prstDash val="solid"/>
          </a:ln>
          <a:effectLst>
            <a:outerShdw sx="100000" sy="100000" kx="0" ky="0" algn="bl" rotWithShape="0" blurRad="101600" dist="25400" dir="5400000">
              <a:srgbClr val="00000010">
                <a:alpha val="75000"/>
              </a:srgbClr>
            </a:outerShdw>
          </a:effectLst>
        </p:spPr>
      </p:sp>
      <p:sp>
        <p:nvSpPr>
          <p:cNvPr id="8" name="Text 6"/>
          <p:cNvSpPr/>
          <p:nvPr/>
        </p:nvSpPr>
        <p:spPr>
          <a:xfrm>
            <a:off x="502920" y="1554480"/>
            <a:ext cx="3108960" cy="50292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9" name="Text 7"/>
          <p:cNvSpPr/>
          <p:nvPr/>
        </p:nvSpPr>
        <p:spPr>
          <a:xfrm>
            <a:off x="502920" y="2103120"/>
            <a:ext cx="3108960" cy="548640"/>
          </a:xfrm>
          <a:prstGeom prst="rect">
            <a:avLst/>
          </a:prstGeom>
          <a:noFill/>
          <a:ln/>
        </p:spPr>
        <p:txBody>
          <a:bodyPr wrap="square" rtlCol="0" anchor="ctr"/>
          <a:lstStyle/>
          <a:p>
            <a:pPr algn="ctr" indent="0" marL="0">
              <a:buNone/>
            </a:pPr>
            <a:r>
              <a:rPr lang="en-US" sz="2600" b="1" dirty="0">
                <a:solidFill>
                  <a:srgbClr val="1D9E75"/>
                </a:solidFill>
                <a:latin typeface="Calibri" pitchFamily="34" charset="0"/>
                <a:ea typeface="Calibri" pitchFamily="34" charset="-122"/>
                <a:cs typeface="Calibri" pitchFamily="34" charset="-120"/>
              </a:rPr>
              <a:t>~45 sec</a:t>
            </a:r>
            <a:endParaRPr lang="en-US" sz="2600" dirty="0"/>
          </a:p>
        </p:txBody>
      </p:sp>
      <p:sp>
        <p:nvSpPr>
          <p:cNvPr id="10" name="Text 8"/>
          <p:cNvSpPr/>
          <p:nvPr/>
        </p:nvSpPr>
        <p:spPr>
          <a:xfrm>
            <a:off x="502920" y="2651760"/>
            <a:ext cx="3108960" cy="347472"/>
          </a:xfrm>
          <a:prstGeom prst="rect">
            <a:avLst/>
          </a:prstGeom>
          <a:noFill/>
          <a:ln/>
        </p:spPr>
        <p:txBody>
          <a:bodyPr wrap="square" rtlCol="0" anchor="ctr"/>
          <a:lstStyle/>
          <a:p>
            <a:pPr algn="ctr" indent="0" marL="0">
              <a:buNone/>
            </a:pPr>
            <a:r>
              <a:rPr lang="en-US" sz="1200" b="1" dirty="0">
                <a:solidFill>
                  <a:srgbClr val="111827"/>
                </a:solidFill>
                <a:latin typeface="Calibri" pitchFamily="34" charset="0"/>
                <a:ea typeface="Calibri" pitchFamily="34" charset="-122"/>
                <a:cs typeface="Calibri" pitchFamily="34" charset="-120"/>
              </a:rPr>
              <a:t>Saisie d'un spécimen</a:t>
            </a:r>
            <a:endParaRPr lang="en-US" sz="1200" dirty="0"/>
          </a:p>
        </p:txBody>
      </p:sp>
      <p:sp>
        <p:nvSpPr>
          <p:cNvPr id="11" name="Text 9"/>
          <p:cNvSpPr/>
          <p:nvPr/>
        </p:nvSpPr>
        <p:spPr>
          <a:xfrm>
            <a:off x="640080" y="3017520"/>
            <a:ext cx="2834640" cy="530352"/>
          </a:xfrm>
          <a:prstGeom prst="rect">
            <a:avLst/>
          </a:prstGeom>
          <a:noFill/>
          <a:ln/>
        </p:spPr>
        <p:txBody>
          <a:bodyPr wrap="square" rtlCol="0" anchor="ctr"/>
          <a:lstStyle/>
          <a:p>
            <a:pPr algn="ctr" indent="0" marL="0">
              <a:buNone/>
            </a:pPr>
            <a:r>
              <a:rPr lang="en-US" sz="1000" dirty="0">
                <a:solidFill>
                  <a:srgbClr val="4B5563"/>
                </a:solidFill>
                <a:latin typeface="Calibri" pitchFamily="34" charset="0"/>
                <a:ea typeface="Calibri" pitchFamily="34" charset="-122"/>
                <a:cs typeface="Calibri" pitchFamily="34" charset="-120"/>
              </a:rPr>
              <a:t>vs plusieurs minutes de retranscription papier → Excel</a:t>
            </a:r>
            <a:endParaRPr lang="en-US" sz="1000" dirty="0"/>
          </a:p>
        </p:txBody>
      </p:sp>
      <p:sp>
        <p:nvSpPr>
          <p:cNvPr id="12" name="Shape 10"/>
          <p:cNvSpPr/>
          <p:nvPr/>
        </p:nvSpPr>
        <p:spPr>
          <a:xfrm>
            <a:off x="3977640" y="1371600"/>
            <a:ext cx="3108960" cy="2286000"/>
          </a:xfrm>
          <a:prstGeom prst="roundRect">
            <a:avLst>
              <a:gd name="adj" fmla="val 6000"/>
            </a:avLst>
          </a:prstGeom>
          <a:solidFill>
            <a:srgbClr val="FFFFFF"/>
          </a:solidFill>
          <a:ln w="19050">
            <a:solidFill>
              <a:srgbClr val="1D9E75"/>
            </a:solidFill>
            <a:prstDash val="solid"/>
          </a:ln>
          <a:effectLst>
            <a:outerShdw sx="100000" sy="100000" kx="0" ky="0" algn="bl" rotWithShape="0" blurRad="101600" dist="25400" dir="5400000">
              <a:srgbClr val="00000010">
                <a:alpha val="75000"/>
              </a:srgbClr>
            </a:outerShdw>
          </a:effectLst>
        </p:spPr>
      </p:sp>
      <p:sp>
        <p:nvSpPr>
          <p:cNvPr id="13" name="Text 11"/>
          <p:cNvSpPr/>
          <p:nvPr/>
        </p:nvSpPr>
        <p:spPr>
          <a:xfrm>
            <a:off x="3977640" y="1554480"/>
            <a:ext cx="3108960" cy="502920"/>
          </a:xfrm>
          <a:prstGeom prst="rect">
            <a:avLst/>
          </a:prstGeom>
          <a:noFill/>
          <a:ln/>
        </p:spPr>
        <p:txBody>
          <a:bodyPr wrap="square" rtlCol="0" anchor="ctr"/>
          <a:lstStyle/>
          <a:p>
            <a:pPr algn="ctr" indent="0" marL="0">
              <a:buNone/>
            </a:pPr>
            <a:r>
              <a:rPr lang="en-US" sz="2600" dirty="0">
                <a:solidFill>
                  <a:srgbClr val="000000"/>
                </a:solidFill>
              </a:rPr>
              <a:t>0️⃣</a:t>
            </a:r>
            <a:endParaRPr lang="en-US" sz="2600" dirty="0"/>
          </a:p>
        </p:txBody>
      </p:sp>
      <p:sp>
        <p:nvSpPr>
          <p:cNvPr id="14" name="Text 12"/>
          <p:cNvSpPr/>
          <p:nvPr/>
        </p:nvSpPr>
        <p:spPr>
          <a:xfrm>
            <a:off x="3977640" y="2103120"/>
            <a:ext cx="3108960" cy="548640"/>
          </a:xfrm>
          <a:prstGeom prst="rect">
            <a:avLst/>
          </a:prstGeom>
          <a:noFill/>
          <a:ln/>
        </p:spPr>
        <p:txBody>
          <a:bodyPr wrap="square" rtlCol="0" anchor="ctr"/>
          <a:lstStyle/>
          <a:p>
            <a:pPr algn="ctr" indent="0" marL="0">
              <a:buNone/>
            </a:pPr>
            <a:r>
              <a:rPr lang="en-US" sz="2600" b="1" dirty="0">
                <a:solidFill>
                  <a:srgbClr val="1D9E75"/>
                </a:solidFill>
                <a:latin typeface="Calibri" pitchFamily="34" charset="0"/>
                <a:ea typeface="Calibri" pitchFamily="34" charset="-122"/>
                <a:cs typeface="Calibri" pitchFamily="34" charset="-120"/>
              </a:rPr>
              <a:t>0 erreur</a:t>
            </a:r>
            <a:endParaRPr lang="en-US" sz="2600" dirty="0"/>
          </a:p>
        </p:txBody>
      </p:sp>
      <p:sp>
        <p:nvSpPr>
          <p:cNvPr id="15" name="Text 13"/>
          <p:cNvSpPr/>
          <p:nvPr/>
        </p:nvSpPr>
        <p:spPr>
          <a:xfrm>
            <a:off x="3977640" y="2651760"/>
            <a:ext cx="3108960" cy="347472"/>
          </a:xfrm>
          <a:prstGeom prst="rect">
            <a:avLst/>
          </a:prstGeom>
          <a:noFill/>
          <a:ln/>
        </p:spPr>
        <p:txBody>
          <a:bodyPr wrap="square" rtlCol="0" anchor="ctr"/>
          <a:lstStyle/>
          <a:p>
            <a:pPr algn="ctr" indent="0" marL="0">
              <a:buNone/>
            </a:pPr>
            <a:r>
              <a:rPr lang="en-US" sz="1200" b="1" dirty="0">
                <a:solidFill>
                  <a:srgbClr val="111827"/>
                </a:solidFill>
                <a:latin typeface="Calibri" pitchFamily="34" charset="0"/>
                <a:ea typeface="Calibri" pitchFamily="34" charset="-122"/>
                <a:cs typeface="Calibri" pitchFamily="34" charset="-120"/>
              </a:rPr>
              <a:t>Valeurs incorrectes</a:t>
            </a:r>
            <a:endParaRPr lang="en-US" sz="1200" dirty="0"/>
          </a:p>
        </p:txBody>
      </p:sp>
      <p:sp>
        <p:nvSpPr>
          <p:cNvPr id="16" name="Text 14"/>
          <p:cNvSpPr/>
          <p:nvPr/>
        </p:nvSpPr>
        <p:spPr>
          <a:xfrm>
            <a:off x="4114800" y="3017520"/>
            <a:ext cx="2834640" cy="530352"/>
          </a:xfrm>
          <a:prstGeom prst="rect">
            <a:avLst/>
          </a:prstGeom>
          <a:noFill/>
          <a:ln/>
        </p:spPr>
        <p:txBody>
          <a:bodyPr wrap="square" rtlCol="0" anchor="ctr"/>
          <a:lstStyle/>
          <a:p>
            <a:pPr algn="ctr" indent="0" marL="0">
              <a:buNone/>
            </a:pPr>
            <a:r>
              <a:rPr lang="en-US" sz="1000" dirty="0">
                <a:solidFill>
                  <a:srgbClr val="4B5563"/>
                </a:solidFill>
                <a:latin typeface="Calibri" pitchFamily="34" charset="0"/>
                <a:ea typeface="Calibri" pitchFamily="34" charset="-122"/>
                <a:cs typeface="Calibri" pitchFamily="34" charset="-120"/>
              </a:rPr>
              <a:t>Les codes statut sanguin, stade, parité sont imposés par l'interface</a:t>
            </a:r>
            <a:endParaRPr lang="en-US" sz="1000" dirty="0"/>
          </a:p>
        </p:txBody>
      </p:sp>
      <p:sp>
        <p:nvSpPr>
          <p:cNvPr id="17" name="Shape 15"/>
          <p:cNvSpPr/>
          <p:nvPr/>
        </p:nvSpPr>
        <p:spPr>
          <a:xfrm>
            <a:off x="7452360" y="1371600"/>
            <a:ext cx="3108960" cy="2286000"/>
          </a:xfrm>
          <a:prstGeom prst="roundRect">
            <a:avLst>
              <a:gd name="adj" fmla="val 6000"/>
            </a:avLst>
          </a:prstGeom>
          <a:solidFill>
            <a:srgbClr val="FFFFFF"/>
          </a:solidFill>
          <a:ln w="19050">
            <a:solidFill>
              <a:srgbClr val="1D9E75"/>
            </a:solidFill>
            <a:prstDash val="solid"/>
          </a:ln>
          <a:effectLst>
            <a:outerShdw sx="100000" sy="100000" kx="0" ky="0" algn="bl" rotWithShape="0" blurRad="101600" dist="25400" dir="5400000">
              <a:srgbClr val="00000010">
                <a:alpha val="75000"/>
              </a:srgbClr>
            </a:outerShdw>
          </a:effectLst>
        </p:spPr>
      </p:sp>
      <p:sp>
        <p:nvSpPr>
          <p:cNvPr id="18" name="Text 16"/>
          <p:cNvSpPr/>
          <p:nvPr/>
        </p:nvSpPr>
        <p:spPr>
          <a:xfrm>
            <a:off x="7452360" y="1554480"/>
            <a:ext cx="3108960" cy="502920"/>
          </a:xfrm>
          <a:prstGeom prst="rect">
            <a:avLst/>
          </a:prstGeom>
          <a:noFill/>
          <a:ln/>
        </p:spPr>
        <p:txBody>
          <a:bodyPr wrap="square" rtlCol="0" anchor="ctr"/>
          <a:lstStyle/>
          <a:p>
            <a:pPr algn="ctr" indent="0" marL="0">
              <a:buNone/>
            </a:pPr>
            <a:r>
              <a:rPr lang="en-US" sz="2600" dirty="0">
                <a:solidFill>
                  <a:srgbClr val="000000"/>
                </a:solidFill>
              </a:rPr>
              <a:t>1️⃣</a:t>
            </a:r>
            <a:endParaRPr lang="en-US" sz="2600" dirty="0"/>
          </a:p>
        </p:txBody>
      </p:sp>
      <p:sp>
        <p:nvSpPr>
          <p:cNvPr id="19" name="Text 17"/>
          <p:cNvSpPr/>
          <p:nvPr/>
        </p:nvSpPr>
        <p:spPr>
          <a:xfrm>
            <a:off x="7452360" y="2103120"/>
            <a:ext cx="3108960" cy="548640"/>
          </a:xfrm>
          <a:prstGeom prst="rect">
            <a:avLst/>
          </a:prstGeom>
          <a:noFill/>
          <a:ln/>
        </p:spPr>
        <p:txBody>
          <a:bodyPr wrap="square" rtlCol="0" anchor="ctr"/>
          <a:lstStyle/>
          <a:p>
            <a:pPr algn="ctr" indent="0" marL="0">
              <a:buNone/>
            </a:pPr>
            <a:r>
              <a:rPr lang="en-US" sz="2600" b="1" dirty="0">
                <a:solidFill>
                  <a:srgbClr val="1D9E75"/>
                </a:solidFill>
                <a:latin typeface="Calibri" pitchFamily="34" charset="0"/>
                <a:ea typeface="Calibri" pitchFamily="34" charset="-122"/>
                <a:cs typeface="Calibri" pitchFamily="34" charset="-120"/>
              </a:rPr>
              <a:t>1 clic</a:t>
            </a:r>
            <a:endParaRPr lang="en-US" sz="2600" dirty="0"/>
          </a:p>
        </p:txBody>
      </p:sp>
      <p:sp>
        <p:nvSpPr>
          <p:cNvPr id="20" name="Text 18"/>
          <p:cNvSpPr/>
          <p:nvPr/>
        </p:nvSpPr>
        <p:spPr>
          <a:xfrm>
            <a:off x="7452360" y="2651760"/>
            <a:ext cx="3108960" cy="347472"/>
          </a:xfrm>
          <a:prstGeom prst="rect">
            <a:avLst/>
          </a:prstGeom>
          <a:noFill/>
          <a:ln/>
        </p:spPr>
        <p:txBody>
          <a:bodyPr wrap="square" rtlCol="0" anchor="ctr"/>
          <a:lstStyle/>
          <a:p>
            <a:pPr algn="ctr" indent="0" marL="0">
              <a:buNone/>
            </a:pPr>
            <a:r>
              <a:rPr lang="en-US" sz="1200" b="1" dirty="0">
                <a:solidFill>
                  <a:srgbClr val="111827"/>
                </a:solidFill>
                <a:latin typeface="Calibri" pitchFamily="34" charset="0"/>
                <a:ea typeface="Calibri" pitchFamily="34" charset="-122"/>
                <a:cs typeface="Calibri" pitchFamily="34" charset="-120"/>
              </a:rPr>
              <a:t>Export prêt à analyser</a:t>
            </a:r>
            <a:endParaRPr lang="en-US" sz="1200" dirty="0"/>
          </a:p>
        </p:txBody>
      </p:sp>
      <p:sp>
        <p:nvSpPr>
          <p:cNvPr id="21" name="Text 19"/>
          <p:cNvSpPr/>
          <p:nvPr/>
        </p:nvSpPr>
        <p:spPr>
          <a:xfrm>
            <a:off x="7589520" y="3017520"/>
            <a:ext cx="2834640" cy="530352"/>
          </a:xfrm>
          <a:prstGeom prst="rect">
            <a:avLst/>
          </a:prstGeom>
          <a:noFill/>
          <a:ln/>
        </p:spPr>
        <p:txBody>
          <a:bodyPr wrap="square" rtlCol="0" anchor="ctr"/>
          <a:lstStyle/>
          <a:p>
            <a:pPr algn="ctr" indent="0" marL="0">
              <a:buNone/>
            </a:pPr>
            <a:r>
              <a:rPr lang="en-US" sz="1000" dirty="0">
                <a:solidFill>
                  <a:srgbClr val="4B5563"/>
                </a:solidFill>
                <a:latin typeface="Calibri" pitchFamily="34" charset="0"/>
                <a:ea typeface="Calibri" pitchFamily="34" charset="-122"/>
                <a:cs typeface="Calibri" pitchFamily="34" charset="-120"/>
              </a:rPr>
              <a:t>Fichier Excel structuré, aucun reformatage manuel nécessaire</a:t>
            </a:r>
            <a:endParaRPr lang="en-US" sz="1000" dirty="0"/>
          </a:p>
        </p:txBody>
      </p:sp>
      <p:sp>
        <p:nvSpPr>
          <p:cNvPr id="22" name="Shape 20"/>
          <p:cNvSpPr/>
          <p:nvPr/>
        </p:nvSpPr>
        <p:spPr>
          <a:xfrm>
            <a:off x="502920" y="3931920"/>
            <a:ext cx="3108960" cy="2286000"/>
          </a:xfrm>
          <a:prstGeom prst="roundRect">
            <a:avLst>
              <a:gd name="adj" fmla="val 6000"/>
            </a:avLst>
          </a:prstGeom>
          <a:solidFill>
            <a:srgbClr val="FFFFFF"/>
          </a:solidFill>
          <a:ln w="19050">
            <a:solidFill>
              <a:srgbClr val="1D9E75"/>
            </a:solidFill>
            <a:prstDash val="solid"/>
          </a:ln>
          <a:effectLst>
            <a:outerShdw sx="100000" sy="100000" kx="0" ky="0" algn="bl" rotWithShape="0" blurRad="101600" dist="25400" dir="5400000">
              <a:srgbClr val="00000010">
                <a:alpha val="75000"/>
              </a:srgbClr>
            </a:outerShdw>
          </a:effectLst>
        </p:spPr>
      </p:sp>
      <p:sp>
        <p:nvSpPr>
          <p:cNvPr id="23" name="Text 21"/>
          <p:cNvSpPr/>
          <p:nvPr/>
        </p:nvSpPr>
        <p:spPr>
          <a:xfrm>
            <a:off x="502920" y="4114800"/>
            <a:ext cx="3108960" cy="50292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4" name="Text 22"/>
          <p:cNvSpPr/>
          <p:nvPr/>
        </p:nvSpPr>
        <p:spPr>
          <a:xfrm>
            <a:off x="502920" y="4663440"/>
            <a:ext cx="3108960" cy="548640"/>
          </a:xfrm>
          <a:prstGeom prst="rect">
            <a:avLst/>
          </a:prstGeom>
          <a:noFill/>
          <a:ln/>
        </p:spPr>
        <p:txBody>
          <a:bodyPr wrap="square" rtlCol="0" anchor="ctr"/>
          <a:lstStyle/>
          <a:p>
            <a:pPr algn="ctr" indent="0" marL="0">
              <a:buNone/>
            </a:pPr>
            <a:r>
              <a:rPr lang="en-US" sz="2600" b="1" dirty="0">
                <a:solidFill>
                  <a:srgbClr val="1D9E75"/>
                </a:solidFill>
                <a:latin typeface="Calibri" pitchFamily="34" charset="0"/>
                <a:ea typeface="Calibri" pitchFamily="34" charset="-122"/>
                <a:cs typeface="Calibri" pitchFamily="34" charset="-120"/>
              </a:rPr>
              <a:t>100 %</a:t>
            </a:r>
            <a:endParaRPr lang="en-US" sz="2600" dirty="0"/>
          </a:p>
        </p:txBody>
      </p:sp>
      <p:sp>
        <p:nvSpPr>
          <p:cNvPr id="25" name="Text 23"/>
          <p:cNvSpPr/>
          <p:nvPr/>
        </p:nvSpPr>
        <p:spPr>
          <a:xfrm>
            <a:off x="502920" y="5212080"/>
            <a:ext cx="3108960" cy="347472"/>
          </a:xfrm>
          <a:prstGeom prst="rect">
            <a:avLst/>
          </a:prstGeom>
          <a:noFill/>
          <a:ln/>
        </p:spPr>
        <p:txBody>
          <a:bodyPr wrap="square" rtlCol="0" anchor="ctr"/>
          <a:lstStyle/>
          <a:p>
            <a:pPr algn="ctr" indent="0" marL="0">
              <a:buNone/>
            </a:pPr>
            <a:r>
              <a:rPr lang="en-US" sz="1200" b="1" dirty="0">
                <a:solidFill>
                  <a:srgbClr val="111827"/>
                </a:solidFill>
                <a:latin typeface="Calibri" pitchFamily="34" charset="0"/>
                <a:ea typeface="Calibri" pitchFamily="34" charset="-122"/>
                <a:cs typeface="Calibri" pitchFamily="34" charset="-120"/>
              </a:rPr>
              <a:t>Traçabilité</a:t>
            </a:r>
            <a:endParaRPr lang="en-US" sz="1200" dirty="0"/>
          </a:p>
        </p:txBody>
      </p:sp>
      <p:sp>
        <p:nvSpPr>
          <p:cNvPr id="26" name="Text 24"/>
          <p:cNvSpPr/>
          <p:nvPr/>
        </p:nvSpPr>
        <p:spPr>
          <a:xfrm>
            <a:off x="640080" y="5577840"/>
            <a:ext cx="2834640" cy="530352"/>
          </a:xfrm>
          <a:prstGeom prst="rect">
            <a:avLst/>
          </a:prstGeom>
          <a:noFill/>
          <a:ln/>
        </p:spPr>
        <p:txBody>
          <a:bodyPr wrap="square" rtlCol="0" anchor="ctr"/>
          <a:lstStyle/>
          <a:p>
            <a:pPr algn="ctr" indent="0" marL="0">
              <a:buNone/>
            </a:pPr>
            <a:r>
              <a:rPr lang="en-US" sz="1000" dirty="0">
                <a:solidFill>
                  <a:srgbClr val="4B5563"/>
                </a:solidFill>
                <a:latin typeface="Calibri" pitchFamily="34" charset="0"/>
                <a:ea typeface="Calibri" pitchFamily="34" charset="-122"/>
                <a:cs typeface="Calibri" pitchFamily="34" charset="-120"/>
              </a:rPr>
              <a:t>Audit log complet — chaque modification est horodatée et nominative</a:t>
            </a:r>
            <a:endParaRPr lang="en-US" sz="1000" dirty="0"/>
          </a:p>
        </p:txBody>
      </p:sp>
      <p:sp>
        <p:nvSpPr>
          <p:cNvPr id="27" name="Shape 25"/>
          <p:cNvSpPr/>
          <p:nvPr/>
        </p:nvSpPr>
        <p:spPr>
          <a:xfrm>
            <a:off x="3977640" y="3931920"/>
            <a:ext cx="3108960" cy="2286000"/>
          </a:xfrm>
          <a:prstGeom prst="roundRect">
            <a:avLst>
              <a:gd name="adj" fmla="val 6000"/>
            </a:avLst>
          </a:prstGeom>
          <a:solidFill>
            <a:srgbClr val="FFFFFF"/>
          </a:solidFill>
          <a:ln w="19050">
            <a:solidFill>
              <a:srgbClr val="1D9E75"/>
            </a:solidFill>
            <a:prstDash val="solid"/>
          </a:ln>
          <a:effectLst>
            <a:outerShdw sx="100000" sy="100000" kx="0" ky="0" algn="bl" rotWithShape="0" blurRad="101600" dist="25400" dir="5400000">
              <a:srgbClr val="00000010">
                <a:alpha val="75000"/>
              </a:srgbClr>
            </a:outerShdw>
          </a:effectLst>
        </p:spPr>
      </p:sp>
      <p:sp>
        <p:nvSpPr>
          <p:cNvPr id="28" name="Text 26"/>
          <p:cNvSpPr/>
          <p:nvPr/>
        </p:nvSpPr>
        <p:spPr>
          <a:xfrm>
            <a:off x="3977640" y="4114800"/>
            <a:ext cx="3108960" cy="50292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29" name="Text 27"/>
          <p:cNvSpPr/>
          <p:nvPr/>
        </p:nvSpPr>
        <p:spPr>
          <a:xfrm>
            <a:off x="3977640" y="4663440"/>
            <a:ext cx="3108960" cy="548640"/>
          </a:xfrm>
          <a:prstGeom prst="rect">
            <a:avLst/>
          </a:prstGeom>
          <a:noFill/>
          <a:ln/>
        </p:spPr>
        <p:txBody>
          <a:bodyPr wrap="square" rtlCol="0" anchor="ctr"/>
          <a:lstStyle/>
          <a:p>
            <a:pPr algn="ctr" indent="0" marL="0">
              <a:buNone/>
            </a:pPr>
            <a:r>
              <a:rPr lang="en-US" sz="2600" b="1" dirty="0">
                <a:solidFill>
                  <a:srgbClr val="1D9E75"/>
                </a:solidFill>
                <a:latin typeface="Calibri" pitchFamily="34" charset="0"/>
                <a:ea typeface="Calibri" pitchFamily="34" charset="-122"/>
                <a:cs typeface="Calibri" pitchFamily="34" charset="-120"/>
              </a:rPr>
              <a:t>On-premise</a:t>
            </a:r>
            <a:endParaRPr lang="en-US" sz="2600" dirty="0"/>
          </a:p>
        </p:txBody>
      </p:sp>
      <p:sp>
        <p:nvSpPr>
          <p:cNvPr id="30" name="Text 28"/>
          <p:cNvSpPr/>
          <p:nvPr/>
        </p:nvSpPr>
        <p:spPr>
          <a:xfrm>
            <a:off x="3977640" y="5212080"/>
            <a:ext cx="3108960" cy="347472"/>
          </a:xfrm>
          <a:prstGeom prst="rect">
            <a:avLst/>
          </a:prstGeom>
          <a:noFill/>
          <a:ln/>
        </p:spPr>
        <p:txBody>
          <a:bodyPr wrap="square" rtlCol="0" anchor="ctr"/>
          <a:lstStyle/>
          <a:p>
            <a:pPr algn="ctr" indent="0" marL="0">
              <a:buNone/>
            </a:pPr>
            <a:r>
              <a:rPr lang="en-US" sz="1200" b="1" dirty="0">
                <a:solidFill>
                  <a:srgbClr val="111827"/>
                </a:solidFill>
                <a:latin typeface="Calibri" pitchFamily="34" charset="0"/>
                <a:ea typeface="Calibri" pitchFamily="34" charset="-122"/>
                <a:cs typeface="Calibri" pitchFamily="34" charset="-120"/>
              </a:rPr>
              <a:t>Données sécurisées</a:t>
            </a:r>
            <a:endParaRPr lang="en-US" sz="1200" dirty="0"/>
          </a:p>
        </p:txBody>
      </p:sp>
      <p:sp>
        <p:nvSpPr>
          <p:cNvPr id="31" name="Text 29"/>
          <p:cNvSpPr/>
          <p:nvPr/>
        </p:nvSpPr>
        <p:spPr>
          <a:xfrm>
            <a:off x="4114800" y="5577840"/>
            <a:ext cx="2834640" cy="530352"/>
          </a:xfrm>
          <a:prstGeom prst="rect">
            <a:avLst/>
          </a:prstGeom>
          <a:noFill/>
          <a:ln/>
        </p:spPr>
        <p:txBody>
          <a:bodyPr wrap="square" rtlCol="0" anchor="ctr"/>
          <a:lstStyle/>
          <a:p>
            <a:pPr algn="ctr" indent="0" marL="0">
              <a:buNone/>
            </a:pPr>
            <a:r>
              <a:rPr lang="en-US" sz="1000" dirty="0">
                <a:solidFill>
                  <a:srgbClr val="4B5563"/>
                </a:solidFill>
                <a:latin typeface="Calibri" pitchFamily="34" charset="0"/>
                <a:ea typeface="Calibri" pitchFamily="34" charset="-122"/>
                <a:cs typeface="Calibri" pitchFamily="34" charset="-120"/>
              </a:rPr>
              <a:t>Hébergement sur NAS IPM — aucune donnée ne quitte l'institution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AFAFA"/>
          </a:solidFill>
          <a:ln/>
        </p:spPr>
      </p:sp>
      <p:sp>
        <p:nvSpPr>
          <p:cNvPr id="3" name="Shape 1"/>
          <p:cNvSpPr/>
          <p:nvPr/>
        </p:nvSpPr>
        <p:spPr>
          <a:xfrm>
            <a:off x="0" y="0"/>
            <a:ext cx="73152" cy="6858000"/>
          </a:xfrm>
          <a:prstGeom prst="rect">
            <a:avLst/>
          </a:prstGeom>
          <a:solidFill>
            <a:srgbClr val="1D9E75"/>
          </a:solidFill>
          <a:ln/>
        </p:spPr>
      </p:sp>
      <p:sp>
        <p:nvSpPr>
          <p:cNvPr id="4" name="Text 2"/>
          <p:cNvSpPr/>
          <p:nvPr/>
        </p:nvSpPr>
        <p:spPr>
          <a:xfrm>
            <a:off x="0" y="6492240"/>
            <a:ext cx="12192000" cy="274320"/>
          </a:xfrm>
          <a:prstGeom prst="rect">
            <a:avLst/>
          </a:prstGeom>
          <a:noFill/>
          <a:ln/>
        </p:spPr>
        <p:txBody>
          <a:bodyPr wrap="square" rtlCol="0" anchor="ctr"/>
          <a:lstStyle/>
          <a:p>
            <a:pPr algn="ctr" indent="0" marL="0">
              <a:buNone/>
            </a:pPr>
            <a:r>
              <a:rPr lang="en-US" sz="900" dirty="0">
                <a:solidFill>
                  <a:srgbClr val="9CA3AF"/>
                </a:solidFill>
                <a:latin typeface="Calibri" pitchFamily="34" charset="0"/>
                <a:ea typeface="Calibri" pitchFamily="34" charset="-122"/>
                <a:cs typeface="Calibri" pitchFamily="34" charset="-120"/>
              </a:rPr>
              <a:t>SpécimenManager  ·  Institut Pasteur Madagascar  ·  10/10</a:t>
            </a:r>
            <a:endParaRPr lang="en-US" sz="900" dirty="0"/>
          </a:p>
        </p:txBody>
      </p:sp>
      <p:sp>
        <p:nvSpPr>
          <p:cNvPr id="5" name="Text 3"/>
          <p:cNvSpPr/>
          <p:nvPr/>
        </p:nvSpPr>
        <p:spPr>
          <a:xfrm>
            <a:off x="457200" y="320040"/>
            <a:ext cx="10515600" cy="640080"/>
          </a:xfrm>
          <a:prstGeom prst="rect">
            <a:avLst/>
          </a:prstGeom>
          <a:noFill/>
          <a:ln/>
        </p:spPr>
        <p:txBody>
          <a:bodyPr wrap="square" rtlCol="0" anchor="ctr"/>
          <a:lstStyle/>
          <a:p>
            <a:pPr indent="0" marL="0">
              <a:buNone/>
            </a:pPr>
            <a:r>
              <a:rPr lang="en-US" sz="2600" b="1" dirty="0">
                <a:solidFill>
                  <a:srgbClr val="111827"/>
                </a:solidFill>
                <a:latin typeface="Calibri" pitchFamily="34" charset="0"/>
                <a:ea typeface="Calibri" pitchFamily="34" charset="-122"/>
                <a:cs typeface="Calibri" pitchFamily="34" charset="-120"/>
              </a:rPr>
              <a:t>Prochaines étapes — Vers une adoption complète</a:t>
            </a:r>
            <a:endParaRPr lang="en-US" sz="2600" dirty="0"/>
          </a:p>
        </p:txBody>
      </p:sp>
      <p:sp>
        <p:nvSpPr>
          <p:cNvPr id="6" name="Shape 4"/>
          <p:cNvSpPr/>
          <p:nvPr/>
        </p:nvSpPr>
        <p:spPr>
          <a:xfrm>
            <a:off x="457200" y="1005840"/>
            <a:ext cx="10515600" cy="0"/>
          </a:xfrm>
          <a:prstGeom prst="line">
            <a:avLst/>
          </a:prstGeom>
          <a:noFill/>
          <a:ln w="12700">
            <a:solidFill>
              <a:srgbClr val="E5E7EB"/>
            </a:solidFill>
            <a:prstDash val="solid"/>
          </a:ln>
        </p:spPr>
      </p:sp>
      <p:sp>
        <p:nvSpPr>
          <p:cNvPr id="7" name="Shape 5"/>
          <p:cNvSpPr/>
          <p:nvPr/>
        </p:nvSpPr>
        <p:spPr>
          <a:xfrm>
            <a:off x="502920" y="1280160"/>
            <a:ext cx="5029200" cy="3474720"/>
          </a:xfrm>
          <a:prstGeom prst="roundRect">
            <a:avLst>
              <a:gd name="adj" fmla="val 3158"/>
            </a:avLst>
          </a:prstGeom>
          <a:solidFill>
            <a:srgbClr val="E8F7F2"/>
          </a:solidFill>
          <a:ln w="12700">
            <a:solidFill>
              <a:srgbClr val="1D9E75"/>
            </a:solidFill>
            <a:prstDash val="solid"/>
          </a:ln>
        </p:spPr>
      </p:sp>
      <p:sp>
        <p:nvSpPr>
          <p:cNvPr id="8" name="Text 6"/>
          <p:cNvSpPr/>
          <p:nvPr/>
        </p:nvSpPr>
        <p:spPr>
          <a:xfrm>
            <a:off x="685800" y="1417320"/>
            <a:ext cx="4663440" cy="457200"/>
          </a:xfrm>
          <a:prstGeom prst="rect">
            <a:avLst/>
          </a:prstGeom>
          <a:noFill/>
          <a:ln/>
        </p:spPr>
        <p:txBody>
          <a:bodyPr wrap="square" rtlCol="0" anchor="ctr"/>
          <a:lstStyle/>
          <a:p>
            <a:pPr indent="0" marL="0">
              <a:buNone/>
            </a:pPr>
            <a:r>
              <a:rPr lang="en-US" sz="1500" b="1" dirty="0">
                <a:solidFill>
                  <a:srgbClr val="157A5A"/>
                </a:solidFill>
                <a:latin typeface="Calibri" pitchFamily="34" charset="0"/>
                <a:ea typeface="Calibri" pitchFamily="34" charset="-122"/>
                <a:cs typeface="Calibri" pitchFamily="34" charset="-120"/>
              </a:rPr>
              <a:t>Court terme</a:t>
            </a:r>
            <a:endParaRPr lang="en-US" sz="1500" dirty="0"/>
          </a:p>
        </p:txBody>
      </p:sp>
      <p:sp>
        <p:nvSpPr>
          <p:cNvPr id="9" name="Text 7"/>
          <p:cNvSpPr/>
          <p:nvPr/>
        </p:nvSpPr>
        <p:spPr>
          <a:xfrm>
            <a:off x="685800" y="1965960"/>
            <a:ext cx="4663440" cy="566928"/>
          </a:xfrm>
          <a:prstGeom prst="rect">
            <a:avLst/>
          </a:prstGeom>
          <a:noFill/>
          <a:ln/>
        </p:spPr>
        <p:txBody>
          <a:bodyPr wrap="square" rtlCol="0" anchor="ctr"/>
          <a:lstStyle/>
          <a:p>
            <a:pPr indent="0" marL="0">
              <a:buNone/>
            </a:pPr>
            <a:r>
              <a:rPr lang="en-US" sz="1250" dirty="0">
                <a:solidFill>
                  <a:srgbClr val="157A5A"/>
                </a:solidFill>
                <a:latin typeface="Calibri" pitchFamily="34" charset="0"/>
                <a:ea typeface="Calibri" pitchFamily="34" charset="-122"/>
                <a:cs typeface="Calibri" pitchFamily="34" charset="-120"/>
              </a:rPr>
              <a:t>✅  Formation équipes terrain &amp; chercheurs</a:t>
            </a:r>
            <a:endParaRPr lang="en-US" sz="1250" dirty="0"/>
          </a:p>
        </p:txBody>
      </p:sp>
      <p:sp>
        <p:nvSpPr>
          <p:cNvPr id="10" name="Text 8"/>
          <p:cNvSpPr/>
          <p:nvPr/>
        </p:nvSpPr>
        <p:spPr>
          <a:xfrm>
            <a:off x="685800" y="2624328"/>
            <a:ext cx="4663440" cy="566928"/>
          </a:xfrm>
          <a:prstGeom prst="rect">
            <a:avLst/>
          </a:prstGeom>
          <a:noFill/>
          <a:ln/>
        </p:spPr>
        <p:txBody>
          <a:bodyPr wrap="square" rtlCol="0" anchor="ctr"/>
          <a:lstStyle/>
          <a:p>
            <a:pPr indent="0" marL="0">
              <a:buNone/>
            </a:pPr>
            <a:r>
              <a:rPr lang="en-US" sz="1250" dirty="0">
                <a:solidFill>
                  <a:srgbClr val="157A5A"/>
                </a:solidFill>
                <a:latin typeface="Calibri" pitchFamily="34" charset="0"/>
                <a:ea typeface="Calibri" pitchFamily="34" charset="-122"/>
                <a:cs typeface="Calibri" pitchFamily="34" charset="-120"/>
              </a:rPr>
              <a:t>🔧  Déblocage accès externe (routeur IT)</a:t>
            </a:r>
            <a:endParaRPr lang="en-US" sz="1250" dirty="0"/>
          </a:p>
        </p:txBody>
      </p:sp>
      <p:sp>
        <p:nvSpPr>
          <p:cNvPr id="11" name="Text 9"/>
          <p:cNvSpPr/>
          <p:nvPr/>
        </p:nvSpPr>
        <p:spPr>
          <a:xfrm>
            <a:off x="685800" y="3282696"/>
            <a:ext cx="4663440" cy="566928"/>
          </a:xfrm>
          <a:prstGeom prst="rect">
            <a:avLst/>
          </a:prstGeom>
          <a:noFill/>
          <a:ln/>
        </p:spPr>
        <p:txBody>
          <a:bodyPr wrap="square" rtlCol="0" anchor="ctr"/>
          <a:lstStyle/>
          <a:p>
            <a:pPr indent="0" marL="0">
              <a:buNone/>
            </a:pPr>
            <a:r>
              <a:rPr lang="en-US" sz="1250" dirty="0">
                <a:solidFill>
                  <a:srgbClr val="157A5A"/>
                </a:solidFill>
                <a:latin typeface="Calibri" pitchFamily="34" charset="0"/>
                <a:ea typeface="Calibri" pitchFamily="34" charset="-122"/>
                <a:cs typeface="Calibri" pitchFamily="34" charset="-120"/>
              </a:rPr>
              <a:t>📂  Migration données historiques existantes</a:t>
            </a:r>
            <a:endParaRPr lang="en-US" sz="1250" dirty="0"/>
          </a:p>
        </p:txBody>
      </p:sp>
      <p:sp>
        <p:nvSpPr>
          <p:cNvPr id="12" name="Text 10"/>
          <p:cNvSpPr/>
          <p:nvPr/>
        </p:nvSpPr>
        <p:spPr>
          <a:xfrm>
            <a:off x="685800" y="3941064"/>
            <a:ext cx="4663440" cy="566928"/>
          </a:xfrm>
          <a:prstGeom prst="rect">
            <a:avLst/>
          </a:prstGeom>
          <a:noFill/>
          <a:ln/>
        </p:spPr>
        <p:txBody>
          <a:bodyPr wrap="square" rtlCol="0" anchor="ctr"/>
          <a:lstStyle/>
          <a:p>
            <a:pPr indent="0" marL="0">
              <a:buNone/>
            </a:pPr>
            <a:r>
              <a:rPr lang="en-US" sz="1250" dirty="0">
                <a:solidFill>
                  <a:srgbClr val="157A5A"/>
                </a:solidFill>
                <a:latin typeface="Calibri" pitchFamily="34" charset="0"/>
                <a:ea typeface="Calibri" pitchFamily="34" charset="-122"/>
                <a:cs typeface="Calibri" pitchFamily="34" charset="-120"/>
              </a:rPr>
              <a:t>🧪  Tests utilisateurs &amp; retours terrain</a:t>
            </a:r>
            <a:endParaRPr lang="en-US" sz="1250" dirty="0"/>
          </a:p>
        </p:txBody>
      </p:sp>
      <p:sp>
        <p:nvSpPr>
          <p:cNvPr id="13" name="Shape 11"/>
          <p:cNvSpPr/>
          <p:nvPr/>
        </p:nvSpPr>
        <p:spPr>
          <a:xfrm>
            <a:off x="5852160" y="1280160"/>
            <a:ext cx="4663440" cy="3474720"/>
          </a:xfrm>
          <a:prstGeom prst="roundRect">
            <a:avLst>
              <a:gd name="adj" fmla="val 3158"/>
            </a:avLst>
          </a:prstGeom>
          <a:solidFill>
            <a:srgbClr val="EFF6FF"/>
          </a:solidFill>
          <a:ln w="12700">
            <a:solidFill>
              <a:srgbClr val="3B82F6"/>
            </a:solidFill>
            <a:prstDash val="solid"/>
          </a:ln>
        </p:spPr>
      </p:sp>
      <p:sp>
        <p:nvSpPr>
          <p:cNvPr id="14" name="Text 12"/>
          <p:cNvSpPr/>
          <p:nvPr/>
        </p:nvSpPr>
        <p:spPr>
          <a:xfrm>
            <a:off x="6035040" y="1417320"/>
            <a:ext cx="4297680" cy="457200"/>
          </a:xfrm>
          <a:prstGeom prst="rect">
            <a:avLst/>
          </a:prstGeom>
          <a:noFill/>
          <a:ln/>
        </p:spPr>
        <p:txBody>
          <a:bodyPr wrap="square" rtlCol="0" anchor="ctr"/>
          <a:lstStyle/>
          <a:p>
            <a:pPr indent="0" marL="0">
              <a:buNone/>
            </a:pPr>
            <a:r>
              <a:rPr lang="en-US" sz="1500" b="1" dirty="0">
                <a:solidFill>
                  <a:srgbClr val="1D4ED8"/>
                </a:solidFill>
                <a:latin typeface="Calibri" pitchFamily="34" charset="0"/>
                <a:ea typeface="Calibri" pitchFamily="34" charset="-122"/>
                <a:cs typeface="Calibri" pitchFamily="34" charset="-120"/>
              </a:rPr>
              <a:t>Moyen terme</a:t>
            </a:r>
            <a:endParaRPr lang="en-US" sz="1500" dirty="0"/>
          </a:p>
        </p:txBody>
      </p:sp>
      <p:sp>
        <p:nvSpPr>
          <p:cNvPr id="15" name="Text 13"/>
          <p:cNvSpPr/>
          <p:nvPr/>
        </p:nvSpPr>
        <p:spPr>
          <a:xfrm>
            <a:off x="6035040" y="1965960"/>
            <a:ext cx="4297680" cy="566928"/>
          </a:xfrm>
          <a:prstGeom prst="rect">
            <a:avLst/>
          </a:prstGeom>
          <a:noFill/>
          <a:ln/>
        </p:spPr>
        <p:txBody>
          <a:bodyPr wrap="square" rtlCol="0" anchor="ctr"/>
          <a:lstStyle/>
          <a:p>
            <a:pPr indent="0" marL="0">
              <a:buNone/>
            </a:pPr>
            <a:r>
              <a:rPr lang="en-US" sz="1250" dirty="0">
                <a:solidFill>
                  <a:srgbClr val="1E40AF"/>
                </a:solidFill>
                <a:latin typeface="Calibri" pitchFamily="34" charset="0"/>
                <a:ea typeface="Calibri" pitchFamily="34" charset="-122"/>
                <a:cs typeface="Calibri" pitchFamily="34" charset="-120"/>
              </a:rPr>
              <a:t>📱  Application mobile terrain (hors-ligne)</a:t>
            </a:r>
            <a:endParaRPr lang="en-US" sz="1250" dirty="0"/>
          </a:p>
        </p:txBody>
      </p:sp>
      <p:sp>
        <p:nvSpPr>
          <p:cNvPr id="16" name="Text 14"/>
          <p:cNvSpPr/>
          <p:nvPr/>
        </p:nvSpPr>
        <p:spPr>
          <a:xfrm>
            <a:off x="6035040" y="2624328"/>
            <a:ext cx="4297680" cy="566928"/>
          </a:xfrm>
          <a:prstGeom prst="rect">
            <a:avLst/>
          </a:prstGeom>
          <a:noFill/>
          <a:ln/>
        </p:spPr>
        <p:txBody>
          <a:bodyPr wrap="square" rtlCol="0" anchor="ctr"/>
          <a:lstStyle/>
          <a:p>
            <a:pPr indent="0" marL="0">
              <a:buNone/>
            </a:pPr>
            <a:r>
              <a:rPr lang="en-US" sz="1250" dirty="0">
                <a:solidFill>
                  <a:srgbClr val="1E40AF"/>
                </a:solidFill>
                <a:latin typeface="Calibri" pitchFamily="34" charset="0"/>
                <a:ea typeface="Calibri" pitchFamily="34" charset="-122"/>
                <a:cs typeface="Calibri" pitchFamily="34" charset="-120"/>
              </a:rPr>
              <a:t>🔬  Intégration analyses bioinformatiques</a:t>
            </a:r>
            <a:endParaRPr lang="en-US" sz="1250" dirty="0"/>
          </a:p>
        </p:txBody>
      </p:sp>
      <p:sp>
        <p:nvSpPr>
          <p:cNvPr id="17" name="Text 15"/>
          <p:cNvSpPr/>
          <p:nvPr/>
        </p:nvSpPr>
        <p:spPr>
          <a:xfrm>
            <a:off x="6035040" y="3282696"/>
            <a:ext cx="4297680" cy="566928"/>
          </a:xfrm>
          <a:prstGeom prst="rect">
            <a:avLst/>
          </a:prstGeom>
          <a:noFill/>
          <a:ln/>
        </p:spPr>
        <p:txBody>
          <a:bodyPr wrap="square" rtlCol="0" anchor="ctr"/>
          <a:lstStyle/>
          <a:p>
            <a:pPr indent="0" marL="0">
              <a:buNone/>
            </a:pPr>
            <a:r>
              <a:rPr lang="en-US" sz="1250" dirty="0">
                <a:solidFill>
                  <a:srgbClr val="1E40AF"/>
                </a:solidFill>
                <a:latin typeface="Calibri" pitchFamily="34" charset="0"/>
                <a:ea typeface="Calibri" pitchFamily="34" charset="-122"/>
                <a:cs typeface="Calibri" pitchFamily="34" charset="-120"/>
              </a:rPr>
              <a:t>📊  Rapports automatisés (SIG, cartographie)</a:t>
            </a:r>
            <a:endParaRPr lang="en-US" sz="1250" dirty="0"/>
          </a:p>
        </p:txBody>
      </p:sp>
      <p:sp>
        <p:nvSpPr>
          <p:cNvPr id="18" name="Text 16"/>
          <p:cNvSpPr/>
          <p:nvPr/>
        </p:nvSpPr>
        <p:spPr>
          <a:xfrm>
            <a:off x="6035040" y="3941064"/>
            <a:ext cx="4297680" cy="566928"/>
          </a:xfrm>
          <a:prstGeom prst="rect">
            <a:avLst/>
          </a:prstGeom>
          <a:noFill/>
          <a:ln/>
        </p:spPr>
        <p:txBody>
          <a:bodyPr wrap="square" rtlCol="0" anchor="ctr"/>
          <a:lstStyle/>
          <a:p>
            <a:pPr indent="0" marL="0">
              <a:buNone/>
            </a:pPr>
            <a:r>
              <a:rPr lang="en-US" sz="1250" dirty="0">
                <a:solidFill>
                  <a:srgbClr val="1E40AF"/>
                </a:solidFill>
                <a:latin typeface="Calibri" pitchFamily="34" charset="0"/>
                <a:ea typeface="Calibri" pitchFamily="34" charset="-122"/>
                <a:cs typeface="Calibri" pitchFamily="34" charset="-120"/>
              </a:rPr>
              <a:t>🌍  Extension à d'autres projets IPM</a:t>
            </a:r>
            <a:endParaRPr lang="en-US" sz="1250" dirty="0"/>
          </a:p>
        </p:txBody>
      </p:sp>
      <p:sp>
        <p:nvSpPr>
          <p:cNvPr id="19" name="Shape 17"/>
          <p:cNvSpPr/>
          <p:nvPr/>
        </p:nvSpPr>
        <p:spPr>
          <a:xfrm>
            <a:off x="502920" y="5029200"/>
            <a:ext cx="10058400" cy="1097280"/>
          </a:xfrm>
          <a:prstGeom prst="roundRect">
            <a:avLst>
              <a:gd name="adj" fmla="val 12500"/>
            </a:avLst>
          </a:prstGeom>
          <a:solidFill>
            <a:srgbClr val="1D9E75"/>
          </a:solidFill>
          <a:ln w="12700">
            <a:solidFill>
              <a:srgbClr val="1D9E75"/>
            </a:solidFill>
            <a:prstDash val="solid"/>
          </a:ln>
        </p:spPr>
      </p:sp>
      <p:sp>
        <p:nvSpPr>
          <p:cNvPr id="20" name="Text 18"/>
          <p:cNvSpPr/>
          <p:nvPr/>
        </p:nvSpPr>
        <p:spPr>
          <a:xfrm>
            <a:off x="685800" y="5074920"/>
            <a:ext cx="9692640" cy="1005840"/>
          </a:xfrm>
          <a:prstGeom prst="rect">
            <a:avLst/>
          </a:prstGeom>
          <a:noFill/>
          <a:ln/>
        </p:spPr>
        <p:txBody>
          <a:bodyPr wrap="square" rtlCol="0" anchor="ctr"/>
          <a:lstStyle/>
          <a:p>
            <a:pPr algn="ctr" indent="0" marL="0">
              <a:lnSpc>
                <a:spcPct val="140000"/>
              </a:lnSpc>
              <a:buNone/>
            </a:pPr>
            <a:r>
              <a:rPr lang="en-US" sz="1550" b="1" dirty="0">
                <a:solidFill>
                  <a:srgbClr val="FFFFFF"/>
                </a:solidFill>
                <a:latin typeface="Calibri" pitchFamily="34" charset="0"/>
                <a:ea typeface="Calibri" pitchFamily="34" charset="-122"/>
                <a:cs typeface="Calibri" pitchFamily="34" charset="-120"/>
              </a:rPr>
              <a:t>SpécimenManager est prêt.</a:t>
            </a:r>
            <a:endParaRPr lang="en-US" sz="1550" dirty="0"/>
          </a:p>
          <a:p>
            <a:pPr algn="ctr" indent="0" marL="0">
              <a:lnSpc>
                <a:spcPct val="140000"/>
              </a:lnSpc>
              <a:buNone/>
            </a:pPr>
            <a:r>
              <a:rPr lang="en-US" sz="1550" b="1" dirty="0">
                <a:solidFill>
                  <a:srgbClr val="FFFFFF"/>
                </a:solidFill>
                <a:latin typeface="Calibri" pitchFamily="34" charset="0"/>
                <a:ea typeface="Calibri" pitchFamily="34" charset="-122"/>
                <a:cs typeface="Calibri" pitchFamily="34" charset="-120"/>
              </a:rPr>
              <a:t>Chaque jour sans lui, c'est un risque de perte de données irremplaçables.</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2026-06-17T12:06:02Z</dcterms:created>
  <dcterms:modified xsi:type="dcterms:W3CDTF">2026-06-17T12:06:02Z</dcterms:modified>
</cp:coreProperties>
</file>